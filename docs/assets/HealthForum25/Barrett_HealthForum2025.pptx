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8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9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0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1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2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92" r:id="rId3"/>
    <p:sldId id="316" r:id="rId4"/>
    <p:sldId id="258" r:id="rId5"/>
    <p:sldId id="317" r:id="rId6"/>
    <p:sldId id="318" r:id="rId7"/>
    <p:sldId id="319" r:id="rId8"/>
    <p:sldId id="320" r:id="rId9"/>
    <p:sldId id="321" r:id="rId10"/>
    <p:sldId id="322" r:id="rId11"/>
    <p:sldId id="323" r:id="rId12"/>
    <p:sldId id="296" r:id="rId13"/>
    <p:sldId id="257" r:id="rId14"/>
    <p:sldId id="325" r:id="rId15"/>
    <p:sldId id="324" r:id="rId16"/>
    <p:sldId id="328" r:id="rId17"/>
    <p:sldId id="300" r:id="rId18"/>
    <p:sldId id="327" r:id="rId19"/>
    <p:sldId id="326" r:id="rId20"/>
    <p:sldId id="329" r:id="rId21"/>
    <p:sldId id="290" r:id="rId22"/>
    <p:sldId id="310" r:id="rId23"/>
    <p:sldId id="33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6582"/>
    <a:srgbClr val="252524"/>
    <a:srgbClr val="9A7352"/>
    <a:srgbClr val="EFA984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88"/>
    <p:restoredTop sz="96087"/>
  </p:normalViewPr>
  <p:slideViewPr>
    <p:cSldViewPr snapToGrid="0">
      <p:cViewPr varScale="1">
        <p:scale>
          <a:sx n="157" d="100"/>
          <a:sy n="157" d="100"/>
        </p:scale>
        <p:origin x="192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Unknown</c:v>
                </c:pt>
              </c:strCache>
            </c:strRef>
          </c:tx>
          <c:spPr>
            <a:solidFill>
              <a:srgbClr val="226582"/>
            </a:solidFill>
            <a:ln>
              <a:noFill/>
            </a:ln>
            <a:effectLst/>
          </c:spPr>
          <c:invertIfNegative val="0"/>
          <c:cat>
            <c:numRef>
              <c:f>Sheet1!$A$2:$A$3</c:f>
              <c:numCache>
                <c:formatCode>General</c:formatCode>
                <c:ptCount val="2"/>
                <c:pt idx="0">
                  <c:v>2019</c:v>
                </c:pt>
                <c:pt idx="1">
                  <c:v>2020</c:v>
                </c:pt>
              </c:numCache>
            </c:numRef>
          </c:cat>
          <c:val>
            <c:numRef>
              <c:f>Sheet1!$B$2:$B$3</c:f>
              <c:numCache>
                <c:formatCode>0.0%</c:formatCode>
                <c:ptCount val="2"/>
                <c:pt idx="0">
                  <c:v>3.5999999999999997E-2</c:v>
                </c:pt>
                <c:pt idx="1">
                  <c:v>3.9E-2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FB-0A48-A7FD-6FF6AF36041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Minimal</c:v>
                </c:pt>
              </c:strCache>
            </c:strRef>
          </c:tx>
          <c:spPr>
            <a:solidFill>
              <a:srgbClr val="EFA984"/>
            </a:solidFill>
            <a:ln>
              <a:noFill/>
            </a:ln>
            <a:effectLst/>
          </c:spPr>
          <c:invertIfNegative val="0"/>
          <c:cat>
            <c:numRef>
              <c:f>Sheet1!$A$2:$A$3</c:f>
              <c:numCache>
                <c:formatCode>General</c:formatCode>
                <c:ptCount val="2"/>
                <c:pt idx="0">
                  <c:v>2019</c:v>
                </c:pt>
                <c:pt idx="1">
                  <c:v>2020</c:v>
                </c:pt>
              </c:numCache>
            </c:numRef>
          </c:cat>
          <c:val>
            <c:numRef>
              <c:f>Sheet1!$C$2:$C$3</c:f>
              <c:numCache>
                <c:formatCode>0.0%</c:formatCode>
                <c:ptCount val="2"/>
                <c:pt idx="0">
                  <c:v>5.0000000000000001E-3</c:v>
                </c:pt>
                <c:pt idx="1">
                  <c:v>6.0000000000000001E-3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EFB-0A48-A7FD-6FF6AF36041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Mild</c:v>
                </c:pt>
              </c:strCache>
            </c:strRef>
          </c:tx>
          <c:spPr>
            <a:solidFill>
              <a:schemeClr val="accent6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numRef>
              <c:f>Sheet1!$A$2:$A$3</c:f>
              <c:numCache>
                <c:formatCode>General</c:formatCode>
                <c:ptCount val="2"/>
                <c:pt idx="0">
                  <c:v>2019</c:v>
                </c:pt>
                <c:pt idx="1">
                  <c:v>2020</c:v>
                </c:pt>
              </c:numCache>
            </c:numRef>
          </c:cat>
          <c:val>
            <c:numRef>
              <c:f>Sheet1!$D$2:$D$3</c:f>
              <c:numCache>
                <c:formatCode>0.0%</c:formatCode>
                <c:ptCount val="2"/>
                <c:pt idx="0">
                  <c:v>5.1999999999999998E-2</c:v>
                </c:pt>
                <c:pt idx="1">
                  <c:v>6.0999999999999999E-2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EFB-0A48-A7FD-6FF6AF36041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Moderate</c:v>
                </c:pt>
              </c:strCache>
            </c:strRef>
          </c:tx>
          <c:spPr>
            <a:solidFill>
              <a:srgbClr val="9A7352"/>
            </a:solidFill>
            <a:ln>
              <a:noFill/>
            </a:ln>
            <a:effectLst/>
          </c:spPr>
          <c:invertIfNegative val="0"/>
          <c:cat>
            <c:numRef>
              <c:f>Sheet1!$A$2:$A$3</c:f>
              <c:numCache>
                <c:formatCode>General</c:formatCode>
                <c:ptCount val="2"/>
                <c:pt idx="0">
                  <c:v>2019</c:v>
                </c:pt>
                <c:pt idx="1">
                  <c:v>2020</c:v>
                </c:pt>
              </c:numCache>
            </c:numRef>
          </c:cat>
          <c:val>
            <c:numRef>
              <c:f>Sheet1!$E$2:$E$3</c:f>
              <c:numCache>
                <c:formatCode>0.0%</c:formatCode>
                <c:ptCount val="2"/>
                <c:pt idx="0">
                  <c:v>2.7E-2</c:v>
                </c:pt>
                <c:pt idx="1">
                  <c:v>3.3000000000000002E-2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EFB-0A48-A7FD-6FF6AF36041A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Severe</c:v>
                </c:pt>
              </c:strCache>
            </c:strRef>
          </c:tx>
          <c:spPr>
            <a:solidFill>
              <a:srgbClr val="252524"/>
            </a:solidFill>
            <a:ln>
              <a:noFill/>
            </a:ln>
            <a:effectLst/>
          </c:spPr>
          <c:invertIfNegative val="0"/>
          <c:cat>
            <c:numRef>
              <c:f>Sheet1!$A$2:$A$3</c:f>
              <c:numCache>
                <c:formatCode>General</c:formatCode>
                <c:ptCount val="2"/>
                <c:pt idx="0">
                  <c:v>2019</c:v>
                </c:pt>
                <c:pt idx="1">
                  <c:v>2020</c:v>
                </c:pt>
              </c:numCache>
            </c:numRef>
          </c:cat>
          <c:val>
            <c:numRef>
              <c:f>Sheet1!$F$2:$F$3</c:f>
              <c:numCache>
                <c:formatCode>0.0%</c:formatCode>
                <c:ptCount val="2"/>
                <c:pt idx="0">
                  <c:v>1.6E-2</c:v>
                </c:pt>
                <c:pt idx="1">
                  <c:v>1.9E-2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EFB-0A48-A7FD-6FF6AF3604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25069344"/>
        <c:axId val="524939664"/>
      </c:barChart>
      <c:catAx>
        <c:axId val="5250693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4939664"/>
        <c:crosses val="autoZero"/>
        <c:auto val="1"/>
        <c:lblAlgn val="ctr"/>
        <c:lblOffset val="100"/>
        <c:noMultiLvlLbl val="0"/>
      </c:catAx>
      <c:valAx>
        <c:axId val="5249396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50693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2019</c:v>
                </c:pt>
              </c:strCache>
            </c:strRef>
          </c:tx>
          <c:spPr>
            <a:solidFill>
              <a:srgbClr val="9A735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Minimal</c:v>
                </c:pt>
                <c:pt idx="1">
                  <c:v>Mild</c:v>
                </c:pt>
                <c:pt idx="2">
                  <c:v>Moderate</c:v>
                </c:pt>
                <c:pt idx="3">
                  <c:v>Severe</c:v>
                </c:pt>
              </c:strCache>
            </c:strRef>
          </c:cat>
          <c:val>
            <c:numRef>
              <c:f>Sheet1!$B$2:$B$5</c:f>
              <c:numCache>
                <c:formatCode>_("$"* #,##0_);_("$"* \(#,##0\);_("$"* "-"??_);_(@_)</c:formatCode>
                <c:ptCount val="4"/>
                <c:pt idx="0">
                  <c:v>858</c:v>
                </c:pt>
                <c:pt idx="1">
                  <c:v>1024</c:v>
                </c:pt>
                <c:pt idx="2">
                  <c:v>1295</c:v>
                </c:pt>
                <c:pt idx="3">
                  <c:v>1769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37-9940-9142-598044B4F37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2020</c:v>
                </c:pt>
              </c:strCache>
            </c:strRef>
          </c:tx>
          <c:spPr>
            <a:solidFill>
              <a:srgbClr val="22658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Minimal</c:v>
                </c:pt>
                <c:pt idx="1">
                  <c:v>Mild</c:v>
                </c:pt>
                <c:pt idx="2">
                  <c:v>Moderate</c:v>
                </c:pt>
                <c:pt idx="3">
                  <c:v>Severe</c:v>
                </c:pt>
              </c:strCache>
            </c:strRef>
          </c:cat>
          <c:val>
            <c:numRef>
              <c:f>Sheet1!$C$2:$C$5</c:f>
              <c:numCache>
                <c:formatCode>_("$"* #,##0_);_("$"* \(#,##0\);_("$"* "-"??_);_(@_)</c:formatCode>
                <c:ptCount val="4"/>
                <c:pt idx="0">
                  <c:v>844</c:v>
                </c:pt>
                <c:pt idx="1">
                  <c:v>1079</c:v>
                </c:pt>
                <c:pt idx="2">
                  <c:v>1280</c:v>
                </c:pt>
                <c:pt idx="3">
                  <c:v>1828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A37-9940-9142-598044B4F3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51649648"/>
        <c:axId val="727800000"/>
      </c:barChart>
      <c:catAx>
        <c:axId val="155164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7800000"/>
        <c:crosses val="autoZero"/>
        <c:auto val="1"/>
        <c:lblAlgn val="ctr"/>
        <c:lblOffset val="100"/>
        <c:noMultiLvlLbl val="0"/>
      </c:catAx>
      <c:valAx>
        <c:axId val="7278000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&quot;$&quot;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16496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CB8BD8-7FE2-314C-857D-8F31BB3DCAB9}" type="doc">
      <dgm:prSet loTypeId="urn:microsoft.com/office/officeart/2005/8/layout/cycle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5A25FA1-C34B-1342-A5AE-1D54469C9353}">
      <dgm:prSet phldrT="[Text]"/>
      <dgm:spPr/>
      <dgm:t>
        <a:bodyPr/>
        <a:lstStyle/>
        <a:p>
          <a:r>
            <a:rPr lang="en-US" dirty="0">
              <a:solidFill>
                <a:srgbClr val="9A7352"/>
              </a:solidFill>
            </a:rPr>
            <a:t>Reduced productivity</a:t>
          </a:r>
        </a:p>
      </dgm:t>
    </dgm:pt>
    <dgm:pt modelId="{EAD6A8A2-C837-334C-8BF9-5F891119FBD3}" type="parTrans" cxnId="{B3E87A6B-C662-D541-A6B8-CD0267C4F518}">
      <dgm:prSet/>
      <dgm:spPr/>
      <dgm:t>
        <a:bodyPr/>
        <a:lstStyle/>
        <a:p>
          <a:endParaRPr lang="en-US"/>
        </a:p>
      </dgm:t>
    </dgm:pt>
    <dgm:pt modelId="{7A7CF05F-1090-6E40-B25C-DE5FF0A71712}" type="sibTrans" cxnId="{B3E87A6B-C662-D541-A6B8-CD0267C4F518}">
      <dgm:prSet/>
      <dgm:spPr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2700000" scaled="1"/>
          <a:tileRect/>
        </a:gradFill>
      </dgm:spPr>
      <dgm:t>
        <a:bodyPr/>
        <a:lstStyle/>
        <a:p>
          <a:endParaRPr lang="en-US"/>
        </a:p>
      </dgm:t>
    </dgm:pt>
    <dgm:pt modelId="{C7E8C0C5-1654-C449-A59B-9B668783E345}">
      <dgm:prSet phldrT="[Text]"/>
      <dgm:spPr/>
      <dgm:t>
        <a:bodyPr/>
        <a:lstStyle/>
        <a:p>
          <a:r>
            <a:rPr lang="en-US" dirty="0"/>
            <a:t>Increased Absenteeism</a:t>
          </a:r>
        </a:p>
      </dgm:t>
    </dgm:pt>
    <dgm:pt modelId="{A91E2E73-EF43-2743-9834-62EEC97C7490}" type="parTrans" cxnId="{BFE32301-2B13-2143-8259-48A4F6CD26F3}">
      <dgm:prSet/>
      <dgm:spPr/>
      <dgm:t>
        <a:bodyPr/>
        <a:lstStyle/>
        <a:p>
          <a:endParaRPr lang="en-US"/>
        </a:p>
      </dgm:t>
    </dgm:pt>
    <dgm:pt modelId="{9D6D22CD-A287-E345-8049-F9C98EF38571}" type="sibTrans" cxnId="{BFE32301-2B13-2143-8259-48A4F6CD26F3}">
      <dgm:prSet/>
      <dgm:spPr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5400000" scaled="1"/>
          <a:tileRect/>
        </a:gradFill>
      </dgm:spPr>
      <dgm:t>
        <a:bodyPr/>
        <a:lstStyle/>
        <a:p>
          <a:endParaRPr lang="en-US"/>
        </a:p>
      </dgm:t>
    </dgm:pt>
    <dgm:pt modelId="{EC662F9E-FA0C-8F4F-946D-75CDFF349CFF}">
      <dgm:prSet phldrT="[Text]"/>
      <dgm:spPr/>
      <dgm:t>
        <a:bodyPr/>
        <a:lstStyle/>
        <a:p>
          <a:r>
            <a:rPr lang="en-US" dirty="0"/>
            <a:t>Elevated Healthcare Costs</a:t>
          </a:r>
        </a:p>
      </dgm:t>
    </dgm:pt>
    <dgm:pt modelId="{BC885A85-14E6-D042-8755-4D66776C82DE}" type="parTrans" cxnId="{ADEEA798-5097-4844-84B7-7F60444C764D}">
      <dgm:prSet/>
      <dgm:spPr/>
      <dgm:t>
        <a:bodyPr/>
        <a:lstStyle/>
        <a:p>
          <a:endParaRPr lang="en-US"/>
        </a:p>
      </dgm:t>
    </dgm:pt>
    <dgm:pt modelId="{B06D745E-4E98-8843-94AA-2A301E12B748}" type="sibTrans" cxnId="{ADEEA798-5097-4844-84B7-7F60444C764D}">
      <dgm:prSet/>
      <dgm:spPr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8100000" scaled="1"/>
          <a:tileRect/>
        </a:gradFill>
      </dgm:spPr>
      <dgm:t>
        <a:bodyPr/>
        <a:lstStyle/>
        <a:p>
          <a:endParaRPr lang="en-US"/>
        </a:p>
      </dgm:t>
    </dgm:pt>
    <dgm:pt modelId="{90337749-14E4-214E-AB4E-6D76474F2188}">
      <dgm:prSet phldrT="[Text]"/>
      <dgm:spPr/>
      <dgm:t>
        <a:bodyPr/>
        <a:lstStyle/>
        <a:p>
          <a:r>
            <a:rPr lang="en-US" dirty="0"/>
            <a:t>Higher Turnover</a:t>
          </a:r>
        </a:p>
      </dgm:t>
    </dgm:pt>
    <dgm:pt modelId="{8E3A7159-18EB-624A-9423-56007782FC1E}" type="parTrans" cxnId="{2B11224E-A841-F44E-91DA-EEC9D0ED1FAC}">
      <dgm:prSet/>
      <dgm:spPr/>
      <dgm:t>
        <a:bodyPr/>
        <a:lstStyle/>
        <a:p>
          <a:endParaRPr lang="en-US"/>
        </a:p>
      </dgm:t>
    </dgm:pt>
    <dgm:pt modelId="{89ACD092-86ED-7446-A47E-96C762B3F86D}" type="sibTrans" cxnId="{2B11224E-A841-F44E-91DA-EEC9D0ED1FAC}">
      <dgm:prSet/>
      <dgm:spPr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10800000" scaled="1"/>
          <a:tileRect/>
        </a:gradFill>
      </dgm:spPr>
      <dgm:t>
        <a:bodyPr/>
        <a:lstStyle/>
        <a:p>
          <a:endParaRPr lang="en-US"/>
        </a:p>
      </dgm:t>
    </dgm:pt>
    <dgm:pt modelId="{1574AD03-273E-104E-BF1E-C28F3B8FE080}">
      <dgm:prSet phldrT="[Text]"/>
      <dgm:spPr/>
      <dgm:t>
        <a:bodyPr/>
        <a:lstStyle/>
        <a:p>
          <a:r>
            <a:rPr lang="en-US" dirty="0"/>
            <a:t>Diminished Engagement/ Morale</a:t>
          </a:r>
        </a:p>
      </dgm:t>
    </dgm:pt>
    <dgm:pt modelId="{06475551-3FAA-1144-ACEC-89B500CAF429}" type="parTrans" cxnId="{EA80960B-F8AE-DC4D-8645-8BEC572011BD}">
      <dgm:prSet/>
      <dgm:spPr/>
      <dgm:t>
        <a:bodyPr/>
        <a:lstStyle/>
        <a:p>
          <a:endParaRPr lang="en-US"/>
        </a:p>
      </dgm:t>
    </dgm:pt>
    <dgm:pt modelId="{36D5C54B-A69A-104C-971B-DB8CFD9FA4CC}" type="sibTrans" cxnId="{EA80960B-F8AE-DC4D-8645-8BEC572011BD}">
      <dgm:prSet/>
      <dgm:spPr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18900000" scaled="1"/>
          <a:tileRect/>
        </a:gradFill>
      </dgm:spPr>
      <dgm:t>
        <a:bodyPr/>
        <a:lstStyle/>
        <a:p>
          <a:endParaRPr lang="en-US"/>
        </a:p>
      </dgm:t>
    </dgm:pt>
    <dgm:pt modelId="{8E58B857-523A-9549-92AE-AD3D3A68F339}">
      <dgm:prSet phldrT="[Text]"/>
      <dgm:spPr/>
      <dgm:t>
        <a:bodyPr/>
        <a:lstStyle/>
        <a:p>
          <a:r>
            <a:rPr lang="en-US" dirty="0"/>
            <a:t>Workplace Safety</a:t>
          </a:r>
        </a:p>
      </dgm:t>
    </dgm:pt>
    <dgm:pt modelId="{923F8F5F-5FAC-6E49-9775-4064156DA7E7}" type="parTrans" cxnId="{F28DCD99-1DFC-E743-8F7B-8E2049B9939C}">
      <dgm:prSet/>
      <dgm:spPr/>
      <dgm:t>
        <a:bodyPr/>
        <a:lstStyle/>
        <a:p>
          <a:endParaRPr lang="en-US"/>
        </a:p>
      </dgm:t>
    </dgm:pt>
    <dgm:pt modelId="{5E10D6A9-AFA9-0F43-8577-B368BA4C2768}" type="sibTrans" cxnId="{F28DCD99-1DFC-E743-8F7B-8E2049B9939C}">
      <dgm:prSet/>
      <dgm:spPr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16200000" scaled="1"/>
          <a:tileRect/>
        </a:gradFill>
      </dgm:spPr>
      <dgm:t>
        <a:bodyPr/>
        <a:lstStyle/>
        <a:p>
          <a:endParaRPr lang="en-US"/>
        </a:p>
      </dgm:t>
    </dgm:pt>
    <dgm:pt modelId="{55FC9061-DB55-894D-BE85-BC5EF8740F2B}">
      <dgm:prSet phldrT="[Text]"/>
      <dgm:spPr/>
      <dgm:t>
        <a:bodyPr/>
        <a:lstStyle/>
        <a:p>
          <a:r>
            <a:rPr lang="en-US" dirty="0"/>
            <a:t>Increased Presenteeism</a:t>
          </a:r>
        </a:p>
      </dgm:t>
    </dgm:pt>
    <dgm:pt modelId="{7F891AC9-A5C0-104F-A7D9-D94AFFB0856B}" type="parTrans" cxnId="{3B729F94-8714-904E-A666-D79101A78FC0}">
      <dgm:prSet/>
      <dgm:spPr/>
      <dgm:t>
        <a:bodyPr/>
        <a:lstStyle/>
        <a:p>
          <a:endParaRPr lang="en-US"/>
        </a:p>
      </dgm:t>
    </dgm:pt>
    <dgm:pt modelId="{1A9179BF-CA84-8148-A935-DAB41CBE1456}" type="sibTrans" cxnId="{3B729F94-8714-904E-A666-D79101A78FC0}">
      <dgm:prSet/>
      <dgm:spPr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0" scaled="1"/>
          <a:tileRect/>
        </a:gradFill>
      </dgm:spPr>
      <dgm:t>
        <a:bodyPr/>
        <a:lstStyle/>
        <a:p>
          <a:endParaRPr lang="en-US"/>
        </a:p>
      </dgm:t>
    </dgm:pt>
    <dgm:pt modelId="{AEDC59F9-F84B-7240-9152-E3EB3F4F9402}" type="pres">
      <dgm:prSet presAssocID="{84CB8BD8-7FE2-314C-857D-8F31BB3DCAB9}" presName="cycle" presStyleCnt="0">
        <dgm:presLayoutVars>
          <dgm:dir/>
          <dgm:resizeHandles val="exact"/>
        </dgm:presLayoutVars>
      </dgm:prSet>
      <dgm:spPr/>
    </dgm:pt>
    <dgm:pt modelId="{E5F773F9-948C-9F47-AE7C-04018B849F00}" type="pres">
      <dgm:prSet presAssocID="{D5A25FA1-C34B-1342-A5AE-1D54469C9353}" presName="dummy" presStyleCnt="0"/>
      <dgm:spPr/>
    </dgm:pt>
    <dgm:pt modelId="{E50B2949-CC65-824E-9A76-BDC2308FEF2E}" type="pres">
      <dgm:prSet presAssocID="{D5A25FA1-C34B-1342-A5AE-1D54469C9353}" presName="node" presStyleLbl="revTx" presStyleIdx="0" presStyleCnt="7">
        <dgm:presLayoutVars>
          <dgm:bulletEnabled val="1"/>
        </dgm:presLayoutVars>
      </dgm:prSet>
      <dgm:spPr/>
    </dgm:pt>
    <dgm:pt modelId="{41E3703C-8E80-974E-9608-44DB50E48807}" type="pres">
      <dgm:prSet presAssocID="{7A7CF05F-1090-6E40-B25C-DE5FF0A71712}" presName="sibTrans" presStyleLbl="node1" presStyleIdx="0" presStyleCnt="7"/>
      <dgm:spPr/>
    </dgm:pt>
    <dgm:pt modelId="{81E9744C-DCE3-3A4C-B1F4-D656F7EF923C}" type="pres">
      <dgm:prSet presAssocID="{C7E8C0C5-1654-C449-A59B-9B668783E345}" presName="dummy" presStyleCnt="0"/>
      <dgm:spPr/>
    </dgm:pt>
    <dgm:pt modelId="{359FF075-C711-664A-9EF9-1382FC94B094}" type="pres">
      <dgm:prSet presAssocID="{C7E8C0C5-1654-C449-A59B-9B668783E345}" presName="node" presStyleLbl="revTx" presStyleIdx="1" presStyleCnt="7">
        <dgm:presLayoutVars>
          <dgm:bulletEnabled val="1"/>
        </dgm:presLayoutVars>
      </dgm:prSet>
      <dgm:spPr/>
    </dgm:pt>
    <dgm:pt modelId="{C0D2873E-A3FF-5C47-BEFD-898E66DF9FBA}" type="pres">
      <dgm:prSet presAssocID="{9D6D22CD-A287-E345-8049-F9C98EF38571}" presName="sibTrans" presStyleLbl="node1" presStyleIdx="1" presStyleCnt="7"/>
      <dgm:spPr/>
    </dgm:pt>
    <dgm:pt modelId="{7586EA47-10AE-114B-835E-B6D9E6DB8825}" type="pres">
      <dgm:prSet presAssocID="{EC662F9E-FA0C-8F4F-946D-75CDFF349CFF}" presName="dummy" presStyleCnt="0"/>
      <dgm:spPr/>
    </dgm:pt>
    <dgm:pt modelId="{08CA5058-C8EA-CA4F-803C-F2038F6F3730}" type="pres">
      <dgm:prSet presAssocID="{EC662F9E-FA0C-8F4F-946D-75CDFF349CFF}" presName="node" presStyleLbl="revTx" presStyleIdx="2" presStyleCnt="7">
        <dgm:presLayoutVars>
          <dgm:bulletEnabled val="1"/>
        </dgm:presLayoutVars>
      </dgm:prSet>
      <dgm:spPr/>
    </dgm:pt>
    <dgm:pt modelId="{8ABFB698-D27C-BA49-B7BD-B3AC9ECC641F}" type="pres">
      <dgm:prSet presAssocID="{B06D745E-4E98-8843-94AA-2A301E12B748}" presName="sibTrans" presStyleLbl="node1" presStyleIdx="2" presStyleCnt="7"/>
      <dgm:spPr/>
    </dgm:pt>
    <dgm:pt modelId="{01B6D211-7080-294B-B9C3-2C681266A9F3}" type="pres">
      <dgm:prSet presAssocID="{90337749-14E4-214E-AB4E-6D76474F2188}" presName="dummy" presStyleCnt="0"/>
      <dgm:spPr/>
    </dgm:pt>
    <dgm:pt modelId="{D7E2DB93-CFA6-6647-B8C5-E9B5EDEEF565}" type="pres">
      <dgm:prSet presAssocID="{90337749-14E4-214E-AB4E-6D76474F2188}" presName="node" presStyleLbl="revTx" presStyleIdx="3" presStyleCnt="7">
        <dgm:presLayoutVars>
          <dgm:bulletEnabled val="1"/>
        </dgm:presLayoutVars>
      </dgm:prSet>
      <dgm:spPr/>
    </dgm:pt>
    <dgm:pt modelId="{D5178222-410E-5342-9647-263A1CB1AEB8}" type="pres">
      <dgm:prSet presAssocID="{89ACD092-86ED-7446-A47E-96C762B3F86D}" presName="sibTrans" presStyleLbl="node1" presStyleIdx="3" presStyleCnt="7"/>
      <dgm:spPr/>
    </dgm:pt>
    <dgm:pt modelId="{673B4ABD-0066-6542-AC0A-BFF3DF15B411}" type="pres">
      <dgm:prSet presAssocID="{8E58B857-523A-9549-92AE-AD3D3A68F339}" presName="dummy" presStyleCnt="0"/>
      <dgm:spPr/>
    </dgm:pt>
    <dgm:pt modelId="{9A6282A1-1686-A748-BC52-CDE4C63A130C}" type="pres">
      <dgm:prSet presAssocID="{8E58B857-523A-9549-92AE-AD3D3A68F339}" presName="node" presStyleLbl="revTx" presStyleIdx="4" presStyleCnt="7">
        <dgm:presLayoutVars>
          <dgm:bulletEnabled val="1"/>
        </dgm:presLayoutVars>
      </dgm:prSet>
      <dgm:spPr/>
    </dgm:pt>
    <dgm:pt modelId="{1F6D78F0-102A-5245-A79A-1B66AFA54F02}" type="pres">
      <dgm:prSet presAssocID="{5E10D6A9-AFA9-0F43-8577-B368BA4C2768}" presName="sibTrans" presStyleLbl="node1" presStyleIdx="4" presStyleCnt="7" custScaleX="100370" custScaleY="102524"/>
      <dgm:spPr/>
    </dgm:pt>
    <dgm:pt modelId="{1C6EE3ED-D012-1B48-875E-138A1F894710}" type="pres">
      <dgm:prSet presAssocID="{1574AD03-273E-104E-BF1E-C28F3B8FE080}" presName="dummy" presStyleCnt="0"/>
      <dgm:spPr/>
    </dgm:pt>
    <dgm:pt modelId="{B02586E3-8412-2B45-A915-DED2F769F4F8}" type="pres">
      <dgm:prSet presAssocID="{1574AD03-273E-104E-BF1E-C28F3B8FE080}" presName="node" presStyleLbl="revTx" presStyleIdx="5" presStyleCnt="7">
        <dgm:presLayoutVars>
          <dgm:bulletEnabled val="1"/>
        </dgm:presLayoutVars>
      </dgm:prSet>
      <dgm:spPr/>
    </dgm:pt>
    <dgm:pt modelId="{984664E5-6FD9-A440-A1CD-CE2CC112B8A4}" type="pres">
      <dgm:prSet presAssocID="{36D5C54B-A69A-104C-971B-DB8CFD9FA4CC}" presName="sibTrans" presStyleLbl="node1" presStyleIdx="5" presStyleCnt="7"/>
      <dgm:spPr/>
    </dgm:pt>
    <dgm:pt modelId="{EBD333C6-0F7E-D943-AF20-06D13F62F3E9}" type="pres">
      <dgm:prSet presAssocID="{55FC9061-DB55-894D-BE85-BC5EF8740F2B}" presName="dummy" presStyleCnt="0"/>
      <dgm:spPr/>
    </dgm:pt>
    <dgm:pt modelId="{69EFB572-EB87-D949-B712-DFAF3D54C205}" type="pres">
      <dgm:prSet presAssocID="{55FC9061-DB55-894D-BE85-BC5EF8740F2B}" presName="node" presStyleLbl="revTx" presStyleIdx="6" presStyleCnt="7">
        <dgm:presLayoutVars>
          <dgm:bulletEnabled val="1"/>
        </dgm:presLayoutVars>
      </dgm:prSet>
      <dgm:spPr/>
    </dgm:pt>
    <dgm:pt modelId="{64145C76-700E-144A-9D67-BA212F1EC65F}" type="pres">
      <dgm:prSet presAssocID="{1A9179BF-CA84-8148-A935-DAB41CBE1456}" presName="sibTrans" presStyleLbl="node1" presStyleIdx="6" presStyleCnt="7"/>
      <dgm:spPr/>
    </dgm:pt>
  </dgm:ptLst>
  <dgm:cxnLst>
    <dgm:cxn modelId="{BFE32301-2B13-2143-8259-48A4F6CD26F3}" srcId="{84CB8BD8-7FE2-314C-857D-8F31BB3DCAB9}" destId="{C7E8C0C5-1654-C449-A59B-9B668783E345}" srcOrd="1" destOrd="0" parTransId="{A91E2E73-EF43-2743-9834-62EEC97C7490}" sibTransId="{9D6D22CD-A287-E345-8049-F9C98EF38571}"/>
    <dgm:cxn modelId="{EA80960B-F8AE-DC4D-8645-8BEC572011BD}" srcId="{84CB8BD8-7FE2-314C-857D-8F31BB3DCAB9}" destId="{1574AD03-273E-104E-BF1E-C28F3B8FE080}" srcOrd="5" destOrd="0" parTransId="{06475551-3FAA-1144-ACEC-89B500CAF429}" sibTransId="{36D5C54B-A69A-104C-971B-DB8CFD9FA4CC}"/>
    <dgm:cxn modelId="{A8A23C19-003C-D443-BC7D-0605C635823E}" type="presOf" srcId="{C7E8C0C5-1654-C449-A59B-9B668783E345}" destId="{359FF075-C711-664A-9EF9-1382FC94B094}" srcOrd="0" destOrd="0" presId="urn:microsoft.com/office/officeart/2005/8/layout/cycle1"/>
    <dgm:cxn modelId="{50302F26-C15F-8648-9097-9224FD215B52}" type="presOf" srcId="{D5A25FA1-C34B-1342-A5AE-1D54469C9353}" destId="{E50B2949-CC65-824E-9A76-BDC2308FEF2E}" srcOrd="0" destOrd="0" presId="urn:microsoft.com/office/officeart/2005/8/layout/cycle1"/>
    <dgm:cxn modelId="{99C4332E-D609-2B4F-88D5-7E62F4FD9DCE}" type="presOf" srcId="{1574AD03-273E-104E-BF1E-C28F3B8FE080}" destId="{B02586E3-8412-2B45-A915-DED2F769F4F8}" srcOrd="0" destOrd="0" presId="urn:microsoft.com/office/officeart/2005/8/layout/cycle1"/>
    <dgm:cxn modelId="{D20CAC30-0183-CB42-A8A9-0AFC074F1588}" type="presOf" srcId="{84CB8BD8-7FE2-314C-857D-8F31BB3DCAB9}" destId="{AEDC59F9-F84B-7240-9152-E3EB3F4F9402}" srcOrd="0" destOrd="0" presId="urn:microsoft.com/office/officeart/2005/8/layout/cycle1"/>
    <dgm:cxn modelId="{178F8946-0FF0-1642-9E15-C0C2C06AC4AA}" type="presOf" srcId="{1A9179BF-CA84-8148-A935-DAB41CBE1456}" destId="{64145C76-700E-144A-9D67-BA212F1EC65F}" srcOrd="0" destOrd="0" presId="urn:microsoft.com/office/officeart/2005/8/layout/cycle1"/>
    <dgm:cxn modelId="{2B11224E-A841-F44E-91DA-EEC9D0ED1FAC}" srcId="{84CB8BD8-7FE2-314C-857D-8F31BB3DCAB9}" destId="{90337749-14E4-214E-AB4E-6D76474F2188}" srcOrd="3" destOrd="0" parTransId="{8E3A7159-18EB-624A-9423-56007782FC1E}" sibTransId="{89ACD092-86ED-7446-A47E-96C762B3F86D}"/>
    <dgm:cxn modelId="{259C6F56-54A7-1244-81B5-2778FE45F461}" type="presOf" srcId="{9D6D22CD-A287-E345-8049-F9C98EF38571}" destId="{C0D2873E-A3FF-5C47-BEFD-898E66DF9FBA}" srcOrd="0" destOrd="0" presId="urn:microsoft.com/office/officeart/2005/8/layout/cycle1"/>
    <dgm:cxn modelId="{D42C105A-EC42-834C-B62A-A1042F25ED57}" type="presOf" srcId="{7A7CF05F-1090-6E40-B25C-DE5FF0A71712}" destId="{41E3703C-8E80-974E-9608-44DB50E48807}" srcOrd="0" destOrd="0" presId="urn:microsoft.com/office/officeart/2005/8/layout/cycle1"/>
    <dgm:cxn modelId="{093BDA69-EDEB-6E47-848D-965DE2D038A6}" type="presOf" srcId="{5E10D6A9-AFA9-0F43-8577-B368BA4C2768}" destId="{1F6D78F0-102A-5245-A79A-1B66AFA54F02}" srcOrd="0" destOrd="0" presId="urn:microsoft.com/office/officeart/2005/8/layout/cycle1"/>
    <dgm:cxn modelId="{B3E87A6B-C662-D541-A6B8-CD0267C4F518}" srcId="{84CB8BD8-7FE2-314C-857D-8F31BB3DCAB9}" destId="{D5A25FA1-C34B-1342-A5AE-1D54469C9353}" srcOrd="0" destOrd="0" parTransId="{EAD6A8A2-C837-334C-8BF9-5F891119FBD3}" sibTransId="{7A7CF05F-1090-6E40-B25C-DE5FF0A71712}"/>
    <dgm:cxn modelId="{C657C66F-0E99-1246-B020-7D2C78AD1925}" type="presOf" srcId="{90337749-14E4-214E-AB4E-6D76474F2188}" destId="{D7E2DB93-CFA6-6647-B8C5-E9B5EDEEF565}" srcOrd="0" destOrd="0" presId="urn:microsoft.com/office/officeart/2005/8/layout/cycle1"/>
    <dgm:cxn modelId="{52449779-30FA-994E-9562-1B1793C67C5E}" type="presOf" srcId="{55FC9061-DB55-894D-BE85-BC5EF8740F2B}" destId="{69EFB572-EB87-D949-B712-DFAF3D54C205}" srcOrd="0" destOrd="0" presId="urn:microsoft.com/office/officeart/2005/8/layout/cycle1"/>
    <dgm:cxn modelId="{C2E58A87-8451-354A-A7FF-D74940476477}" type="presOf" srcId="{89ACD092-86ED-7446-A47E-96C762B3F86D}" destId="{D5178222-410E-5342-9647-263A1CB1AEB8}" srcOrd="0" destOrd="0" presId="urn:microsoft.com/office/officeart/2005/8/layout/cycle1"/>
    <dgm:cxn modelId="{A990B08B-713D-FC4B-BE1A-6D58C3F3E328}" type="presOf" srcId="{B06D745E-4E98-8843-94AA-2A301E12B748}" destId="{8ABFB698-D27C-BA49-B7BD-B3AC9ECC641F}" srcOrd="0" destOrd="0" presId="urn:microsoft.com/office/officeart/2005/8/layout/cycle1"/>
    <dgm:cxn modelId="{3B729F94-8714-904E-A666-D79101A78FC0}" srcId="{84CB8BD8-7FE2-314C-857D-8F31BB3DCAB9}" destId="{55FC9061-DB55-894D-BE85-BC5EF8740F2B}" srcOrd="6" destOrd="0" parTransId="{7F891AC9-A5C0-104F-A7D9-D94AFFB0856B}" sibTransId="{1A9179BF-CA84-8148-A935-DAB41CBE1456}"/>
    <dgm:cxn modelId="{ADEEA798-5097-4844-84B7-7F60444C764D}" srcId="{84CB8BD8-7FE2-314C-857D-8F31BB3DCAB9}" destId="{EC662F9E-FA0C-8F4F-946D-75CDFF349CFF}" srcOrd="2" destOrd="0" parTransId="{BC885A85-14E6-D042-8755-4D66776C82DE}" sibTransId="{B06D745E-4E98-8843-94AA-2A301E12B748}"/>
    <dgm:cxn modelId="{F28DCD99-1DFC-E743-8F7B-8E2049B9939C}" srcId="{84CB8BD8-7FE2-314C-857D-8F31BB3DCAB9}" destId="{8E58B857-523A-9549-92AE-AD3D3A68F339}" srcOrd="4" destOrd="0" parTransId="{923F8F5F-5FAC-6E49-9775-4064156DA7E7}" sibTransId="{5E10D6A9-AFA9-0F43-8577-B368BA4C2768}"/>
    <dgm:cxn modelId="{5EE310A8-5B73-E945-BB34-F9629484F945}" type="presOf" srcId="{EC662F9E-FA0C-8F4F-946D-75CDFF349CFF}" destId="{08CA5058-C8EA-CA4F-803C-F2038F6F3730}" srcOrd="0" destOrd="0" presId="urn:microsoft.com/office/officeart/2005/8/layout/cycle1"/>
    <dgm:cxn modelId="{BB5BC5E6-0F50-2B49-936A-65AF26150512}" type="presOf" srcId="{8E58B857-523A-9549-92AE-AD3D3A68F339}" destId="{9A6282A1-1686-A748-BC52-CDE4C63A130C}" srcOrd="0" destOrd="0" presId="urn:microsoft.com/office/officeart/2005/8/layout/cycle1"/>
    <dgm:cxn modelId="{3E7FB5FD-E0F6-D04E-B8F9-CADB96B01165}" type="presOf" srcId="{36D5C54B-A69A-104C-971B-DB8CFD9FA4CC}" destId="{984664E5-6FD9-A440-A1CD-CE2CC112B8A4}" srcOrd="0" destOrd="0" presId="urn:microsoft.com/office/officeart/2005/8/layout/cycle1"/>
    <dgm:cxn modelId="{67F4B918-ECEE-CC40-83D1-41EE2608069F}" type="presParOf" srcId="{AEDC59F9-F84B-7240-9152-E3EB3F4F9402}" destId="{E5F773F9-948C-9F47-AE7C-04018B849F00}" srcOrd="0" destOrd="0" presId="urn:microsoft.com/office/officeart/2005/8/layout/cycle1"/>
    <dgm:cxn modelId="{AF925357-EFD0-1C43-8C3D-12C887518BC8}" type="presParOf" srcId="{AEDC59F9-F84B-7240-9152-E3EB3F4F9402}" destId="{E50B2949-CC65-824E-9A76-BDC2308FEF2E}" srcOrd="1" destOrd="0" presId="urn:microsoft.com/office/officeart/2005/8/layout/cycle1"/>
    <dgm:cxn modelId="{21964137-F0BE-5A49-AA55-2C97068B2365}" type="presParOf" srcId="{AEDC59F9-F84B-7240-9152-E3EB3F4F9402}" destId="{41E3703C-8E80-974E-9608-44DB50E48807}" srcOrd="2" destOrd="0" presId="urn:microsoft.com/office/officeart/2005/8/layout/cycle1"/>
    <dgm:cxn modelId="{E78113DC-3136-0640-9188-3304F0B27E14}" type="presParOf" srcId="{AEDC59F9-F84B-7240-9152-E3EB3F4F9402}" destId="{81E9744C-DCE3-3A4C-B1F4-D656F7EF923C}" srcOrd="3" destOrd="0" presId="urn:microsoft.com/office/officeart/2005/8/layout/cycle1"/>
    <dgm:cxn modelId="{B0DB2BAC-27AD-B44F-9C91-DEA1CC6E88E3}" type="presParOf" srcId="{AEDC59F9-F84B-7240-9152-E3EB3F4F9402}" destId="{359FF075-C711-664A-9EF9-1382FC94B094}" srcOrd="4" destOrd="0" presId="urn:microsoft.com/office/officeart/2005/8/layout/cycle1"/>
    <dgm:cxn modelId="{DD67CE84-9F1A-594B-A46A-723C7A03A7CE}" type="presParOf" srcId="{AEDC59F9-F84B-7240-9152-E3EB3F4F9402}" destId="{C0D2873E-A3FF-5C47-BEFD-898E66DF9FBA}" srcOrd="5" destOrd="0" presId="urn:microsoft.com/office/officeart/2005/8/layout/cycle1"/>
    <dgm:cxn modelId="{6035E51A-6AA8-9842-9930-C7D94C2C1350}" type="presParOf" srcId="{AEDC59F9-F84B-7240-9152-E3EB3F4F9402}" destId="{7586EA47-10AE-114B-835E-B6D9E6DB8825}" srcOrd="6" destOrd="0" presId="urn:microsoft.com/office/officeart/2005/8/layout/cycle1"/>
    <dgm:cxn modelId="{03B549FD-C30E-B845-AC6D-DE3A6FDB7E9C}" type="presParOf" srcId="{AEDC59F9-F84B-7240-9152-E3EB3F4F9402}" destId="{08CA5058-C8EA-CA4F-803C-F2038F6F3730}" srcOrd="7" destOrd="0" presId="urn:microsoft.com/office/officeart/2005/8/layout/cycle1"/>
    <dgm:cxn modelId="{A0881719-B529-5748-84E6-DCAAC7850BA2}" type="presParOf" srcId="{AEDC59F9-F84B-7240-9152-E3EB3F4F9402}" destId="{8ABFB698-D27C-BA49-B7BD-B3AC9ECC641F}" srcOrd="8" destOrd="0" presId="urn:microsoft.com/office/officeart/2005/8/layout/cycle1"/>
    <dgm:cxn modelId="{56671F64-E2C4-3D4B-9EDE-60523FF753EE}" type="presParOf" srcId="{AEDC59F9-F84B-7240-9152-E3EB3F4F9402}" destId="{01B6D211-7080-294B-B9C3-2C681266A9F3}" srcOrd="9" destOrd="0" presId="urn:microsoft.com/office/officeart/2005/8/layout/cycle1"/>
    <dgm:cxn modelId="{6F437F35-D793-4341-B2D1-265B6CC2DC77}" type="presParOf" srcId="{AEDC59F9-F84B-7240-9152-E3EB3F4F9402}" destId="{D7E2DB93-CFA6-6647-B8C5-E9B5EDEEF565}" srcOrd="10" destOrd="0" presId="urn:microsoft.com/office/officeart/2005/8/layout/cycle1"/>
    <dgm:cxn modelId="{3573A363-D0DD-D649-BC4F-E36D1C81415B}" type="presParOf" srcId="{AEDC59F9-F84B-7240-9152-E3EB3F4F9402}" destId="{D5178222-410E-5342-9647-263A1CB1AEB8}" srcOrd="11" destOrd="0" presId="urn:microsoft.com/office/officeart/2005/8/layout/cycle1"/>
    <dgm:cxn modelId="{ABD669A9-AF63-FA47-A333-6AC7035B88FD}" type="presParOf" srcId="{AEDC59F9-F84B-7240-9152-E3EB3F4F9402}" destId="{673B4ABD-0066-6542-AC0A-BFF3DF15B411}" srcOrd="12" destOrd="0" presId="urn:microsoft.com/office/officeart/2005/8/layout/cycle1"/>
    <dgm:cxn modelId="{91AE6402-29BF-0940-A659-5E7725C6F21F}" type="presParOf" srcId="{AEDC59F9-F84B-7240-9152-E3EB3F4F9402}" destId="{9A6282A1-1686-A748-BC52-CDE4C63A130C}" srcOrd="13" destOrd="0" presId="urn:microsoft.com/office/officeart/2005/8/layout/cycle1"/>
    <dgm:cxn modelId="{C778D8E0-8874-8846-BD7C-5B707FDA375C}" type="presParOf" srcId="{AEDC59F9-F84B-7240-9152-E3EB3F4F9402}" destId="{1F6D78F0-102A-5245-A79A-1B66AFA54F02}" srcOrd="14" destOrd="0" presId="urn:microsoft.com/office/officeart/2005/8/layout/cycle1"/>
    <dgm:cxn modelId="{B8756422-BA12-1C40-8F6C-71EF44315F6E}" type="presParOf" srcId="{AEDC59F9-F84B-7240-9152-E3EB3F4F9402}" destId="{1C6EE3ED-D012-1B48-875E-138A1F894710}" srcOrd="15" destOrd="0" presId="urn:microsoft.com/office/officeart/2005/8/layout/cycle1"/>
    <dgm:cxn modelId="{10447B49-11FA-B74D-A8B3-B5E2C0D693E8}" type="presParOf" srcId="{AEDC59F9-F84B-7240-9152-E3EB3F4F9402}" destId="{B02586E3-8412-2B45-A915-DED2F769F4F8}" srcOrd="16" destOrd="0" presId="urn:microsoft.com/office/officeart/2005/8/layout/cycle1"/>
    <dgm:cxn modelId="{102FB2DB-806A-604F-9E69-293CEC3D8C44}" type="presParOf" srcId="{AEDC59F9-F84B-7240-9152-E3EB3F4F9402}" destId="{984664E5-6FD9-A440-A1CD-CE2CC112B8A4}" srcOrd="17" destOrd="0" presId="urn:microsoft.com/office/officeart/2005/8/layout/cycle1"/>
    <dgm:cxn modelId="{6524E9D4-4B57-0D45-8F4F-3B611D8F93DF}" type="presParOf" srcId="{AEDC59F9-F84B-7240-9152-E3EB3F4F9402}" destId="{EBD333C6-0F7E-D943-AF20-06D13F62F3E9}" srcOrd="18" destOrd="0" presId="urn:microsoft.com/office/officeart/2005/8/layout/cycle1"/>
    <dgm:cxn modelId="{F38EA74B-3DFF-134F-9F2C-ADE1235707ED}" type="presParOf" srcId="{AEDC59F9-F84B-7240-9152-E3EB3F4F9402}" destId="{69EFB572-EB87-D949-B712-DFAF3D54C205}" srcOrd="19" destOrd="0" presId="urn:microsoft.com/office/officeart/2005/8/layout/cycle1"/>
    <dgm:cxn modelId="{3C3D832A-E96D-214E-9EA2-6354BFBD1AA6}" type="presParOf" srcId="{AEDC59F9-F84B-7240-9152-E3EB3F4F9402}" destId="{64145C76-700E-144A-9D67-BA212F1EC65F}" srcOrd="20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4CB8BD8-7FE2-314C-857D-8F31BB3DCAB9}" type="doc">
      <dgm:prSet loTypeId="urn:microsoft.com/office/officeart/2005/8/layout/cycle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5A25FA1-C34B-1342-A5AE-1D54469C9353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Reduced productivity</a:t>
          </a:r>
        </a:p>
      </dgm:t>
    </dgm:pt>
    <dgm:pt modelId="{EAD6A8A2-C837-334C-8BF9-5F891119FBD3}" type="parTrans" cxnId="{B3E87A6B-C662-D541-A6B8-CD0267C4F518}">
      <dgm:prSet/>
      <dgm:spPr/>
      <dgm:t>
        <a:bodyPr/>
        <a:lstStyle/>
        <a:p>
          <a:endParaRPr lang="en-US"/>
        </a:p>
      </dgm:t>
    </dgm:pt>
    <dgm:pt modelId="{7A7CF05F-1090-6E40-B25C-DE5FF0A71712}" type="sibTrans" cxnId="{B3E87A6B-C662-D541-A6B8-CD0267C4F518}">
      <dgm:prSet/>
      <dgm:spPr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2700000" scaled="1"/>
          <a:tileRect/>
        </a:gradFill>
      </dgm:spPr>
      <dgm:t>
        <a:bodyPr/>
        <a:lstStyle/>
        <a:p>
          <a:endParaRPr lang="en-US"/>
        </a:p>
      </dgm:t>
    </dgm:pt>
    <dgm:pt modelId="{C7E8C0C5-1654-C449-A59B-9B668783E345}">
      <dgm:prSet phldrT="[Text]"/>
      <dgm:spPr/>
      <dgm:t>
        <a:bodyPr/>
        <a:lstStyle/>
        <a:p>
          <a:r>
            <a:rPr lang="en-US" dirty="0">
              <a:solidFill>
                <a:srgbClr val="9A7352"/>
              </a:solidFill>
            </a:rPr>
            <a:t>Increased Absenteeism</a:t>
          </a:r>
        </a:p>
      </dgm:t>
    </dgm:pt>
    <dgm:pt modelId="{A91E2E73-EF43-2743-9834-62EEC97C7490}" type="parTrans" cxnId="{BFE32301-2B13-2143-8259-48A4F6CD26F3}">
      <dgm:prSet/>
      <dgm:spPr/>
      <dgm:t>
        <a:bodyPr/>
        <a:lstStyle/>
        <a:p>
          <a:endParaRPr lang="en-US"/>
        </a:p>
      </dgm:t>
    </dgm:pt>
    <dgm:pt modelId="{9D6D22CD-A287-E345-8049-F9C98EF38571}" type="sibTrans" cxnId="{BFE32301-2B13-2143-8259-48A4F6CD26F3}">
      <dgm:prSet/>
      <dgm:spPr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5400000" scaled="1"/>
          <a:tileRect/>
        </a:gradFill>
      </dgm:spPr>
      <dgm:t>
        <a:bodyPr/>
        <a:lstStyle/>
        <a:p>
          <a:endParaRPr lang="en-US"/>
        </a:p>
      </dgm:t>
    </dgm:pt>
    <dgm:pt modelId="{EC662F9E-FA0C-8F4F-946D-75CDFF349CFF}">
      <dgm:prSet phldrT="[Text]"/>
      <dgm:spPr/>
      <dgm:t>
        <a:bodyPr/>
        <a:lstStyle/>
        <a:p>
          <a:r>
            <a:rPr lang="en-US" dirty="0"/>
            <a:t>Elevated Healthcare Costs</a:t>
          </a:r>
        </a:p>
      </dgm:t>
    </dgm:pt>
    <dgm:pt modelId="{BC885A85-14E6-D042-8755-4D66776C82DE}" type="parTrans" cxnId="{ADEEA798-5097-4844-84B7-7F60444C764D}">
      <dgm:prSet/>
      <dgm:spPr/>
      <dgm:t>
        <a:bodyPr/>
        <a:lstStyle/>
        <a:p>
          <a:endParaRPr lang="en-US"/>
        </a:p>
      </dgm:t>
    </dgm:pt>
    <dgm:pt modelId="{B06D745E-4E98-8843-94AA-2A301E12B748}" type="sibTrans" cxnId="{ADEEA798-5097-4844-84B7-7F60444C764D}">
      <dgm:prSet/>
      <dgm:spPr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8100000" scaled="1"/>
          <a:tileRect/>
        </a:gradFill>
      </dgm:spPr>
      <dgm:t>
        <a:bodyPr/>
        <a:lstStyle/>
        <a:p>
          <a:endParaRPr lang="en-US"/>
        </a:p>
      </dgm:t>
    </dgm:pt>
    <dgm:pt modelId="{90337749-14E4-214E-AB4E-6D76474F2188}">
      <dgm:prSet phldrT="[Text]"/>
      <dgm:spPr/>
      <dgm:t>
        <a:bodyPr/>
        <a:lstStyle/>
        <a:p>
          <a:r>
            <a:rPr lang="en-US" dirty="0"/>
            <a:t>Higher Turnover</a:t>
          </a:r>
        </a:p>
      </dgm:t>
    </dgm:pt>
    <dgm:pt modelId="{8E3A7159-18EB-624A-9423-56007782FC1E}" type="parTrans" cxnId="{2B11224E-A841-F44E-91DA-EEC9D0ED1FAC}">
      <dgm:prSet/>
      <dgm:spPr/>
      <dgm:t>
        <a:bodyPr/>
        <a:lstStyle/>
        <a:p>
          <a:endParaRPr lang="en-US"/>
        </a:p>
      </dgm:t>
    </dgm:pt>
    <dgm:pt modelId="{89ACD092-86ED-7446-A47E-96C762B3F86D}" type="sibTrans" cxnId="{2B11224E-A841-F44E-91DA-EEC9D0ED1FAC}">
      <dgm:prSet/>
      <dgm:spPr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10800000" scaled="1"/>
          <a:tileRect/>
        </a:gradFill>
      </dgm:spPr>
      <dgm:t>
        <a:bodyPr/>
        <a:lstStyle/>
        <a:p>
          <a:endParaRPr lang="en-US"/>
        </a:p>
      </dgm:t>
    </dgm:pt>
    <dgm:pt modelId="{1574AD03-273E-104E-BF1E-C28F3B8FE080}">
      <dgm:prSet phldrT="[Text]"/>
      <dgm:spPr/>
      <dgm:t>
        <a:bodyPr/>
        <a:lstStyle/>
        <a:p>
          <a:r>
            <a:rPr lang="en-US" dirty="0"/>
            <a:t>Diminished Engagement/ Morale</a:t>
          </a:r>
        </a:p>
      </dgm:t>
    </dgm:pt>
    <dgm:pt modelId="{06475551-3FAA-1144-ACEC-89B500CAF429}" type="parTrans" cxnId="{EA80960B-F8AE-DC4D-8645-8BEC572011BD}">
      <dgm:prSet/>
      <dgm:spPr/>
      <dgm:t>
        <a:bodyPr/>
        <a:lstStyle/>
        <a:p>
          <a:endParaRPr lang="en-US"/>
        </a:p>
      </dgm:t>
    </dgm:pt>
    <dgm:pt modelId="{36D5C54B-A69A-104C-971B-DB8CFD9FA4CC}" type="sibTrans" cxnId="{EA80960B-F8AE-DC4D-8645-8BEC572011BD}">
      <dgm:prSet/>
      <dgm:spPr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18900000" scaled="1"/>
          <a:tileRect/>
        </a:gradFill>
      </dgm:spPr>
      <dgm:t>
        <a:bodyPr/>
        <a:lstStyle/>
        <a:p>
          <a:endParaRPr lang="en-US"/>
        </a:p>
      </dgm:t>
    </dgm:pt>
    <dgm:pt modelId="{8E58B857-523A-9549-92AE-AD3D3A68F339}">
      <dgm:prSet phldrT="[Text]"/>
      <dgm:spPr/>
      <dgm:t>
        <a:bodyPr/>
        <a:lstStyle/>
        <a:p>
          <a:r>
            <a:rPr lang="en-US" dirty="0"/>
            <a:t>Workplace Safety</a:t>
          </a:r>
        </a:p>
      </dgm:t>
    </dgm:pt>
    <dgm:pt modelId="{923F8F5F-5FAC-6E49-9775-4064156DA7E7}" type="parTrans" cxnId="{F28DCD99-1DFC-E743-8F7B-8E2049B9939C}">
      <dgm:prSet/>
      <dgm:spPr/>
      <dgm:t>
        <a:bodyPr/>
        <a:lstStyle/>
        <a:p>
          <a:endParaRPr lang="en-US"/>
        </a:p>
      </dgm:t>
    </dgm:pt>
    <dgm:pt modelId="{5E10D6A9-AFA9-0F43-8577-B368BA4C2768}" type="sibTrans" cxnId="{F28DCD99-1DFC-E743-8F7B-8E2049B9939C}">
      <dgm:prSet/>
      <dgm:spPr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16200000" scaled="1"/>
          <a:tileRect/>
        </a:gradFill>
      </dgm:spPr>
      <dgm:t>
        <a:bodyPr/>
        <a:lstStyle/>
        <a:p>
          <a:endParaRPr lang="en-US"/>
        </a:p>
      </dgm:t>
    </dgm:pt>
    <dgm:pt modelId="{55FC9061-DB55-894D-BE85-BC5EF8740F2B}">
      <dgm:prSet phldrT="[Text]"/>
      <dgm:spPr/>
      <dgm:t>
        <a:bodyPr/>
        <a:lstStyle/>
        <a:p>
          <a:r>
            <a:rPr lang="en-US" dirty="0"/>
            <a:t>Increased Presenteeism</a:t>
          </a:r>
        </a:p>
      </dgm:t>
    </dgm:pt>
    <dgm:pt modelId="{7F891AC9-A5C0-104F-A7D9-D94AFFB0856B}" type="parTrans" cxnId="{3B729F94-8714-904E-A666-D79101A78FC0}">
      <dgm:prSet/>
      <dgm:spPr/>
      <dgm:t>
        <a:bodyPr/>
        <a:lstStyle/>
        <a:p>
          <a:endParaRPr lang="en-US"/>
        </a:p>
      </dgm:t>
    </dgm:pt>
    <dgm:pt modelId="{1A9179BF-CA84-8148-A935-DAB41CBE1456}" type="sibTrans" cxnId="{3B729F94-8714-904E-A666-D79101A78FC0}">
      <dgm:prSet/>
      <dgm:spPr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0" scaled="1"/>
          <a:tileRect/>
        </a:gradFill>
      </dgm:spPr>
      <dgm:t>
        <a:bodyPr/>
        <a:lstStyle/>
        <a:p>
          <a:endParaRPr lang="en-US"/>
        </a:p>
      </dgm:t>
    </dgm:pt>
    <dgm:pt modelId="{AEDC59F9-F84B-7240-9152-E3EB3F4F9402}" type="pres">
      <dgm:prSet presAssocID="{84CB8BD8-7FE2-314C-857D-8F31BB3DCAB9}" presName="cycle" presStyleCnt="0">
        <dgm:presLayoutVars>
          <dgm:dir/>
          <dgm:resizeHandles val="exact"/>
        </dgm:presLayoutVars>
      </dgm:prSet>
      <dgm:spPr/>
    </dgm:pt>
    <dgm:pt modelId="{E5F773F9-948C-9F47-AE7C-04018B849F00}" type="pres">
      <dgm:prSet presAssocID="{D5A25FA1-C34B-1342-A5AE-1D54469C9353}" presName="dummy" presStyleCnt="0"/>
      <dgm:spPr/>
    </dgm:pt>
    <dgm:pt modelId="{E50B2949-CC65-824E-9A76-BDC2308FEF2E}" type="pres">
      <dgm:prSet presAssocID="{D5A25FA1-C34B-1342-A5AE-1D54469C9353}" presName="node" presStyleLbl="revTx" presStyleIdx="0" presStyleCnt="7">
        <dgm:presLayoutVars>
          <dgm:bulletEnabled val="1"/>
        </dgm:presLayoutVars>
      </dgm:prSet>
      <dgm:spPr/>
    </dgm:pt>
    <dgm:pt modelId="{41E3703C-8E80-974E-9608-44DB50E48807}" type="pres">
      <dgm:prSet presAssocID="{7A7CF05F-1090-6E40-B25C-DE5FF0A71712}" presName="sibTrans" presStyleLbl="node1" presStyleIdx="0" presStyleCnt="7"/>
      <dgm:spPr/>
    </dgm:pt>
    <dgm:pt modelId="{81E9744C-DCE3-3A4C-B1F4-D656F7EF923C}" type="pres">
      <dgm:prSet presAssocID="{C7E8C0C5-1654-C449-A59B-9B668783E345}" presName="dummy" presStyleCnt="0"/>
      <dgm:spPr/>
    </dgm:pt>
    <dgm:pt modelId="{359FF075-C711-664A-9EF9-1382FC94B094}" type="pres">
      <dgm:prSet presAssocID="{C7E8C0C5-1654-C449-A59B-9B668783E345}" presName="node" presStyleLbl="revTx" presStyleIdx="1" presStyleCnt="7">
        <dgm:presLayoutVars>
          <dgm:bulletEnabled val="1"/>
        </dgm:presLayoutVars>
      </dgm:prSet>
      <dgm:spPr/>
    </dgm:pt>
    <dgm:pt modelId="{C0D2873E-A3FF-5C47-BEFD-898E66DF9FBA}" type="pres">
      <dgm:prSet presAssocID="{9D6D22CD-A287-E345-8049-F9C98EF38571}" presName="sibTrans" presStyleLbl="node1" presStyleIdx="1" presStyleCnt="7"/>
      <dgm:spPr/>
    </dgm:pt>
    <dgm:pt modelId="{7586EA47-10AE-114B-835E-B6D9E6DB8825}" type="pres">
      <dgm:prSet presAssocID="{EC662F9E-FA0C-8F4F-946D-75CDFF349CFF}" presName="dummy" presStyleCnt="0"/>
      <dgm:spPr/>
    </dgm:pt>
    <dgm:pt modelId="{08CA5058-C8EA-CA4F-803C-F2038F6F3730}" type="pres">
      <dgm:prSet presAssocID="{EC662F9E-FA0C-8F4F-946D-75CDFF349CFF}" presName="node" presStyleLbl="revTx" presStyleIdx="2" presStyleCnt="7">
        <dgm:presLayoutVars>
          <dgm:bulletEnabled val="1"/>
        </dgm:presLayoutVars>
      </dgm:prSet>
      <dgm:spPr/>
    </dgm:pt>
    <dgm:pt modelId="{8ABFB698-D27C-BA49-B7BD-B3AC9ECC641F}" type="pres">
      <dgm:prSet presAssocID="{B06D745E-4E98-8843-94AA-2A301E12B748}" presName="sibTrans" presStyleLbl="node1" presStyleIdx="2" presStyleCnt="7"/>
      <dgm:spPr/>
    </dgm:pt>
    <dgm:pt modelId="{01B6D211-7080-294B-B9C3-2C681266A9F3}" type="pres">
      <dgm:prSet presAssocID="{90337749-14E4-214E-AB4E-6D76474F2188}" presName="dummy" presStyleCnt="0"/>
      <dgm:spPr/>
    </dgm:pt>
    <dgm:pt modelId="{D7E2DB93-CFA6-6647-B8C5-E9B5EDEEF565}" type="pres">
      <dgm:prSet presAssocID="{90337749-14E4-214E-AB4E-6D76474F2188}" presName="node" presStyleLbl="revTx" presStyleIdx="3" presStyleCnt="7">
        <dgm:presLayoutVars>
          <dgm:bulletEnabled val="1"/>
        </dgm:presLayoutVars>
      </dgm:prSet>
      <dgm:spPr/>
    </dgm:pt>
    <dgm:pt modelId="{D5178222-410E-5342-9647-263A1CB1AEB8}" type="pres">
      <dgm:prSet presAssocID="{89ACD092-86ED-7446-A47E-96C762B3F86D}" presName="sibTrans" presStyleLbl="node1" presStyleIdx="3" presStyleCnt="7"/>
      <dgm:spPr/>
    </dgm:pt>
    <dgm:pt modelId="{673B4ABD-0066-6542-AC0A-BFF3DF15B411}" type="pres">
      <dgm:prSet presAssocID="{8E58B857-523A-9549-92AE-AD3D3A68F339}" presName="dummy" presStyleCnt="0"/>
      <dgm:spPr/>
    </dgm:pt>
    <dgm:pt modelId="{9A6282A1-1686-A748-BC52-CDE4C63A130C}" type="pres">
      <dgm:prSet presAssocID="{8E58B857-523A-9549-92AE-AD3D3A68F339}" presName="node" presStyleLbl="revTx" presStyleIdx="4" presStyleCnt="7">
        <dgm:presLayoutVars>
          <dgm:bulletEnabled val="1"/>
        </dgm:presLayoutVars>
      </dgm:prSet>
      <dgm:spPr/>
    </dgm:pt>
    <dgm:pt modelId="{1F6D78F0-102A-5245-A79A-1B66AFA54F02}" type="pres">
      <dgm:prSet presAssocID="{5E10D6A9-AFA9-0F43-8577-B368BA4C2768}" presName="sibTrans" presStyleLbl="node1" presStyleIdx="4" presStyleCnt="7" custScaleX="100370" custScaleY="102524"/>
      <dgm:spPr/>
    </dgm:pt>
    <dgm:pt modelId="{1C6EE3ED-D012-1B48-875E-138A1F894710}" type="pres">
      <dgm:prSet presAssocID="{1574AD03-273E-104E-BF1E-C28F3B8FE080}" presName="dummy" presStyleCnt="0"/>
      <dgm:spPr/>
    </dgm:pt>
    <dgm:pt modelId="{B02586E3-8412-2B45-A915-DED2F769F4F8}" type="pres">
      <dgm:prSet presAssocID="{1574AD03-273E-104E-BF1E-C28F3B8FE080}" presName="node" presStyleLbl="revTx" presStyleIdx="5" presStyleCnt="7">
        <dgm:presLayoutVars>
          <dgm:bulletEnabled val="1"/>
        </dgm:presLayoutVars>
      </dgm:prSet>
      <dgm:spPr/>
    </dgm:pt>
    <dgm:pt modelId="{984664E5-6FD9-A440-A1CD-CE2CC112B8A4}" type="pres">
      <dgm:prSet presAssocID="{36D5C54B-A69A-104C-971B-DB8CFD9FA4CC}" presName="sibTrans" presStyleLbl="node1" presStyleIdx="5" presStyleCnt="7"/>
      <dgm:spPr/>
    </dgm:pt>
    <dgm:pt modelId="{EBD333C6-0F7E-D943-AF20-06D13F62F3E9}" type="pres">
      <dgm:prSet presAssocID="{55FC9061-DB55-894D-BE85-BC5EF8740F2B}" presName="dummy" presStyleCnt="0"/>
      <dgm:spPr/>
    </dgm:pt>
    <dgm:pt modelId="{69EFB572-EB87-D949-B712-DFAF3D54C205}" type="pres">
      <dgm:prSet presAssocID="{55FC9061-DB55-894D-BE85-BC5EF8740F2B}" presName="node" presStyleLbl="revTx" presStyleIdx="6" presStyleCnt="7">
        <dgm:presLayoutVars>
          <dgm:bulletEnabled val="1"/>
        </dgm:presLayoutVars>
      </dgm:prSet>
      <dgm:spPr/>
    </dgm:pt>
    <dgm:pt modelId="{64145C76-700E-144A-9D67-BA212F1EC65F}" type="pres">
      <dgm:prSet presAssocID="{1A9179BF-CA84-8148-A935-DAB41CBE1456}" presName="sibTrans" presStyleLbl="node1" presStyleIdx="6" presStyleCnt="7"/>
      <dgm:spPr/>
    </dgm:pt>
  </dgm:ptLst>
  <dgm:cxnLst>
    <dgm:cxn modelId="{BFE32301-2B13-2143-8259-48A4F6CD26F3}" srcId="{84CB8BD8-7FE2-314C-857D-8F31BB3DCAB9}" destId="{C7E8C0C5-1654-C449-A59B-9B668783E345}" srcOrd="1" destOrd="0" parTransId="{A91E2E73-EF43-2743-9834-62EEC97C7490}" sibTransId="{9D6D22CD-A287-E345-8049-F9C98EF38571}"/>
    <dgm:cxn modelId="{EA80960B-F8AE-DC4D-8645-8BEC572011BD}" srcId="{84CB8BD8-7FE2-314C-857D-8F31BB3DCAB9}" destId="{1574AD03-273E-104E-BF1E-C28F3B8FE080}" srcOrd="5" destOrd="0" parTransId="{06475551-3FAA-1144-ACEC-89B500CAF429}" sibTransId="{36D5C54B-A69A-104C-971B-DB8CFD9FA4CC}"/>
    <dgm:cxn modelId="{A8A23C19-003C-D443-BC7D-0605C635823E}" type="presOf" srcId="{C7E8C0C5-1654-C449-A59B-9B668783E345}" destId="{359FF075-C711-664A-9EF9-1382FC94B094}" srcOrd="0" destOrd="0" presId="urn:microsoft.com/office/officeart/2005/8/layout/cycle1"/>
    <dgm:cxn modelId="{50302F26-C15F-8648-9097-9224FD215B52}" type="presOf" srcId="{D5A25FA1-C34B-1342-A5AE-1D54469C9353}" destId="{E50B2949-CC65-824E-9A76-BDC2308FEF2E}" srcOrd="0" destOrd="0" presId="urn:microsoft.com/office/officeart/2005/8/layout/cycle1"/>
    <dgm:cxn modelId="{99C4332E-D609-2B4F-88D5-7E62F4FD9DCE}" type="presOf" srcId="{1574AD03-273E-104E-BF1E-C28F3B8FE080}" destId="{B02586E3-8412-2B45-A915-DED2F769F4F8}" srcOrd="0" destOrd="0" presId="urn:microsoft.com/office/officeart/2005/8/layout/cycle1"/>
    <dgm:cxn modelId="{D20CAC30-0183-CB42-A8A9-0AFC074F1588}" type="presOf" srcId="{84CB8BD8-7FE2-314C-857D-8F31BB3DCAB9}" destId="{AEDC59F9-F84B-7240-9152-E3EB3F4F9402}" srcOrd="0" destOrd="0" presId="urn:microsoft.com/office/officeart/2005/8/layout/cycle1"/>
    <dgm:cxn modelId="{178F8946-0FF0-1642-9E15-C0C2C06AC4AA}" type="presOf" srcId="{1A9179BF-CA84-8148-A935-DAB41CBE1456}" destId="{64145C76-700E-144A-9D67-BA212F1EC65F}" srcOrd="0" destOrd="0" presId="urn:microsoft.com/office/officeart/2005/8/layout/cycle1"/>
    <dgm:cxn modelId="{2B11224E-A841-F44E-91DA-EEC9D0ED1FAC}" srcId="{84CB8BD8-7FE2-314C-857D-8F31BB3DCAB9}" destId="{90337749-14E4-214E-AB4E-6D76474F2188}" srcOrd="3" destOrd="0" parTransId="{8E3A7159-18EB-624A-9423-56007782FC1E}" sibTransId="{89ACD092-86ED-7446-A47E-96C762B3F86D}"/>
    <dgm:cxn modelId="{259C6F56-54A7-1244-81B5-2778FE45F461}" type="presOf" srcId="{9D6D22CD-A287-E345-8049-F9C98EF38571}" destId="{C0D2873E-A3FF-5C47-BEFD-898E66DF9FBA}" srcOrd="0" destOrd="0" presId="urn:microsoft.com/office/officeart/2005/8/layout/cycle1"/>
    <dgm:cxn modelId="{D42C105A-EC42-834C-B62A-A1042F25ED57}" type="presOf" srcId="{7A7CF05F-1090-6E40-B25C-DE5FF0A71712}" destId="{41E3703C-8E80-974E-9608-44DB50E48807}" srcOrd="0" destOrd="0" presId="urn:microsoft.com/office/officeart/2005/8/layout/cycle1"/>
    <dgm:cxn modelId="{093BDA69-EDEB-6E47-848D-965DE2D038A6}" type="presOf" srcId="{5E10D6A9-AFA9-0F43-8577-B368BA4C2768}" destId="{1F6D78F0-102A-5245-A79A-1B66AFA54F02}" srcOrd="0" destOrd="0" presId="urn:microsoft.com/office/officeart/2005/8/layout/cycle1"/>
    <dgm:cxn modelId="{B3E87A6B-C662-D541-A6B8-CD0267C4F518}" srcId="{84CB8BD8-7FE2-314C-857D-8F31BB3DCAB9}" destId="{D5A25FA1-C34B-1342-A5AE-1D54469C9353}" srcOrd="0" destOrd="0" parTransId="{EAD6A8A2-C837-334C-8BF9-5F891119FBD3}" sibTransId="{7A7CF05F-1090-6E40-B25C-DE5FF0A71712}"/>
    <dgm:cxn modelId="{C657C66F-0E99-1246-B020-7D2C78AD1925}" type="presOf" srcId="{90337749-14E4-214E-AB4E-6D76474F2188}" destId="{D7E2DB93-CFA6-6647-B8C5-E9B5EDEEF565}" srcOrd="0" destOrd="0" presId="urn:microsoft.com/office/officeart/2005/8/layout/cycle1"/>
    <dgm:cxn modelId="{52449779-30FA-994E-9562-1B1793C67C5E}" type="presOf" srcId="{55FC9061-DB55-894D-BE85-BC5EF8740F2B}" destId="{69EFB572-EB87-D949-B712-DFAF3D54C205}" srcOrd="0" destOrd="0" presId="urn:microsoft.com/office/officeart/2005/8/layout/cycle1"/>
    <dgm:cxn modelId="{C2E58A87-8451-354A-A7FF-D74940476477}" type="presOf" srcId="{89ACD092-86ED-7446-A47E-96C762B3F86D}" destId="{D5178222-410E-5342-9647-263A1CB1AEB8}" srcOrd="0" destOrd="0" presId="urn:microsoft.com/office/officeart/2005/8/layout/cycle1"/>
    <dgm:cxn modelId="{A990B08B-713D-FC4B-BE1A-6D58C3F3E328}" type="presOf" srcId="{B06D745E-4E98-8843-94AA-2A301E12B748}" destId="{8ABFB698-D27C-BA49-B7BD-B3AC9ECC641F}" srcOrd="0" destOrd="0" presId="urn:microsoft.com/office/officeart/2005/8/layout/cycle1"/>
    <dgm:cxn modelId="{3B729F94-8714-904E-A666-D79101A78FC0}" srcId="{84CB8BD8-7FE2-314C-857D-8F31BB3DCAB9}" destId="{55FC9061-DB55-894D-BE85-BC5EF8740F2B}" srcOrd="6" destOrd="0" parTransId="{7F891AC9-A5C0-104F-A7D9-D94AFFB0856B}" sibTransId="{1A9179BF-CA84-8148-A935-DAB41CBE1456}"/>
    <dgm:cxn modelId="{ADEEA798-5097-4844-84B7-7F60444C764D}" srcId="{84CB8BD8-7FE2-314C-857D-8F31BB3DCAB9}" destId="{EC662F9E-FA0C-8F4F-946D-75CDFF349CFF}" srcOrd="2" destOrd="0" parTransId="{BC885A85-14E6-D042-8755-4D66776C82DE}" sibTransId="{B06D745E-4E98-8843-94AA-2A301E12B748}"/>
    <dgm:cxn modelId="{F28DCD99-1DFC-E743-8F7B-8E2049B9939C}" srcId="{84CB8BD8-7FE2-314C-857D-8F31BB3DCAB9}" destId="{8E58B857-523A-9549-92AE-AD3D3A68F339}" srcOrd="4" destOrd="0" parTransId="{923F8F5F-5FAC-6E49-9775-4064156DA7E7}" sibTransId="{5E10D6A9-AFA9-0F43-8577-B368BA4C2768}"/>
    <dgm:cxn modelId="{5EE310A8-5B73-E945-BB34-F9629484F945}" type="presOf" srcId="{EC662F9E-FA0C-8F4F-946D-75CDFF349CFF}" destId="{08CA5058-C8EA-CA4F-803C-F2038F6F3730}" srcOrd="0" destOrd="0" presId="urn:microsoft.com/office/officeart/2005/8/layout/cycle1"/>
    <dgm:cxn modelId="{BB5BC5E6-0F50-2B49-936A-65AF26150512}" type="presOf" srcId="{8E58B857-523A-9549-92AE-AD3D3A68F339}" destId="{9A6282A1-1686-A748-BC52-CDE4C63A130C}" srcOrd="0" destOrd="0" presId="urn:microsoft.com/office/officeart/2005/8/layout/cycle1"/>
    <dgm:cxn modelId="{3E7FB5FD-E0F6-D04E-B8F9-CADB96B01165}" type="presOf" srcId="{36D5C54B-A69A-104C-971B-DB8CFD9FA4CC}" destId="{984664E5-6FD9-A440-A1CD-CE2CC112B8A4}" srcOrd="0" destOrd="0" presId="urn:microsoft.com/office/officeart/2005/8/layout/cycle1"/>
    <dgm:cxn modelId="{67F4B918-ECEE-CC40-83D1-41EE2608069F}" type="presParOf" srcId="{AEDC59F9-F84B-7240-9152-E3EB3F4F9402}" destId="{E5F773F9-948C-9F47-AE7C-04018B849F00}" srcOrd="0" destOrd="0" presId="urn:microsoft.com/office/officeart/2005/8/layout/cycle1"/>
    <dgm:cxn modelId="{AF925357-EFD0-1C43-8C3D-12C887518BC8}" type="presParOf" srcId="{AEDC59F9-F84B-7240-9152-E3EB3F4F9402}" destId="{E50B2949-CC65-824E-9A76-BDC2308FEF2E}" srcOrd="1" destOrd="0" presId="urn:microsoft.com/office/officeart/2005/8/layout/cycle1"/>
    <dgm:cxn modelId="{21964137-F0BE-5A49-AA55-2C97068B2365}" type="presParOf" srcId="{AEDC59F9-F84B-7240-9152-E3EB3F4F9402}" destId="{41E3703C-8E80-974E-9608-44DB50E48807}" srcOrd="2" destOrd="0" presId="urn:microsoft.com/office/officeart/2005/8/layout/cycle1"/>
    <dgm:cxn modelId="{E78113DC-3136-0640-9188-3304F0B27E14}" type="presParOf" srcId="{AEDC59F9-F84B-7240-9152-E3EB3F4F9402}" destId="{81E9744C-DCE3-3A4C-B1F4-D656F7EF923C}" srcOrd="3" destOrd="0" presId="urn:microsoft.com/office/officeart/2005/8/layout/cycle1"/>
    <dgm:cxn modelId="{B0DB2BAC-27AD-B44F-9C91-DEA1CC6E88E3}" type="presParOf" srcId="{AEDC59F9-F84B-7240-9152-E3EB3F4F9402}" destId="{359FF075-C711-664A-9EF9-1382FC94B094}" srcOrd="4" destOrd="0" presId="urn:microsoft.com/office/officeart/2005/8/layout/cycle1"/>
    <dgm:cxn modelId="{DD67CE84-9F1A-594B-A46A-723C7A03A7CE}" type="presParOf" srcId="{AEDC59F9-F84B-7240-9152-E3EB3F4F9402}" destId="{C0D2873E-A3FF-5C47-BEFD-898E66DF9FBA}" srcOrd="5" destOrd="0" presId="urn:microsoft.com/office/officeart/2005/8/layout/cycle1"/>
    <dgm:cxn modelId="{6035E51A-6AA8-9842-9930-C7D94C2C1350}" type="presParOf" srcId="{AEDC59F9-F84B-7240-9152-E3EB3F4F9402}" destId="{7586EA47-10AE-114B-835E-B6D9E6DB8825}" srcOrd="6" destOrd="0" presId="urn:microsoft.com/office/officeart/2005/8/layout/cycle1"/>
    <dgm:cxn modelId="{03B549FD-C30E-B845-AC6D-DE3A6FDB7E9C}" type="presParOf" srcId="{AEDC59F9-F84B-7240-9152-E3EB3F4F9402}" destId="{08CA5058-C8EA-CA4F-803C-F2038F6F3730}" srcOrd="7" destOrd="0" presId="urn:microsoft.com/office/officeart/2005/8/layout/cycle1"/>
    <dgm:cxn modelId="{A0881719-B529-5748-84E6-DCAAC7850BA2}" type="presParOf" srcId="{AEDC59F9-F84B-7240-9152-E3EB3F4F9402}" destId="{8ABFB698-D27C-BA49-B7BD-B3AC9ECC641F}" srcOrd="8" destOrd="0" presId="urn:microsoft.com/office/officeart/2005/8/layout/cycle1"/>
    <dgm:cxn modelId="{56671F64-E2C4-3D4B-9EDE-60523FF753EE}" type="presParOf" srcId="{AEDC59F9-F84B-7240-9152-E3EB3F4F9402}" destId="{01B6D211-7080-294B-B9C3-2C681266A9F3}" srcOrd="9" destOrd="0" presId="urn:microsoft.com/office/officeart/2005/8/layout/cycle1"/>
    <dgm:cxn modelId="{6F437F35-D793-4341-B2D1-265B6CC2DC77}" type="presParOf" srcId="{AEDC59F9-F84B-7240-9152-E3EB3F4F9402}" destId="{D7E2DB93-CFA6-6647-B8C5-E9B5EDEEF565}" srcOrd="10" destOrd="0" presId="urn:microsoft.com/office/officeart/2005/8/layout/cycle1"/>
    <dgm:cxn modelId="{3573A363-D0DD-D649-BC4F-E36D1C81415B}" type="presParOf" srcId="{AEDC59F9-F84B-7240-9152-E3EB3F4F9402}" destId="{D5178222-410E-5342-9647-263A1CB1AEB8}" srcOrd="11" destOrd="0" presId="urn:microsoft.com/office/officeart/2005/8/layout/cycle1"/>
    <dgm:cxn modelId="{ABD669A9-AF63-FA47-A333-6AC7035B88FD}" type="presParOf" srcId="{AEDC59F9-F84B-7240-9152-E3EB3F4F9402}" destId="{673B4ABD-0066-6542-AC0A-BFF3DF15B411}" srcOrd="12" destOrd="0" presId="urn:microsoft.com/office/officeart/2005/8/layout/cycle1"/>
    <dgm:cxn modelId="{91AE6402-29BF-0940-A659-5E7725C6F21F}" type="presParOf" srcId="{AEDC59F9-F84B-7240-9152-E3EB3F4F9402}" destId="{9A6282A1-1686-A748-BC52-CDE4C63A130C}" srcOrd="13" destOrd="0" presId="urn:microsoft.com/office/officeart/2005/8/layout/cycle1"/>
    <dgm:cxn modelId="{C778D8E0-8874-8846-BD7C-5B707FDA375C}" type="presParOf" srcId="{AEDC59F9-F84B-7240-9152-E3EB3F4F9402}" destId="{1F6D78F0-102A-5245-A79A-1B66AFA54F02}" srcOrd="14" destOrd="0" presId="urn:microsoft.com/office/officeart/2005/8/layout/cycle1"/>
    <dgm:cxn modelId="{B8756422-BA12-1C40-8F6C-71EF44315F6E}" type="presParOf" srcId="{AEDC59F9-F84B-7240-9152-E3EB3F4F9402}" destId="{1C6EE3ED-D012-1B48-875E-138A1F894710}" srcOrd="15" destOrd="0" presId="urn:microsoft.com/office/officeart/2005/8/layout/cycle1"/>
    <dgm:cxn modelId="{10447B49-11FA-B74D-A8B3-B5E2C0D693E8}" type="presParOf" srcId="{AEDC59F9-F84B-7240-9152-E3EB3F4F9402}" destId="{B02586E3-8412-2B45-A915-DED2F769F4F8}" srcOrd="16" destOrd="0" presId="urn:microsoft.com/office/officeart/2005/8/layout/cycle1"/>
    <dgm:cxn modelId="{102FB2DB-806A-604F-9E69-293CEC3D8C44}" type="presParOf" srcId="{AEDC59F9-F84B-7240-9152-E3EB3F4F9402}" destId="{984664E5-6FD9-A440-A1CD-CE2CC112B8A4}" srcOrd="17" destOrd="0" presId="urn:microsoft.com/office/officeart/2005/8/layout/cycle1"/>
    <dgm:cxn modelId="{6524E9D4-4B57-0D45-8F4F-3B611D8F93DF}" type="presParOf" srcId="{AEDC59F9-F84B-7240-9152-E3EB3F4F9402}" destId="{EBD333C6-0F7E-D943-AF20-06D13F62F3E9}" srcOrd="18" destOrd="0" presId="urn:microsoft.com/office/officeart/2005/8/layout/cycle1"/>
    <dgm:cxn modelId="{F38EA74B-3DFF-134F-9F2C-ADE1235707ED}" type="presParOf" srcId="{AEDC59F9-F84B-7240-9152-E3EB3F4F9402}" destId="{69EFB572-EB87-D949-B712-DFAF3D54C205}" srcOrd="19" destOrd="0" presId="urn:microsoft.com/office/officeart/2005/8/layout/cycle1"/>
    <dgm:cxn modelId="{3C3D832A-E96D-214E-9EA2-6354BFBD1AA6}" type="presParOf" srcId="{AEDC59F9-F84B-7240-9152-E3EB3F4F9402}" destId="{64145C76-700E-144A-9D67-BA212F1EC65F}" srcOrd="20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4CB8BD8-7FE2-314C-857D-8F31BB3DCAB9}" type="doc">
      <dgm:prSet loTypeId="urn:microsoft.com/office/officeart/2005/8/layout/cycle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5A25FA1-C34B-1342-A5AE-1D54469C9353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Reduced productivity</a:t>
          </a:r>
        </a:p>
      </dgm:t>
    </dgm:pt>
    <dgm:pt modelId="{EAD6A8A2-C837-334C-8BF9-5F891119FBD3}" type="parTrans" cxnId="{B3E87A6B-C662-D541-A6B8-CD0267C4F518}">
      <dgm:prSet/>
      <dgm:spPr/>
      <dgm:t>
        <a:bodyPr/>
        <a:lstStyle/>
        <a:p>
          <a:endParaRPr lang="en-US"/>
        </a:p>
      </dgm:t>
    </dgm:pt>
    <dgm:pt modelId="{7A7CF05F-1090-6E40-B25C-DE5FF0A71712}" type="sibTrans" cxnId="{B3E87A6B-C662-D541-A6B8-CD0267C4F518}">
      <dgm:prSet/>
      <dgm:spPr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2700000" scaled="1"/>
          <a:tileRect/>
        </a:gradFill>
      </dgm:spPr>
      <dgm:t>
        <a:bodyPr/>
        <a:lstStyle/>
        <a:p>
          <a:endParaRPr lang="en-US"/>
        </a:p>
      </dgm:t>
    </dgm:pt>
    <dgm:pt modelId="{C7E8C0C5-1654-C449-A59B-9B668783E345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Increased Absenteeism</a:t>
          </a:r>
        </a:p>
      </dgm:t>
    </dgm:pt>
    <dgm:pt modelId="{A91E2E73-EF43-2743-9834-62EEC97C7490}" type="parTrans" cxnId="{BFE32301-2B13-2143-8259-48A4F6CD26F3}">
      <dgm:prSet/>
      <dgm:spPr/>
      <dgm:t>
        <a:bodyPr/>
        <a:lstStyle/>
        <a:p>
          <a:endParaRPr lang="en-US"/>
        </a:p>
      </dgm:t>
    </dgm:pt>
    <dgm:pt modelId="{9D6D22CD-A287-E345-8049-F9C98EF38571}" type="sibTrans" cxnId="{BFE32301-2B13-2143-8259-48A4F6CD26F3}">
      <dgm:prSet/>
      <dgm:spPr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5400000" scaled="1"/>
          <a:tileRect/>
        </a:gradFill>
      </dgm:spPr>
      <dgm:t>
        <a:bodyPr/>
        <a:lstStyle/>
        <a:p>
          <a:endParaRPr lang="en-US"/>
        </a:p>
      </dgm:t>
    </dgm:pt>
    <dgm:pt modelId="{EC662F9E-FA0C-8F4F-946D-75CDFF349CFF}">
      <dgm:prSet phldrT="[Text]"/>
      <dgm:spPr/>
      <dgm:t>
        <a:bodyPr/>
        <a:lstStyle/>
        <a:p>
          <a:r>
            <a:rPr lang="en-US" dirty="0">
              <a:solidFill>
                <a:srgbClr val="9A7352"/>
              </a:solidFill>
            </a:rPr>
            <a:t>Elevated Healthcare Costs</a:t>
          </a:r>
        </a:p>
      </dgm:t>
    </dgm:pt>
    <dgm:pt modelId="{BC885A85-14E6-D042-8755-4D66776C82DE}" type="parTrans" cxnId="{ADEEA798-5097-4844-84B7-7F60444C764D}">
      <dgm:prSet/>
      <dgm:spPr/>
      <dgm:t>
        <a:bodyPr/>
        <a:lstStyle/>
        <a:p>
          <a:endParaRPr lang="en-US"/>
        </a:p>
      </dgm:t>
    </dgm:pt>
    <dgm:pt modelId="{B06D745E-4E98-8843-94AA-2A301E12B748}" type="sibTrans" cxnId="{ADEEA798-5097-4844-84B7-7F60444C764D}">
      <dgm:prSet/>
      <dgm:spPr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8100000" scaled="1"/>
          <a:tileRect/>
        </a:gradFill>
      </dgm:spPr>
      <dgm:t>
        <a:bodyPr/>
        <a:lstStyle/>
        <a:p>
          <a:endParaRPr lang="en-US"/>
        </a:p>
      </dgm:t>
    </dgm:pt>
    <dgm:pt modelId="{90337749-14E4-214E-AB4E-6D76474F2188}">
      <dgm:prSet phldrT="[Text]"/>
      <dgm:spPr/>
      <dgm:t>
        <a:bodyPr/>
        <a:lstStyle/>
        <a:p>
          <a:r>
            <a:rPr lang="en-US" dirty="0"/>
            <a:t>Higher Turnover</a:t>
          </a:r>
        </a:p>
      </dgm:t>
    </dgm:pt>
    <dgm:pt modelId="{8E3A7159-18EB-624A-9423-56007782FC1E}" type="parTrans" cxnId="{2B11224E-A841-F44E-91DA-EEC9D0ED1FAC}">
      <dgm:prSet/>
      <dgm:spPr/>
      <dgm:t>
        <a:bodyPr/>
        <a:lstStyle/>
        <a:p>
          <a:endParaRPr lang="en-US"/>
        </a:p>
      </dgm:t>
    </dgm:pt>
    <dgm:pt modelId="{89ACD092-86ED-7446-A47E-96C762B3F86D}" type="sibTrans" cxnId="{2B11224E-A841-F44E-91DA-EEC9D0ED1FAC}">
      <dgm:prSet/>
      <dgm:spPr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10800000" scaled="1"/>
          <a:tileRect/>
        </a:gradFill>
      </dgm:spPr>
      <dgm:t>
        <a:bodyPr/>
        <a:lstStyle/>
        <a:p>
          <a:endParaRPr lang="en-US"/>
        </a:p>
      </dgm:t>
    </dgm:pt>
    <dgm:pt modelId="{1574AD03-273E-104E-BF1E-C28F3B8FE080}">
      <dgm:prSet phldrT="[Text]"/>
      <dgm:spPr/>
      <dgm:t>
        <a:bodyPr/>
        <a:lstStyle/>
        <a:p>
          <a:r>
            <a:rPr lang="en-US" dirty="0"/>
            <a:t>Diminished Engagement/ Morale</a:t>
          </a:r>
        </a:p>
      </dgm:t>
    </dgm:pt>
    <dgm:pt modelId="{06475551-3FAA-1144-ACEC-89B500CAF429}" type="parTrans" cxnId="{EA80960B-F8AE-DC4D-8645-8BEC572011BD}">
      <dgm:prSet/>
      <dgm:spPr/>
      <dgm:t>
        <a:bodyPr/>
        <a:lstStyle/>
        <a:p>
          <a:endParaRPr lang="en-US"/>
        </a:p>
      </dgm:t>
    </dgm:pt>
    <dgm:pt modelId="{36D5C54B-A69A-104C-971B-DB8CFD9FA4CC}" type="sibTrans" cxnId="{EA80960B-F8AE-DC4D-8645-8BEC572011BD}">
      <dgm:prSet/>
      <dgm:spPr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18900000" scaled="1"/>
          <a:tileRect/>
        </a:gradFill>
      </dgm:spPr>
      <dgm:t>
        <a:bodyPr/>
        <a:lstStyle/>
        <a:p>
          <a:endParaRPr lang="en-US"/>
        </a:p>
      </dgm:t>
    </dgm:pt>
    <dgm:pt modelId="{8E58B857-523A-9549-92AE-AD3D3A68F339}">
      <dgm:prSet phldrT="[Text]"/>
      <dgm:spPr/>
      <dgm:t>
        <a:bodyPr/>
        <a:lstStyle/>
        <a:p>
          <a:r>
            <a:rPr lang="en-US" dirty="0"/>
            <a:t>Workplace Safety</a:t>
          </a:r>
        </a:p>
      </dgm:t>
    </dgm:pt>
    <dgm:pt modelId="{923F8F5F-5FAC-6E49-9775-4064156DA7E7}" type="parTrans" cxnId="{F28DCD99-1DFC-E743-8F7B-8E2049B9939C}">
      <dgm:prSet/>
      <dgm:spPr/>
      <dgm:t>
        <a:bodyPr/>
        <a:lstStyle/>
        <a:p>
          <a:endParaRPr lang="en-US"/>
        </a:p>
      </dgm:t>
    </dgm:pt>
    <dgm:pt modelId="{5E10D6A9-AFA9-0F43-8577-B368BA4C2768}" type="sibTrans" cxnId="{F28DCD99-1DFC-E743-8F7B-8E2049B9939C}">
      <dgm:prSet/>
      <dgm:spPr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16200000" scaled="1"/>
          <a:tileRect/>
        </a:gradFill>
      </dgm:spPr>
      <dgm:t>
        <a:bodyPr/>
        <a:lstStyle/>
        <a:p>
          <a:endParaRPr lang="en-US"/>
        </a:p>
      </dgm:t>
    </dgm:pt>
    <dgm:pt modelId="{55FC9061-DB55-894D-BE85-BC5EF8740F2B}">
      <dgm:prSet phldrT="[Text]"/>
      <dgm:spPr/>
      <dgm:t>
        <a:bodyPr/>
        <a:lstStyle/>
        <a:p>
          <a:r>
            <a:rPr lang="en-US" dirty="0"/>
            <a:t>Increased Presenteeism</a:t>
          </a:r>
        </a:p>
      </dgm:t>
    </dgm:pt>
    <dgm:pt modelId="{7F891AC9-A5C0-104F-A7D9-D94AFFB0856B}" type="parTrans" cxnId="{3B729F94-8714-904E-A666-D79101A78FC0}">
      <dgm:prSet/>
      <dgm:spPr/>
      <dgm:t>
        <a:bodyPr/>
        <a:lstStyle/>
        <a:p>
          <a:endParaRPr lang="en-US"/>
        </a:p>
      </dgm:t>
    </dgm:pt>
    <dgm:pt modelId="{1A9179BF-CA84-8148-A935-DAB41CBE1456}" type="sibTrans" cxnId="{3B729F94-8714-904E-A666-D79101A78FC0}">
      <dgm:prSet/>
      <dgm:spPr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0" scaled="1"/>
          <a:tileRect/>
        </a:gradFill>
      </dgm:spPr>
      <dgm:t>
        <a:bodyPr/>
        <a:lstStyle/>
        <a:p>
          <a:endParaRPr lang="en-US"/>
        </a:p>
      </dgm:t>
    </dgm:pt>
    <dgm:pt modelId="{AEDC59F9-F84B-7240-9152-E3EB3F4F9402}" type="pres">
      <dgm:prSet presAssocID="{84CB8BD8-7FE2-314C-857D-8F31BB3DCAB9}" presName="cycle" presStyleCnt="0">
        <dgm:presLayoutVars>
          <dgm:dir/>
          <dgm:resizeHandles val="exact"/>
        </dgm:presLayoutVars>
      </dgm:prSet>
      <dgm:spPr/>
    </dgm:pt>
    <dgm:pt modelId="{E5F773F9-948C-9F47-AE7C-04018B849F00}" type="pres">
      <dgm:prSet presAssocID="{D5A25FA1-C34B-1342-A5AE-1D54469C9353}" presName="dummy" presStyleCnt="0"/>
      <dgm:spPr/>
    </dgm:pt>
    <dgm:pt modelId="{E50B2949-CC65-824E-9A76-BDC2308FEF2E}" type="pres">
      <dgm:prSet presAssocID="{D5A25FA1-C34B-1342-A5AE-1D54469C9353}" presName="node" presStyleLbl="revTx" presStyleIdx="0" presStyleCnt="7">
        <dgm:presLayoutVars>
          <dgm:bulletEnabled val="1"/>
        </dgm:presLayoutVars>
      </dgm:prSet>
      <dgm:spPr/>
    </dgm:pt>
    <dgm:pt modelId="{41E3703C-8E80-974E-9608-44DB50E48807}" type="pres">
      <dgm:prSet presAssocID="{7A7CF05F-1090-6E40-B25C-DE5FF0A71712}" presName="sibTrans" presStyleLbl="node1" presStyleIdx="0" presStyleCnt="7"/>
      <dgm:spPr/>
    </dgm:pt>
    <dgm:pt modelId="{81E9744C-DCE3-3A4C-B1F4-D656F7EF923C}" type="pres">
      <dgm:prSet presAssocID="{C7E8C0C5-1654-C449-A59B-9B668783E345}" presName="dummy" presStyleCnt="0"/>
      <dgm:spPr/>
    </dgm:pt>
    <dgm:pt modelId="{359FF075-C711-664A-9EF9-1382FC94B094}" type="pres">
      <dgm:prSet presAssocID="{C7E8C0C5-1654-C449-A59B-9B668783E345}" presName="node" presStyleLbl="revTx" presStyleIdx="1" presStyleCnt="7">
        <dgm:presLayoutVars>
          <dgm:bulletEnabled val="1"/>
        </dgm:presLayoutVars>
      </dgm:prSet>
      <dgm:spPr/>
    </dgm:pt>
    <dgm:pt modelId="{C0D2873E-A3FF-5C47-BEFD-898E66DF9FBA}" type="pres">
      <dgm:prSet presAssocID="{9D6D22CD-A287-E345-8049-F9C98EF38571}" presName="sibTrans" presStyleLbl="node1" presStyleIdx="1" presStyleCnt="7"/>
      <dgm:spPr/>
    </dgm:pt>
    <dgm:pt modelId="{7586EA47-10AE-114B-835E-B6D9E6DB8825}" type="pres">
      <dgm:prSet presAssocID="{EC662F9E-FA0C-8F4F-946D-75CDFF349CFF}" presName="dummy" presStyleCnt="0"/>
      <dgm:spPr/>
    </dgm:pt>
    <dgm:pt modelId="{08CA5058-C8EA-CA4F-803C-F2038F6F3730}" type="pres">
      <dgm:prSet presAssocID="{EC662F9E-FA0C-8F4F-946D-75CDFF349CFF}" presName="node" presStyleLbl="revTx" presStyleIdx="2" presStyleCnt="7">
        <dgm:presLayoutVars>
          <dgm:bulletEnabled val="1"/>
        </dgm:presLayoutVars>
      </dgm:prSet>
      <dgm:spPr/>
    </dgm:pt>
    <dgm:pt modelId="{8ABFB698-D27C-BA49-B7BD-B3AC9ECC641F}" type="pres">
      <dgm:prSet presAssocID="{B06D745E-4E98-8843-94AA-2A301E12B748}" presName="sibTrans" presStyleLbl="node1" presStyleIdx="2" presStyleCnt="7"/>
      <dgm:spPr/>
    </dgm:pt>
    <dgm:pt modelId="{01B6D211-7080-294B-B9C3-2C681266A9F3}" type="pres">
      <dgm:prSet presAssocID="{90337749-14E4-214E-AB4E-6D76474F2188}" presName="dummy" presStyleCnt="0"/>
      <dgm:spPr/>
    </dgm:pt>
    <dgm:pt modelId="{D7E2DB93-CFA6-6647-B8C5-E9B5EDEEF565}" type="pres">
      <dgm:prSet presAssocID="{90337749-14E4-214E-AB4E-6D76474F2188}" presName="node" presStyleLbl="revTx" presStyleIdx="3" presStyleCnt="7">
        <dgm:presLayoutVars>
          <dgm:bulletEnabled val="1"/>
        </dgm:presLayoutVars>
      </dgm:prSet>
      <dgm:spPr/>
    </dgm:pt>
    <dgm:pt modelId="{D5178222-410E-5342-9647-263A1CB1AEB8}" type="pres">
      <dgm:prSet presAssocID="{89ACD092-86ED-7446-A47E-96C762B3F86D}" presName="sibTrans" presStyleLbl="node1" presStyleIdx="3" presStyleCnt="7"/>
      <dgm:spPr/>
    </dgm:pt>
    <dgm:pt modelId="{673B4ABD-0066-6542-AC0A-BFF3DF15B411}" type="pres">
      <dgm:prSet presAssocID="{8E58B857-523A-9549-92AE-AD3D3A68F339}" presName="dummy" presStyleCnt="0"/>
      <dgm:spPr/>
    </dgm:pt>
    <dgm:pt modelId="{9A6282A1-1686-A748-BC52-CDE4C63A130C}" type="pres">
      <dgm:prSet presAssocID="{8E58B857-523A-9549-92AE-AD3D3A68F339}" presName="node" presStyleLbl="revTx" presStyleIdx="4" presStyleCnt="7">
        <dgm:presLayoutVars>
          <dgm:bulletEnabled val="1"/>
        </dgm:presLayoutVars>
      </dgm:prSet>
      <dgm:spPr/>
    </dgm:pt>
    <dgm:pt modelId="{1F6D78F0-102A-5245-A79A-1B66AFA54F02}" type="pres">
      <dgm:prSet presAssocID="{5E10D6A9-AFA9-0F43-8577-B368BA4C2768}" presName="sibTrans" presStyleLbl="node1" presStyleIdx="4" presStyleCnt="7" custScaleX="100370" custScaleY="102524"/>
      <dgm:spPr/>
    </dgm:pt>
    <dgm:pt modelId="{1C6EE3ED-D012-1B48-875E-138A1F894710}" type="pres">
      <dgm:prSet presAssocID="{1574AD03-273E-104E-BF1E-C28F3B8FE080}" presName="dummy" presStyleCnt="0"/>
      <dgm:spPr/>
    </dgm:pt>
    <dgm:pt modelId="{B02586E3-8412-2B45-A915-DED2F769F4F8}" type="pres">
      <dgm:prSet presAssocID="{1574AD03-273E-104E-BF1E-C28F3B8FE080}" presName="node" presStyleLbl="revTx" presStyleIdx="5" presStyleCnt="7">
        <dgm:presLayoutVars>
          <dgm:bulletEnabled val="1"/>
        </dgm:presLayoutVars>
      </dgm:prSet>
      <dgm:spPr/>
    </dgm:pt>
    <dgm:pt modelId="{984664E5-6FD9-A440-A1CD-CE2CC112B8A4}" type="pres">
      <dgm:prSet presAssocID="{36D5C54B-A69A-104C-971B-DB8CFD9FA4CC}" presName="sibTrans" presStyleLbl="node1" presStyleIdx="5" presStyleCnt="7"/>
      <dgm:spPr/>
    </dgm:pt>
    <dgm:pt modelId="{EBD333C6-0F7E-D943-AF20-06D13F62F3E9}" type="pres">
      <dgm:prSet presAssocID="{55FC9061-DB55-894D-BE85-BC5EF8740F2B}" presName="dummy" presStyleCnt="0"/>
      <dgm:spPr/>
    </dgm:pt>
    <dgm:pt modelId="{69EFB572-EB87-D949-B712-DFAF3D54C205}" type="pres">
      <dgm:prSet presAssocID="{55FC9061-DB55-894D-BE85-BC5EF8740F2B}" presName="node" presStyleLbl="revTx" presStyleIdx="6" presStyleCnt="7">
        <dgm:presLayoutVars>
          <dgm:bulletEnabled val="1"/>
        </dgm:presLayoutVars>
      </dgm:prSet>
      <dgm:spPr/>
    </dgm:pt>
    <dgm:pt modelId="{64145C76-700E-144A-9D67-BA212F1EC65F}" type="pres">
      <dgm:prSet presAssocID="{1A9179BF-CA84-8148-A935-DAB41CBE1456}" presName="sibTrans" presStyleLbl="node1" presStyleIdx="6" presStyleCnt="7"/>
      <dgm:spPr/>
    </dgm:pt>
  </dgm:ptLst>
  <dgm:cxnLst>
    <dgm:cxn modelId="{BFE32301-2B13-2143-8259-48A4F6CD26F3}" srcId="{84CB8BD8-7FE2-314C-857D-8F31BB3DCAB9}" destId="{C7E8C0C5-1654-C449-A59B-9B668783E345}" srcOrd="1" destOrd="0" parTransId="{A91E2E73-EF43-2743-9834-62EEC97C7490}" sibTransId="{9D6D22CD-A287-E345-8049-F9C98EF38571}"/>
    <dgm:cxn modelId="{EA80960B-F8AE-DC4D-8645-8BEC572011BD}" srcId="{84CB8BD8-7FE2-314C-857D-8F31BB3DCAB9}" destId="{1574AD03-273E-104E-BF1E-C28F3B8FE080}" srcOrd="5" destOrd="0" parTransId="{06475551-3FAA-1144-ACEC-89B500CAF429}" sibTransId="{36D5C54B-A69A-104C-971B-DB8CFD9FA4CC}"/>
    <dgm:cxn modelId="{A8A23C19-003C-D443-BC7D-0605C635823E}" type="presOf" srcId="{C7E8C0C5-1654-C449-A59B-9B668783E345}" destId="{359FF075-C711-664A-9EF9-1382FC94B094}" srcOrd="0" destOrd="0" presId="urn:microsoft.com/office/officeart/2005/8/layout/cycle1"/>
    <dgm:cxn modelId="{50302F26-C15F-8648-9097-9224FD215B52}" type="presOf" srcId="{D5A25FA1-C34B-1342-A5AE-1D54469C9353}" destId="{E50B2949-CC65-824E-9A76-BDC2308FEF2E}" srcOrd="0" destOrd="0" presId="urn:microsoft.com/office/officeart/2005/8/layout/cycle1"/>
    <dgm:cxn modelId="{99C4332E-D609-2B4F-88D5-7E62F4FD9DCE}" type="presOf" srcId="{1574AD03-273E-104E-BF1E-C28F3B8FE080}" destId="{B02586E3-8412-2B45-A915-DED2F769F4F8}" srcOrd="0" destOrd="0" presId="urn:microsoft.com/office/officeart/2005/8/layout/cycle1"/>
    <dgm:cxn modelId="{D20CAC30-0183-CB42-A8A9-0AFC074F1588}" type="presOf" srcId="{84CB8BD8-7FE2-314C-857D-8F31BB3DCAB9}" destId="{AEDC59F9-F84B-7240-9152-E3EB3F4F9402}" srcOrd="0" destOrd="0" presId="urn:microsoft.com/office/officeart/2005/8/layout/cycle1"/>
    <dgm:cxn modelId="{178F8946-0FF0-1642-9E15-C0C2C06AC4AA}" type="presOf" srcId="{1A9179BF-CA84-8148-A935-DAB41CBE1456}" destId="{64145C76-700E-144A-9D67-BA212F1EC65F}" srcOrd="0" destOrd="0" presId="urn:microsoft.com/office/officeart/2005/8/layout/cycle1"/>
    <dgm:cxn modelId="{2B11224E-A841-F44E-91DA-EEC9D0ED1FAC}" srcId="{84CB8BD8-7FE2-314C-857D-8F31BB3DCAB9}" destId="{90337749-14E4-214E-AB4E-6D76474F2188}" srcOrd="3" destOrd="0" parTransId="{8E3A7159-18EB-624A-9423-56007782FC1E}" sibTransId="{89ACD092-86ED-7446-A47E-96C762B3F86D}"/>
    <dgm:cxn modelId="{259C6F56-54A7-1244-81B5-2778FE45F461}" type="presOf" srcId="{9D6D22CD-A287-E345-8049-F9C98EF38571}" destId="{C0D2873E-A3FF-5C47-BEFD-898E66DF9FBA}" srcOrd="0" destOrd="0" presId="urn:microsoft.com/office/officeart/2005/8/layout/cycle1"/>
    <dgm:cxn modelId="{D42C105A-EC42-834C-B62A-A1042F25ED57}" type="presOf" srcId="{7A7CF05F-1090-6E40-B25C-DE5FF0A71712}" destId="{41E3703C-8E80-974E-9608-44DB50E48807}" srcOrd="0" destOrd="0" presId="urn:microsoft.com/office/officeart/2005/8/layout/cycle1"/>
    <dgm:cxn modelId="{093BDA69-EDEB-6E47-848D-965DE2D038A6}" type="presOf" srcId="{5E10D6A9-AFA9-0F43-8577-B368BA4C2768}" destId="{1F6D78F0-102A-5245-A79A-1B66AFA54F02}" srcOrd="0" destOrd="0" presId="urn:microsoft.com/office/officeart/2005/8/layout/cycle1"/>
    <dgm:cxn modelId="{B3E87A6B-C662-D541-A6B8-CD0267C4F518}" srcId="{84CB8BD8-7FE2-314C-857D-8F31BB3DCAB9}" destId="{D5A25FA1-C34B-1342-A5AE-1D54469C9353}" srcOrd="0" destOrd="0" parTransId="{EAD6A8A2-C837-334C-8BF9-5F891119FBD3}" sibTransId="{7A7CF05F-1090-6E40-B25C-DE5FF0A71712}"/>
    <dgm:cxn modelId="{C657C66F-0E99-1246-B020-7D2C78AD1925}" type="presOf" srcId="{90337749-14E4-214E-AB4E-6D76474F2188}" destId="{D7E2DB93-CFA6-6647-B8C5-E9B5EDEEF565}" srcOrd="0" destOrd="0" presId="urn:microsoft.com/office/officeart/2005/8/layout/cycle1"/>
    <dgm:cxn modelId="{52449779-30FA-994E-9562-1B1793C67C5E}" type="presOf" srcId="{55FC9061-DB55-894D-BE85-BC5EF8740F2B}" destId="{69EFB572-EB87-D949-B712-DFAF3D54C205}" srcOrd="0" destOrd="0" presId="urn:microsoft.com/office/officeart/2005/8/layout/cycle1"/>
    <dgm:cxn modelId="{C2E58A87-8451-354A-A7FF-D74940476477}" type="presOf" srcId="{89ACD092-86ED-7446-A47E-96C762B3F86D}" destId="{D5178222-410E-5342-9647-263A1CB1AEB8}" srcOrd="0" destOrd="0" presId="urn:microsoft.com/office/officeart/2005/8/layout/cycle1"/>
    <dgm:cxn modelId="{A990B08B-713D-FC4B-BE1A-6D58C3F3E328}" type="presOf" srcId="{B06D745E-4E98-8843-94AA-2A301E12B748}" destId="{8ABFB698-D27C-BA49-B7BD-B3AC9ECC641F}" srcOrd="0" destOrd="0" presId="urn:microsoft.com/office/officeart/2005/8/layout/cycle1"/>
    <dgm:cxn modelId="{3B729F94-8714-904E-A666-D79101A78FC0}" srcId="{84CB8BD8-7FE2-314C-857D-8F31BB3DCAB9}" destId="{55FC9061-DB55-894D-BE85-BC5EF8740F2B}" srcOrd="6" destOrd="0" parTransId="{7F891AC9-A5C0-104F-A7D9-D94AFFB0856B}" sibTransId="{1A9179BF-CA84-8148-A935-DAB41CBE1456}"/>
    <dgm:cxn modelId="{ADEEA798-5097-4844-84B7-7F60444C764D}" srcId="{84CB8BD8-7FE2-314C-857D-8F31BB3DCAB9}" destId="{EC662F9E-FA0C-8F4F-946D-75CDFF349CFF}" srcOrd="2" destOrd="0" parTransId="{BC885A85-14E6-D042-8755-4D66776C82DE}" sibTransId="{B06D745E-4E98-8843-94AA-2A301E12B748}"/>
    <dgm:cxn modelId="{F28DCD99-1DFC-E743-8F7B-8E2049B9939C}" srcId="{84CB8BD8-7FE2-314C-857D-8F31BB3DCAB9}" destId="{8E58B857-523A-9549-92AE-AD3D3A68F339}" srcOrd="4" destOrd="0" parTransId="{923F8F5F-5FAC-6E49-9775-4064156DA7E7}" sibTransId="{5E10D6A9-AFA9-0F43-8577-B368BA4C2768}"/>
    <dgm:cxn modelId="{5EE310A8-5B73-E945-BB34-F9629484F945}" type="presOf" srcId="{EC662F9E-FA0C-8F4F-946D-75CDFF349CFF}" destId="{08CA5058-C8EA-CA4F-803C-F2038F6F3730}" srcOrd="0" destOrd="0" presId="urn:microsoft.com/office/officeart/2005/8/layout/cycle1"/>
    <dgm:cxn modelId="{BB5BC5E6-0F50-2B49-936A-65AF26150512}" type="presOf" srcId="{8E58B857-523A-9549-92AE-AD3D3A68F339}" destId="{9A6282A1-1686-A748-BC52-CDE4C63A130C}" srcOrd="0" destOrd="0" presId="urn:microsoft.com/office/officeart/2005/8/layout/cycle1"/>
    <dgm:cxn modelId="{3E7FB5FD-E0F6-D04E-B8F9-CADB96B01165}" type="presOf" srcId="{36D5C54B-A69A-104C-971B-DB8CFD9FA4CC}" destId="{984664E5-6FD9-A440-A1CD-CE2CC112B8A4}" srcOrd="0" destOrd="0" presId="urn:microsoft.com/office/officeart/2005/8/layout/cycle1"/>
    <dgm:cxn modelId="{67F4B918-ECEE-CC40-83D1-41EE2608069F}" type="presParOf" srcId="{AEDC59F9-F84B-7240-9152-E3EB3F4F9402}" destId="{E5F773F9-948C-9F47-AE7C-04018B849F00}" srcOrd="0" destOrd="0" presId="urn:microsoft.com/office/officeart/2005/8/layout/cycle1"/>
    <dgm:cxn modelId="{AF925357-EFD0-1C43-8C3D-12C887518BC8}" type="presParOf" srcId="{AEDC59F9-F84B-7240-9152-E3EB3F4F9402}" destId="{E50B2949-CC65-824E-9A76-BDC2308FEF2E}" srcOrd="1" destOrd="0" presId="urn:microsoft.com/office/officeart/2005/8/layout/cycle1"/>
    <dgm:cxn modelId="{21964137-F0BE-5A49-AA55-2C97068B2365}" type="presParOf" srcId="{AEDC59F9-F84B-7240-9152-E3EB3F4F9402}" destId="{41E3703C-8E80-974E-9608-44DB50E48807}" srcOrd="2" destOrd="0" presId="urn:microsoft.com/office/officeart/2005/8/layout/cycle1"/>
    <dgm:cxn modelId="{E78113DC-3136-0640-9188-3304F0B27E14}" type="presParOf" srcId="{AEDC59F9-F84B-7240-9152-E3EB3F4F9402}" destId="{81E9744C-DCE3-3A4C-B1F4-D656F7EF923C}" srcOrd="3" destOrd="0" presId="urn:microsoft.com/office/officeart/2005/8/layout/cycle1"/>
    <dgm:cxn modelId="{B0DB2BAC-27AD-B44F-9C91-DEA1CC6E88E3}" type="presParOf" srcId="{AEDC59F9-F84B-7240-9152-E3EB3F4F9402}" destId="{359FF075-C711-664A-9EF9-1382FC94B094}" srcOrd="4" destOrd="0" presId="urn:microsoft.com/office/officeart/2005/8/layout/cycle1"/>
    <dgm:cxn modelId="{DD67CE84-9F1A-594B-A46A-723C7A03A7CE}" type="presParOf" srcId="{AEDC59F9-F84B-7240-9152-E3EB3F4F9402}" destId="{C0D2873E-A3FF-5C47-BEFD-898E66DF9FBA}" srcOrd="5" destOrd="0" presId="urn:microsoft.com/office/officeart/2005/8/layout/cycle1"/>
    <dgm:cxn modelId="{6035E51A-6AA8-9842-9930-C7D94C2C1350}" type="presParOf" srcId="{AEDC59F9-F84B-7240-9152-E3EB3F4F9402}" destId="{7586EA47-10AE-114B-835E-B6D9E6DB8825}" srcOrd="6" destOrd="0" presId="urn:microsoft.com/office/officeart/2005/8/layout/cycle1"/>
    <dgm:cxn modelId="{03B549FD-C30E-B845-AC6D-DE3A6FDB7E9C}" type="presParOf" srcId="{AEDC59F9-F84B-7240-9152-E3EB3F4F9402}" destId="{08CA5058-C8EA-CA4F-803C-F2038F6F3730}" srcOrd="7" destOrd="0" presId="urn:microsoft.com/office/officeart/2005/8/layout/cycle1"/>
    <dgm:cxn modelId="{A0881719-B529-5748-84E6-DCAAC7850BA2}" type="presParOf" srcId="{AEDC59F9-F84B-7240-9152-E3EB3F4F9402}" destId="{8ABFB698-D27C-BA49-B7BD-B3AC9ECC641F}" srcOrd="8" destOrd="0" presId="urn:microsoft.com/office/officeart/2005/8/layout/cycle1"/>
    <dgm:cxn modelId="{56671F64-E2C4-3D4B-9EDE-60523FF753EE}" type="presParOf" srcId="{AEDC59F9-F84B-7240-9152-E3EB3F4F9402}" destId="{01B6D211-7080-294B-B9C3-2C681266A9F3}" srcOrd="9" destOrd="0" presId="urn:microsoft.com/office/officeart/2005/8/layout/cycle1"/>
    <dgm:cxn modelId="{6F437F35-D793-4341-B2D1-265B6CC2DC77}" type="presParOf" srcId="{AEDC59F9-F84B-7240-9152-E3EB3F4F9402}" destId="{D7E2DB93-CFA6-6647-B8C5-E9B5EDEEF565}" srcOrd="10" destOrd="0" presId="urn:microsoft.com/office/officeart/2005/8/layout/cycle1"/>
    <dgm:cxn modelId="{3573A363-D0DD-D649-BC4F-E36D1C81415B}" type="presParOf" srcId="{AEDC59F9-F84B-7240-9152-E3EB3F4F9402}" destId="{D5178222-410E-5342-9647-263A1CB1AEB8}" srcOrd="11" destOrd="0" presId="urn:microsoft.com/office/officeart/2005/8/layout/cycle1"/>
    <dgm:cxn modelId="{ABD669A9-AF63-FA47-A333-6AC7035B88FD}" type="presParOf" srcId="{AEDC59F9-F84B-7240-9152-E3EB3F4F9402}" destId="{673B4ABD-0066-6542-AC0A-BFF3DF15B411}" srcOrd="12" destOrd="0" presId="urn:microsoft.com/office/officeart/2005/8/layout/cycle1"/>
    <dgm:cxn modelId="{91AE6402-29BF-0940-A659-5E7725C6F21F}" type="presParOf" srcId="{AEDC59F9-F84B-7240-9152-E3EB3F4F9402}" destId="{9A6282A1-1686-A748-BC52-CDE4C63A130C}" srcOrd="13" destOrd="0" presId="urn:microsoft.com/office/officeart/2005/8/layout/cycle1"/>
    <dgm:cxn modelId="{C778D8E0-8874-8846-BD7C-5B707FDA375C}" type="presParOf" srcId="{AEDC59F9-F84B-7240-9152-E3EB3F4F9402}" destId="{1F6D78F0-102A-5245-A79A-1B66AFA54F02}" srcOrd="14" destOrd="0" presId="urn:microsoft.com/office/officeart/2005/8/layout/cycle1"/>
    <dgm:cxn modelId="{B8756422-BA12-1C40-8F6C-71EF44315F6E}" type="presParOf" srcId="{AEDC59F9-F84B-7240-9152-E3EB3F4F9402}" destId="{1C6EE3ED-D012-1B48-875E-138A1F894710}" srcOrd="15" destOrd="0" presId="urn:microsoft.com/office/officeart/2005/8/layout/cycle1"/>
    <dgm:cxn modelId="{10447B49-11FA-B74D-A8B3-B5E2C0D693E8}" type="presParOf" srcId="{AEDC59F9-F84B-7240-9152-E3EB3F4F9402}" destId="{B02586E3-8412-2B45-A915-DED2F769F4F8}" srcOrd="16" destOrd="0" presId="urn:microsoft.com/office/officeart/2005/8/layout/cycle1"/>
    <dgm:cxn modelId="{102FB2DB-806A-604F-9E69-293CEC3D8C44}" type="presParOf" srcId="{AEDC59F9-F84B-7240-9152-E3EB3F4F9402}" destId="{984664E5-6FD9-A440-A1CD-CE2CC112B8A4}" srcOrd="17" destOrd="0" presId="urn:microsoft.com/office/officeart/2005/8/layout/cycle1"/>
    <dgm:cxn modelId="{6524E9D4-4B57-0D45-8F4F-3B611D8F93DF}" type="presParOf" srcId="{AEDC59F9-F84B-7240-9152-E3EB3F4F9402}" destId="{EBD333C6-0F7E-D943-AF20-06D13F62F3E9}" srcOrd="18" destOrd="0" presId="urn:microsoft.com/office/officeart/2005/8/layout/cycle1"/>
    <dgm:cxn modelId="{F38EA74B-3DFF-134F-9F2C-ADE1235707ED}" type="presParOf" srcId="{AEDC59F9-F84B-7240-9152-E3EB3F4F9402}" destId="{69EFB572-EB87-D949-B712-DFAF3D54C205}" srcOrd="19" destOrd="0" presId="urn:microsoft.com/office/officeart/2005/8/layout/cycle1"/>
    <dgm:cxn modelId="{3C3D832A-E96D-214E-9EA2-6354BFBD1AA6}" type="presParOf" srcId="{AEDC59F9-F84B-7240-9152-E3EB3F4F9402}" destId="{64145C76-700E-144A-9D67-BA212F1EC65F}" srcOrd="20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4CB8BD8-7FE2-314C-857D-8F31BB3DCAB9}" type="doc">
      <dgm:prSet loTypeId="urn:microsoft.com/office/officeart/2005/8/layout/cycle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5A25FA1-C34B-1342-A5AE-1D54469C9353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Reduced productivity</a:t>
          </a:r>
        </a:p>
      </dgm:t>
    </dgm:pt>
    <dgm:pt modelId="{EAD6A8A2-C837-334C-8BF9-5F891119FBD3}" type="parTrans" cxnId="{B3E87A6B-C662-D541-A6B8-CD0267C4F518}">
      <dgm:prSet/>
      <dgm:spPr/>
      <dgm:t>
        <a:bodyPr/>
        <a:lstStyle/>
        <a:p>
          <a:endParaRPr lang="en-US"/>
        </a:p>
      </dgm:t>
    </dgm:pt>
    <dgm:pt modelId="{7A7CF05F-1090-6E40-B25C-DE5FF0A71712}" type="sibTrans" cxnId="{B3E87A6B-C662-D541-A6B8-CD0267C4F518}">
      <dgm:prSet/>
      <dgm:spPr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2700000" scaled="1"/>
          <a:tileRect/>
        </a:gradFill>
      </dgm:spPr>
      <dgm:t>
        <a:bodyPr/>
        <a:lstStyle/>
        <a:p>
          <a:endParaRPr lang="en-US"/>
        </a:p>
      </dgm:t>
    </dgm:pt>
    <dgm:pt modelId="{C7E8C0C5-1654-C449-A59B-9B668783E345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Increased Absenteeism</a:t>
          </a:r>
        </a:p>
      </dgm:t>
    </dgm:pt>
    <dgm:pt modelId="{A91E2E73-EF43-2743-9834-62EEC97C7490}" type="parTrans" cxnId="{BFE32301-2B13-2143-8259-48A4F6CD26F3}">
      <dgm:prSet/>
      <dgm:spPr/>
      <dgm:t>
        <a:bodyPr/>
        <a:lstStyle/>
        <a:p>
          <a:endParaRPr lang="en-US"/>
        </a:p>
      </dgm:t>
    </dgm:pt>
    <dgm:pt modelId="{9D6D22CD-A287-E345-8049-F9C98EF38571}" type="sibTrans" cxnId="{BFE32301-2B13-2143-8259-48A4F6CD26F3}">
      <dgm:prSet/>
      <dgm:spPr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5400000" scaled="1"/>
          <a:tileRect/>
        </a:gradFill>
      </dgm:spPr>
      <dgm:t>
        <a:bodyPr/>
        <a:lstStyle/>
        <a:p>
          <a:endParaRPr lang="en-US"/>
        </a:p>
      </dgm:t>
    </dgm:pt>
    <dgm:pt modelId="{EC662F9E-FA0C-8F4F-946D-75CDFF349CFF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Elevated Healthcare Costs</a:t>
          </a:r>
        </a:p>
      </dgm:t>
    </dgm:pt>
    <dgm:pt modelId="{BC885A85-14E6-D042-8755-4D66776C82DE}" type="parTrans" cxnId="{ADEEA798-5097-4844-84B7-7F60444C764D}">
      <dgm:prSet/>
      <dgm:spPr/>
      <dgm:t>
        <a:bodyPr/>
        <a:lstStyle/>
        <a:p>
          <a:endParaRPr lang="en-US"/>
        </a:p>
      </dgm:t>
    </dgm:pt>
    <dgm:pt modelId="{B06D745E-4E98-8843-94AA-2A301E12B748}" type="sibTrans" cxnId="{ADEEA798-5097-4844-84B7-7F60444C764D}">
      <dgm:prSet/>
      <dgm:spPr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8100000" scaled="1"/>
          <a:tileRect/>
        </a:gradFill>
      </dgm:spPr>
      <dgm:t>
        <a:bodyPr/>
        <a:lstStyle/>
        <a:p>
          <a:endParaRPr lang="en-US"/>
        </a:p>
      </dgm:t>
    </dgm:pt>
    <dgm:pt modelId="{90337749-14E4-214E-AB4E-6D76474F2188}">
      <dgm:prSet phldrT="[Text]"/>
      <dgm:spPr/>
      <dgm:t>
        <a:bodyPr/>
        <a:lstStyle/>
        <a:p>
          <a:r>
            <a:rPr lang="en-US" dirty="0">
              <a:solidFill>
                <a:srgbClr val="9A7352"/>
              </a:solidFill>
            </a:rPr>
            <a:t>Higher Turnover</a:t>
          </a:r>
        </a:p>
      </dgm:t>
    </dgm:pt>
    <dgm:pt modelId="{8E3A7159-18EB-624A-9423-56007782FC1E}" type="parTrans" cxnId="{2B11224E-A841-F44E-91DA-EEC9D0ED1FAC}">
      <dgm:prSet/>
      <dgm:spPr/>
      <dgm:t>
        <a:bodyPr/>
        <a:lstStyle/>
        <a:p>
          <a:endParaRPr lang="en-US"/>
        </a:p>
      </dgm:t>
    </dgm:pt>
    <dgm:pt modelId="{89ACD092-86ED-7446-A47E-96C762B3F86D}" type="sibTrans" cxnId="{2B11224E-A841-F44E-91DA-EEC9D0ED1FAC}">
      <dgm:prSet/>
      <dgm:spPr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10800000" scaled="1"/>
          <a:tileRect/>
        </a:gradFill>
      </dgm:spPr>
      <dgm:t>
        <a:bodyPr/>
        <a:lstStyle/>
        <a:p>
          <a:endParaRPr lang="en-US"/>
        </a:p>
      </dgm:t>
    </dgm:pt>
    <dgm:pt modelId="{1574AD03-273E-104E-BF1E-C28F3B8FE080}">
      <dgm:prSet phldrT="[Text]"/>
      <dgm:spPr/>
      <dgm:t>
        <a:bodyPr/>
        <a:lstStyle/>
        <a:p>
          <a:r>
            <a:rPr lang="en-US" dirty="0"/>
            <a:t>Diminished Engagement/ Morale</a:t>
          </a:r>
        </a:p>
      </dgm:t>
    </dgm:pt>
    <dgm:pt modelId="{06475551-3FAA-1144-ACEC-89B500CAF429}" type="parTrans" cxnId="{EA80960B-F8AE-DC4D-8645-8BEC572011BD}">
      <dgm:prSet/>
      <dgm:spPr/>
      <dgm:t>
        <a:bodyPr/>
        <a:lstStyle/>
        <a:p>
          <a:endParaRPr lang="en-US"/>
        </a:p>
      </dgm:t>
    </dgm:pt>
    <dgm:pt modelId="{36D5C54B-A69A-104C-971B-DB8CFD9FA4CC}" type="sibTrans" cxnId="{EA80960B-F8AE-DC4D-8645-8BEC572011BD}">
      <dgm:prSet/>
      <dgm:spPr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18900000" scaled="1"/>
          <a:tileRect/>
        </a:gradFill>
      </dgm:spPr>
      <dgm:t>
        <a:bodyPr/>
        <a:lstStyle/>
        <a:p>
          <a:endParaRPr lang="en-US"/>
        </a:p>
      </dgm:t>
    </dgm:pt>
    <dgm:pt modelId="{8E58B857-523A-9549-92AE-AD3D3A68F339}">
      <dgm:prSet phldrT="[Text]"/>
      <dgm:spPr/>
      <dgm:t>
        <a:bodyPr/>
        <a:lstStyle/>
        <a:p>
          <a:r>
            <a:rPr lang="en-US" dirty="0"/>
            <a:t>Workplace Safety</a:t>
          </a:r>
        </a:p>
      </dgm:t>
    </dgm:pt>
    <dgm:pt modelId="{923F8F5F-5FAC-6E49-9775-4064156DA7E7}" type="parTrans" cxnId="{F28DCD99-1DFC-E743-8F7B-8E2049B9939C}">
      <dgm:prSet/>
      <dgm:spPr/>
      <dgm:t>
        <a:bodyPr/>
        <a:lstStyle/>
        <a:p>
          <a:endParaRPr lang="en-US"/>
        </a:p>
      </dgm:t>
    </dgm:pt>
    <dgm:pt modelId="{5E10D6A9-AFA9-0F43-8577-B368BA4C2768}" type="sibTrans" cxnId="{F28DCD99-1DFC-E743-8F7B-8E2049B9939C}">
      <dgm:prSet/>
      <dgm:spPr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16200000" scaled="1"/>
          <a:tileRect/>
        </a:gradFill>
      </dgm:spPr>
      <dgm:t>
        <a:bodyPr/>
        <a:lstStyle/>
        <a:p>
          <a:endParaRPr lang="en-US"/>
        </a:p>
      </dgm:t>
    </dgm:pt>
    <dgm:pt modelId="{55FC9061-DB55-894D-BE85-BC5EF8740F2B}">
      <dgm:prSet phldrT="[Text]"/>
      <dgm:spPr/>
      <dgm:t>
        <a:bodyPr/>
        <a:lstStyle/>
        <a:p>
          <a:r>
            <a:rPr lang="en-US" dirty="0"/>
            <a:t>Increased Presenteeism</a:t>
          </a:r>
        </a:p>
      </dgm:t>
    </dgm:pt>
    <dgm:pt modelId="{7F891AC9-A5C0-104F-A7D9-D94AFFB0856B}" type="parTrans" cxnId="{3B729F94-8714-904E-A666-D79101A78FC0}">
      <dgm:prSet/>
      <dgm:spPr/>
      <dgm:t>
        <a:bodyPr/>
        <a:lstStyle/>
        <a:p>
          <a:endParaRPr lang="en-US"/>
        </a:p>
      </dgm:t>
    </dgm:pt>
    <dgm:pt modelId="{1A9179BF-CA84-8148-A935-DAB41CBE1456}" type="sibTrans" cxnId="{3B729F94-8714-904E-A666-D79101A78FC0}">
      <dgm:prSet/>
      <dgm:spPr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0" scaled="1"/>
          <a:tileRect/>
        </a:gradFill>
      </dgm:spPr>
      <dgm:t>
        <a:bodyPr/>
        <a:lstStyle/>
        <a:p>
          <a:endParaRPr lang="en-US"/>
        </a:p>
      </dgm:t>
    </dgm:pt>
    <dgm:pt modelId="{AEDC59F9-F84B-7240-9152-E3EB3F4F9402}" type="pres">
      <dgm:prSet presAssocID="{84CB8BD8-7FE2-314C-857D-8F31BB3DCAB9}" presName="cycle" presStyleCnt="0">
        <dgm:presLayoutVars>
          <dgm:dir/>
          <dgm:resizeHandles val="exact"/>
        </dgm:presLayoutVars>
      </dgm:prSet>
      <dgm:spPr/>
    </dgm:pt>
    <dgm:pt modelId="{E5F773F9-948C-9F47-AE7C-04018B849F00}" type="pres">
      <dgm:prSet presAssocID="{D5A25FA1-C34B-1342-A5AE-1D54469C9353}" presName="dummy" presStyleCnt="0"/>
      <dgm:spPr/>
    </dgm:pt>
    <dgm:pt modelId="{E50B2949-CC65-824E-9A76-BDC2308FEF2E}" type="pres">
      <dgm:prSet presAssocID="{D5A25FA1-C34B-1342-A5AE-1D54469C9353}" presName="node" presStyleLbl="revTx" presStyleIdx="0" presStyleCnt="7">
        <dgm:presLayoutVars>
          <dgm:bulletEnabled val="1"/>
        </dgm:presLayoutVars>
      </dgm:prSet>
      <dgm:spPr/>
    </dgm:pt>
    <dgm:pt modelId="{41E3703C-8E80-974E-9608-44DB50E48807}" type="pres">
      <dgm:prSet presAssocID="{7A7CF05F-1090-6E40-B25C-DE5FF0A71712}" presName="sibTrans" presStyleLbl="node1" presStyleIdx="0" presStyleCnt="7"/>
      <dgm:spPr/>
    </dgm:pt>
    <dgm:pt modelId="{81E9744C-DCE3-3A4C-B1F4-D656F7EF923C}" type="pres">
      <dgm:prSet presAssocID="{C7E8C0C5-1654-C449-A59B-9B668783E345}" presName="dummy" presStyleCnt="0"/>
      <dgm:spPr/>
    </dgm:pt>
    <dgm:pt modelId="{359FF075-C711-664A-9EF9-1382FC94B094}" type="pres">
      <dgm:prSet presAssocID="{C7E8C0C5-1654-C449-A59B-9B668783E345}" presName="node" presStyleLbl="revTx" presStyleIdx="1" presStyleCnt="7">
        <dgm:presLayoutVars>
          <dgm:bulletEnabled val="1"/>
        </dgm:presLayoutVars>
      </dgm:prSet>
      <dgm:spPr/>
    </dgm:pt>
    <dgm:pt modelId="{C0D2873E-A3FF-5C47-BEFD-898E66DF9FBA}" type="pres">
      <dgm:prSet presAssocID="{9D6D22CD-A287-E345-8049-F9C98EF38571}" presName="sibTrans" presStyleLbl="node1" presStyleIdx="1" presStyleCnt="7"/>
      <dgm:spPr/>
    </dgm:pt>
    <dgm:pt modelId="{7586EA47-10AE-114B-835E-B6D9E6DB8825}" type="pres">
      <dgm:prSet presAssocID="{EC662F9E-FA0C-8F4F-946D-75CDFF349CFF}" presName="dummy" presStyleCnt="0"/>
      <dgm:spPr/>
    </dgm:pt>
    <dgm:pt modelId="{08CA5058-C8EA-CA4F-803C-F2038F6F3730}" type="pres">
      <dgm:prSet presAssocID="{EC662F9E-FA0C-8F4F-946D-75CDFF349CFF}" presName="node" presStyleLbl="revTx" presStyleIdx="2" presStyleCnt="7">
        <dgm:presLayoutVars>
          <dgm:bulletEnabled val="1"/>
        </dgm:presLayoutVars>
      </dgm:prSet>
      <dgm:spPr/>
    </dgm:pt>
    <dgm:pt modelId="{8ABFB698-D27C-BA49-B7BD-B3AC9ECC641F}" type="pres">
      <dgm:prSet presAssocID="{B06D745E-4E98-8843-94AA-2A301E12B748}" presName="sibTrans" presStyleLbl="node1" presStyleIdx="2" presStyleCnt="7"/>
      <dgm:spPr/>
    </dgm:pt>
    <dgm:pt modelId="{01B6D211-7080-294B-B9C3-2C681266A9F3}" type="pres">
      <dgm:prSet presAssocID="{90337749-14E4-214E-AB4E-6D76474F2188}" presName="dummy" presStyleCnt="0"/>
      <dgm:spPr/>
    </dgm:pt>
    <dgm:pt modelId="{D7E2DB93-CFA6-6647-B8C5-E9B5EDEEF565}" type="pres">
      <dgm:prSet presAssocID="{90337749-14E4-214E-AB4E-6D76474F2188}" presName="node" presStyleLbl="revTx" presStyleIdx="3" presStyleCnt="7">
        <dgm:presLayoutVars>
          <dgm:bulletEnabled val="1"/>
        </dgm:presLayoutVars>
      </dgm:prSet>
      <dgm:spPr/>
    </dgm:pt>
    <dgm:pt modelId="{D5178222-410E-5342-9647-263A1CB1AEB8}" type="pres">
      <dgm:prSet presAssocID="{89ACD092-86ED-7446-A47E-96C762B3F86D}" presName="sibTrans" presStyleLbl="node1" presStyleIdx="3" presStyleCnt="7"/>
      <dgm:spPr/>
    </dgm:pt>
    <dgm:pt modelId="{673B4ABD-0066-6542-AC0A-BFF3DF15B411}" type="pres">
      <dgm:prSet presAssocID="{8E58B857-523A-9549-92AE-AD3D3A68F339}" presName="dummy" presStyleCnt="0"/>
      <dgm:spPr/>
    </dgm:pt>
    <dgm:pt modelId="{9A6282A1-1686-A748-BC52-CDE4C63A130C}" type="pres">
      <dgm:prSet presAssocID="{8E58B857-523A-9549-92AE-AD3D3A68F339}" presName="node" presStyleLbl="revTx" presStyleIdx="4" presStyleCnt="7">
        <dgm:presLayoutVars>
          <dgm:bulletEnabled val="1"/>
        </dgm:presLayoutVars>
      </dgm:prSet>
      <dgm:spPr/>
    </dgm:pt>
    <dgm:pt modelId="{1F6D78F0-102A-5245-A79A-1B66AFA54F02}" type="pres">
      <dgm:prSet presAssocID="{5E10D6A9-AFA9-0F43-8577-B368BA4C2768}" presName="sibTrans" presStyleLbl="node1" presStyleIdx="4" presStyleCnt="7" custScaleX="100370" custScaleY="102524"/>
      <dgm:spPr/>
    </dgm:pt>
    <dgm:pt modelId="{1C6EE3ED-D012-1B48-875E-138A1F894710}" type="pres">
      <dgm:prSet presAssocID="{1574AD03-273E-104E-BF1E-C28F3B8FE080}" presName="dummy" presStyleCnt="0"/>
      <dgm:spPr/>
    </dgm:pt>
    <dgm:pt modelId="{B02586E3-8412-2B45-A915-DED2F769F4F8}" type="pres">
      <dgm:prSet presAssocID="{1574AD03-273E-104E-BF1E-C28F3B8FE080}" presName="node" presStyleLbl="revTx" presStyleIdx="5" presStyleCnt="7">
        <dgm:presLayoutVars>
          <dgm:bulletEnabled val="1"/>
        </dgm:presLayoutVars>
      </dgm:prSet>
      <dgm:spPr/>
    </dgm:pt>
    <dgm:pt modelId="{984664E5-6FD9-A440-A1CD-CE2CC112B8A4}" type="pres">
      <dgm:prSet presAssocID="{36D5C54B-A69A-104C-971B-DB8CFD9FA4CC}" presName="sibTrans" presStyleLbl="node1" presStyleIdx="5" presStyleCnt="7"/>
      <dgm:spPr/>
    </dgm:pt>
    <dgm:pt modelId="{EBD333C6-0F7E-D943-AF20-06D13F62F3E9}" type="pres">
      <dgm:prSet presAssocID="{55FC9061-DB55-894D-BE85-BC5EF8740F2B}" presName="dummy" presStyleCnt="0"/>
      <dgm:spPr/>
    </dgm:pt>
    <dgm:pt modelId="{69EFB572-EB87-D949-B712-DFAF3D54C205}" type="pres">
      <dgm:prSet presAssocID="{55FC9061-DB55-894D-BE85-BC5EF8740F2B}" presName="node" presStyleLbl="revTx" presStyleIdx="6" presStyleCnt="7">
        <dgm:presLayoutVars>
          <dgm:bulletEnabled val="1"/>
        </dgm:presLayoutVars>
      </dgm:prSet>
      <dgm:spPr/>
    </dgm:pt>
    <dgm:pt modelId="{64145C76-700E-144A-9D67-BA212F1EC65F}" type="pres">
      <dgm:prSet presAssocID="{1A9179BF-CA84-8148-A935-DAB41CBE1456}" presName="sibTrans" presStyleLbl="node1" presStyleIdx="6" presStyleCnt="7"/>
      <dgm:spPr/>
    </dgm:pt>
  </dgm:ptLst>
  <dgm:cxnLst>
    <dgm:cxn modelId="{BFE32301-2B13-2143-8259-48A4F6CD26F3}" srcId="{84CB8BD8-7FE2-314C-857D-8F31BB3DCAB9}" destId="{C7E8C0C5-1654-C449-A59B-9B668783E345}" srcOrd="1" destOrd="0" parTransId="{A91E2E73-EF43-2743-9834-62EEC97C7490}" sibTransId="{9D6D22CD-A287-E345-8049-F9C98EF38571}"/>
    <dgm:cxn modelId="{EA80960B-F8AE-DC4D-8645-8BEC572011BD}" srcId="{84CB8BD8-7FE2-314C-857D-8F31BB3DCAB9}" destId="{1574AD03-273E-104E-BF1E-C28F3B8FE080}" srcOrd="5" destOrd="0" parTransId="{06475551-3FAA-1144-ACEC-89B500CAF429}" sibTransId="{36D5C54B-A69A-104C-971B-DB8CFD9FA4CC}"/>
    <dgm:cxn modelId="{A8A23C19-003C-D443-BC7D-0605C635823E}" type="presOf" srcId="{C7E8C0C5-1654-C449-A59B-9B668783E345}" destId="{359FF075-C711-664A-9EF9-1382FC94B094}" srcOrd="0" destOrd="0" presId="urn:microsoft.com/office/officeart/2005/8/layout/cycle1"/>
    <dgm:cxn modelId="{50302F26-C15F-8648-9097-9224FD215B52}" type="presOf" srcId="{D5A25FA1-C34B-1342-A5AE-1D54469C9353}" destId="{E50B2949-CC65-824E-9A76-BDC2308FEF2E}" srcOrd="0" destOrd="0" presId="urn:microsoft.com/office/officeart/2005/8/layout/cycle1"/>
    <dgm:cxn modelId="{99C4332E-D609-2B4F-88D5-7E62F4FD9DCE}" type="presOf" srcId="{1574AD03-273E-104E-BF1E-C28F3B8FE080}" destId="{B02586E3-8412-2B45-A915-DED2F769F4F8}" srcOrd="0" destOrd="0" presId="urn:microsoft.com/office/officeart/2005/8/layout/cycle1"/>
    <dgm:cxn modelId="{D20CAC30-0183-CB42-A8A9-0AFC074F1588}" type="presOf" srcId="{84CB8BD8-7FE2-314C-857D-8F31BB3DCAB9}" destId="{AEDC59F9-F84B-7240-9152-E3EB3F4F9402}" srcOrd="0" destOrd="0" presId="urn:microsoft.com/office/officeart/2005/8/layout/cycle1"/>
    <dgm:cxn modelId="{178F8946-0FF0-1642-9E15-C0C2C06AC4AA}" type="presOf" srcId="{1A9179BF-CA84-8148-A935-DAB41CBE1456}" destId="{64145C76-700E-144A-9D67-BA212F1EC65F}" srcOrd="0" destOrd="0" presId="urn:microsoft.com/office/officeart/2005/8/layout/cycle1"/>
    <dgm:cxn modelId="{2B11224E-A841-F44E-91DA-EEC9D0ED1FAC}" srcId="{84CB8BD8-7FE2-314C-857D-8F31BB3DCAB9}" destId="{90337749-14E4-214E-AB4E-6D76474F2188}" srcOrd="3" destOrd="0" parTransId="{8E3A7159-18EB-624A-9423-56007782FC1E}" sibTransId="{89ACD092-86ED-7446-A47E-96C762B3F86D}"/>
    <dgm:cxn modelId="{259C6F56-54A7-1244-81B5-2778FE45F461}" type="presOf" srcId="{9D6D22CD-A287-E345-8049-F9C98EF38571}" destId="{C0D2873E-A3FF-5C47-BEFD-898E66DF9FBA}" srcOrd="0" destOrd="0" presId="urn:microsoft.com/office/officeart/2005/8/layout/cycle1"/>
    <dgm:cxn modelId="{D42C105A-EC42-834C-B62A-A1042F25ED57}" type="presOf" srcId="{7A7CF05F-1090-6E40-B25C-DE5FF0A71712}" destId="{41E3703C-8E80-974E-9608-44DB50E48807}" srcOrd="0" destOrd="0" presId="urn:microsoft.com/office/officeart/2005/8/layout/cycle1"/>
    <dgm:cxn modelId="{093BDA69-EDEB-6E47-848D-965DE2D038A6}" type="presOf" srcId="{5E10D6A9-AFA9-0F43-8577-B368BA4C2768}" destId="{1F6D78F0-102A-5245-A79A-1B66AFA54F02}" srcOrd="0" destOrd="0" presId="urn:microsoft.com/office/officeart/2005/8/layout/cycle1"/>
    <dgm:cxn modelId="{B3E87A6B-C662-D541-A6B8-CD0267C4F518}" srcId="{84CB8BD8-7FE2-314C-857D-8F31BB3DCAB9}" destId="{D5A25FA1-C34B-1342-A5AE-1D54469C9353}" srcOrd="0" destOrd="0" parTransId="{EAD6A8A2-C837-334C-8BF9-5F891119FBD3}" sibTransId="{7A7CF05F-1090-6E40-B25C-DE5FF0A71712}"/>
    <dgm:cxn modelId="{C657C66F-0E99-1246-B020-7D2C78AD1925}" type="presOf" srcId="{90337749-14E4-214E-AB4E-6D76474F2188}" destId="{D7E2DB93-CFA6-6647-B8C5-E9B5EDEEF565}" srcOrd="0" destOrd="0" presId="urn:microsoft.com/office/officeart/2005/8/layout/cycle1"/>
    <dgm:cxn modelId="{52449779-30FA-994E-9562-1B1793C67C5E}" type="presOf" srcId="{55FC9061-DB55-894D-BE85-BC5EF8740F2B}" destId="{69EFB572-EB87-D949-B712-DFAF3D54C205}" srcOrd="0" destOrd="0" presId="urn:microsoft.com/office/officeart/2005/8/layout/cycle1"/>
    <dgm:cxn modelId="{C2E58A87-8451-354A-A7FF-D74940476477}" type="presOf" srcId="{89ACD092-86ED-7446-A47E-96C762B3F86D}" destId="{D5178222-410E-5342-9647-263A1CB1AEB8}" srcOrd="0" destOrd="0" presId="urn:microsoft.com/office/officeart/2005/8/layout/cycle1"/>
    <dgm:cxn modelId="{A990B08B-713D-FC4B-BE1A-6D58C3F3E328}" type="presOf" srcId="{B06D745E-4E98-8843-94AA-2A301E12B748}" destId="{8ABFB698-D27C-BA49-B7BD-B3AC9ECC641F}" srcOrd="0" destOrd="0" presId="urn:microsoft.com/office/officeart/2005/8/layout/cycle1"/>
    <dgm:cxn modelId="{3B729F94-8714-904E-A666-D79101A78FC0}" srcId="{84CB8BD8-7FE2-314C-857D-8F31BB3DCAB9}" destId="{55FC9061-DB55-894D-BE85-BC5EF8740F2B}" srcOrd="6" destOrd="0" parTransId="{7F891AC9-A5C0-104F-A7D9-D94AFFB0856B}" sibTransId="{1A9179BF-CA84-8148-A935-DAB41CBE1456}"/>
    <dgm:cxn modelId="{ADEEA798-5097-4844-84B7-7F60444C764D}" srcId="{84CB8BD8-7FE2-314C-857D-8F31BB3DCAB9}" destId="{EC662F9E-FA0C-8F4F-946D-75CDFF349CFF}" srcOrd="2" destOrd="0" parTransId="{BC885A85-14E6-D042-8755-4D66776C82DE}" sibTransId="{B06D745E-4E98-8843-94AA-2A301E12B748}"/>
    <dgm:cxn modelId="{F28DCD99-1DFC-E743-8F7B-8E2049B9939C}" srcId="{84CB8BD8-7FE2-314C-857D-8F31BB3DCAB9}" destId="{8E58B857-523A-9549-92AE-AD3D3A68F339}" srcOrd="4" destOrd="0" parTransId="{923F8F5F-5FAC-6E49-9775-4064156DA7E7}" sibTransId="{5E10D6A9-AFA9-0F43-8577-B368BA4C2768}"/>
    <dgm:cxn modelId="{5EE310A8-5B73-E945-BB34-F9629484F945}" type="presOf" srcId="{EC662F9E-FA0C-8F4F-946D-75CDFF349CFF}" destId="{08CA5058-C8EA-CA4F-803C-F2038F6F3730}" srcOrd="0" destOrd="0" presId="urn:microsoft.com/office/officeart/2005/8/layout/cycle1"/>
    <dgm:cxn modelId="{BB5BC5E6-0F50-2B49-936A-65AF26150512}" type="presOf" srcId="{8E58B857-523A-9549-92AE-AD3D3A68F339}" destId="{9A6282A1-1686-A748-BC52-CDE4C63A130C}" srcOrd="0" destOrd="0" presId="urn:microsoft.com/office/officeart/2005/8/layout/cycle1"/>
    <dgm:cxn modelId="{3E7FB5FD-E0F6-D04E-B8F9-CADB96B01165}" type="presOf" srcId="{36D5C54B-A69A-104C-971B-DB8CFD9FA4CC}" destId="{984664E5-6FD9-A440-A1CD-CE2CC112B8A4}" srcOrd="0" destOrd="0" presId="urn:microsoft.com/office/officeart/2005/8/layout/cycle1"/>
    <dgm:cxn modelId="{67F4B918-ECEE-CC40-83D1-41EE2608069F}" type="presParOf" srcId="{AEDC59F9-F84B-7240-9152-E3EB3F4F9402}" destId="{E5F773F9-948C-9F47-AE7C-04018B849F00}" srcOrd="0" destOrd="0" presId="urn:microsoft.com/office/officeart/2005/8/layout/cycle1"/>
    <dgm:cxn modelId="{AF925357-EFD0-1C43-8C3D-12C887518BC8}" type="presParOf" srcId="{AEDC59F9-F84B-7240-9152-E3EB3F4F9402}" destId="{E50B2949-CC65-824E-9A76-BDC2308FEF2E}" srcOrd="1" destOrd="0" presId="urn:microsoft.com/office/officeart/2005/8/layout/cycle1"/>
    <dgm:cxn modelId="{21964137-F0BE-5A49-AA55-2C97068B2365}" type="presParOf" srcId="{AEDC59F9-F84B-7240-9152-E3EB3F4F9402}" destId="{41E3703C-8E80-974E-9608-44DB50E48807}" srcOrd="2" destOrd="0" presId="urn:microsoft.com/office/officeart/2005/8/layout/cycle1"/>
    <dgm:cxn modelId="{E78113DC-3136-0640-9188-3304F0B27E14}" type="presParOf" srcId="{AEDC59F9-F84B-7240-9152-E3EB3F4F9402}" destId="{81E9744C-DCE3-3A4C-B1F4-D656F7EF923C}" srcOrd="3" destOrd="0" presId="urn:microsoft.com/office/officeart/2005/8/layout/cycle1"/>
    <dgm:cxn modelId="{B0DB2BAC-27AD-B44F-9C91-DEA1CC6E88E3}" type="presParOf" srcId="{AEDC59F9-F84B-7240-9152-E3EB3F4F9402}" destId="{359FF075-C711-664A-9EF9-1382FC94B094}" srcOrd="4" destOrd="0" presId="urn:microsoft.com/office/officeart/2005/8/layout/cycle1"/>
    <dgm:cxn modelId="{DD67CE84-9F1A-594B-A46A-723C7A03A7CE}" type="presParOf" srcId="{AEDC59F9-F84B-7240-9152-E3EB3F4F9402}" destId="{C0D2873E-A3FF-5C47-BEFD-898E66DF9FBA}" srcOrd="5" destOrd="0" presId="urn:microsoft.com/office/officeart/2005/8/layout/cycle1"/>
    <dgm:cxn modelId="{6035E51A-6AA8-9842-9930-C7D94C2C1350}" type="presParOf" srcId="{AEDC59F9-F84B-7240-9152-E3EB3F4F9402}" destId="{7586EA47-10AE-114B-835E-B6D9E6DB8825}" srcOrd="6" destOrd="0" presId="urn:microsoft.com/office/officeart/2005/8/layout/cycle1"/>
    <dgm:cxn modelId="{03B549FD-C30E-B845-AC6D-DE3A6FDB7E9C}" type="presParOf" srcId="{AEDC59F9-F84B-7240-9152-E3EB3F4F9402}" destId="{08CA5058-C8EA-CA4F-803C-F2038F6F3730}" srcOrd="7" destOrd="0" presId="urn:microsoft.com/office/officeart/2005/8/layout/cycle1"/>
    <dgm:cxn modelId="{A0881719-B529-5748-84E6-DCAAC7850BA2}" type="presParOf" srcId="{AEDC59F9-F84B-7240-9152-E3EB3F4F9402}" destId="{8ABFB698-D27C-BA49-B7BD-B3AC9ECC641F}" srcOrd="8" destOrd="0" presId="urn:microsoft.com/office/officeart/2005/8/layout/cycle1"/>
    <dgm:cxn modelId="{56671F64-E2C4-3D4B-9EDE-60523FF753EE}" type="presParOf" srcId="{AEDC59F9-F84B-7240-9152-E3EB3F4F9402}" destId="{01B6D211-7080-294B-B9C3-2C681266A9F3}" srcOrd="9" destOrd="0" presId="urn:microsoft.com/office/officeart/2005/8/layout/cycle1"/>
    <dgm:cxn modelId="{6F437F35-D793-4341-B2D1-265B6CC2DC77}" type="presParOf" srcId="{AEDC59F9-F84B-7240-9152-E3EB3F4F9402}" destId="{D7E2DB93-CFA6-6647-B8C5-E9B5EDEEF565}" srcOrd="10" destOrd="0" presId="urn:microsoft.com/office/officeart/2005/8/layout/cycle1"/>
    <dgm:cxn modelId="{3573A363-D0DD-D649-BC4F-E36D1C81415B}" type="presParOf" srcId="{AEDC59F9-F84B-7240-9152-E3EB3F4F9402}" destId="{D5178222-410E-5342-9647-263A1CB1AEB8}" srcOrd="11" destOrd="0" presId="urn:microsoft.com/office/officeart/2005/8/layout/cycle1"/>
    <dgm:cxn modelId="{ABD669A9-AF63-FA47-A333-6AC7035B88FD}" type="presParOf" srcId="{AEDC59F9-F84B-7240-9152-E3EB3F4F9402}" destId="{673B4ABD-0066-6542-AC0A-BFF3DF15B411}" srcOrd="12" destOrd="0" presId="urn:microsoft.com/office/officeart/2005/8/layout/cycle1"/>
    <dgm:cxn modelId="{91AE6402-29BF-0940-A659-5E7725C6F21F}" type="presParOf" srcId="{AEDC59F9-F84B-7240-9152-E3EB3F4F9402}" destId="{9A6282A1-1686-A748-BC52-CDE4C63A130C}" srcOrd="13" destOrd="0" presId="urn:microsoft.com/office/officeart/2005/8/layout/cycle1"/>
    <dgm:cxn modelId="{C778D8E0-8874-8846-BD7C-5B707FDA375C}" type="presParOf" srcId="{AEDC59F9-F84B-7240-9152-E3EB3F4F9402}" destId="{1F6D78F0-102A-5245-A79A-1B66AFA54F02}" srcOrd="14" destOrd="0" presId="urn:microsoft.com/office/officeart/2005/8/layout/cycle1"/>
    <dgm:cxn modelId="{B8756422-BA12-1C40-8F6C-71EF44315F6E}" type="presParOf" srcId="{AEDC59F9-F84B-7240-9152-E3EB3F4F9402}" destId="{1C6EE3ED-D012-1B48-875E-138A1F894710}" srcOrd="15" destOrd="0" presId="urn:microsoft.com/office/officeart/2005/8/layout/cycle1"/>
    <dgm:cxn modelId="{10447B49-11FA-B74D-A8B3-B5E2C0D693E8}" type="presParOf" srcId="{AEDC59F9-F84B-7240-9152-E3EB3F4F9402}" destId="{B02586E3-8412-2B45-A915-DED2F769F4F8}" srcOrd="16" destOrd="0" presId="urn:microsoft.com/office/officeart/2005/8/layout/cycle1"/>
    <dgm:cxn modelId="{102FB2DB-806A-604F-9E69-293CEC3D8C44}" type="presParOf" srcId="{AEDC59F9-F84B-7240-9152-E3EB3F4F9402}" destId="{984664E5-6FD9-A440-A1CD-CE2CC112B8A4}" srcOrd="17" destOrd="0" presId="urn:microsoft.com/office/officeart/2005/8/layout/cycle1"/>
    <dgm:cxn modelId="{6524E9D4-4B57-0D45-8F4F-3B611D8F93DF}" type="presParOf" srcId="{AEDC59F9-F84B-7240-9152-E3EB3F4F9402}" destId="{EBD333C6-0F7E-D943-AF20-06D13F62F3E9}" srcOrd="18" destOrd="0" presId="urn:microsoft.com/office/officeart/2005/8/layout/cycle1"/>
    <dgm:cxn modelId="{F38EA74B-3DFF-134F-9F2C-ADE1235707ED}" type="presParOf" srcId="{AEDC59F9-F84B-7240-9152-E3EB3F4F9402}" destId="{69EFB572-EB87-D949-B712-DFAF3D54C205}" srcOrd="19" destOrd="0" presId="urn:microsoft.com/office/officeart/2005/8/layout/cycle1"/>
    <dgm:cxn modelId="{3C3D832A-E96D-214E-9EA2-6354BFBD1AA6}" type="presParOf" srcId="{AEDC59F9-F84B-7240-9152-E3EB3F4F9402}" destId="{64145C76-700E-144A-9D67-BA212F1EC65F}" srcOrd="20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4CB8BD8-7FE2-314C-857D-8F31BB3DCAB9}" type="doc">
      <dgm:prSet loTypeId="urn:microsoft.com/office/officeart/2005/8/layout/cycle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5A25FA1-C34B-1342-A5AE-1D54469C9353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Reduced productivity</a:t>
          </a:r>
        </a:p>
      </dgm:t>
    </dgm:pt>
    <dgm:pt modelId="{EAD6A8A2-C837-334C-8BF9-5F891119FBD3}" type="parTrans" cxnId="{B3E87A6B-C662-D541-A6B8-CD0267C4F518}">
      <dgm:prSet/>
      <dgm:spPr/>
      <dgm:t>
        <a:bodyPr/>
        <a:lstStyle/>
        <a:p>
          <a:endParaRPr lang="en-US"/>
        </a:p>
      </dgm:t>
    </dgm:pt>
    <dgm:pt modelId="{7A7CF05F-1090-6E40-B25C-DE5FF0A71712}" type="sibTrans" cxnId="{B3E87A6B-C662-D541-A6B8-CD0267C4F518}">
      <dgm:prSet/>
      <dgm:spPr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2700000" scaled="1"/>
          <a:tileRect/>
        </a:gradFill>
      </dgm:spPr>
      <dgm:t>
        <a:bodyPr/>
        <a:lstStyle/>
        <a:p>
          <a:endParaRPr lang="en-US"/>
        </a:p>
      </dgm:t>
    </dgm:pt>
    <dgm:pt modelId="{C7E8C0C5-1654-C449-A59B-9B668783E345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Increased Absenteeism</a:t>
          </a:r>
        </a:p>
      </dgm:t>
    </dgm:pt>
    <dgm:pt modelId="{A91E2E73-EF43-2743-9834-62EEC97C7490}" type="parTrans" cxnId="{BFE32301-2B13-2143-8259-48A4F6CD26F3}">
      <dgm:prSet/>
      <dgm:spPr/>
      <dgm:t>
        <a:bodyPr/>
        <a:lstStyle/>
        <a:p>
          <a:endParaRPr lang="en-US"/>
        </a:p>
      </dgm:t>
    </dgm:pt>
    <dgm:pt modelId="{9D6D22CD-A287-E345-8049-F9C98EF38571}" type="sibTrans" cxnId="{BFE32301-2B13-2143-8259-48A4F6CD26F3}">
      <dgm:prSet/>
      <dgm:spPr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5400000" scaled="1"/>
          <a:tileRect/>
        </a:gradFill>
      </dgm:spPr>
      <dgm:t>
        <a:bodyPr/>
        <a:lstStyle/>
        <a:p>
          <a:endParaRPr lang="en-US"/>
        </a:p>
      </dgm:t>
    </dgm:pt>
    <dgm:pt modelId="{EC662F9E-FA0C-8F4F-946D-75CDFF349CFF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Elevated Healthcare Costs</a:t>
          </a:r>
        </a:p>
      </dgm:t>
    </dgm:pt>
    <dgm:pt modelId="{BC885A85-14E6-D042-8755-4D66776C82DE}" type="parTrans" cxnId="{ADEEA798-5097-4844-84B7-7F60444C764D}">
      <dgm:prSet/>
      <dgm:spPr/>
      <dgm:t>
        <a:bodyPr/>
        <a:lstStyle/>
        <a:p>
          <a:endParaRPr lang="en-US"/>
        </a:p>
      </dgm:t>
    </dgm:pt>
    <dgm:pt modelId="{B06D745E-4E98-8843-94AA-2A301E12B748}" type="sibTrans" cxnId="{ADEEA798-5097-4844-84B7-7F60444C764D}">
      <dgm:prSet/>
      <dgm:spPr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8100000" scaled="1"/>
          <a:tileRect/>
        </a:gradFill>
      </dgm:spPr>
      <dgm:t>
        <a:bodyPr/>
        <a:lstStyle/>
        <a:p>
          <a:endParaRPr lang="en-US"/>
        </a:p>
      </dgm:t>
    </dgm:pt>
    <dgm:pt modelId="{90337749-14E4-214E-AB4E-6D76474F2188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Higher Turnover</a:t>
          </a:r>
        </a:p>
      </dgm:t>
    </dgm:pt>
    <dgm:pt modelId="{8E3A7159-18EB-624A-9423-56007782FC1E}" type="parTrans" cxnId="{2B11224E-A841-F44E-91DA-EEC9D0ED1FAC}">
      <dgm:prSet/>
      <dgm:spPr/>
      <dgm:t>
        <a:bodyPr/>
        <a:lstStyle/>
        <a:p>
          <a:endParaRPr lang="en-US"/>
        </a:p>
      </dgm:t>
    </dgm:pt>
    <dgm:pt modelId="{89ACD092-86ED-7446-A47E-96C762B3F86D}" type="sibTrans" cxnId="{2B11224E-A841-F44E-91DA-EEC9D0ED1FAC}">
      <dgm:prSet/>
      <dgm:spPr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10800000" scaled="1"/>
          <a:tileRect/>
        </a:gradFill>
      </dgm:spPr>
      <dgm:t>
        <a:bodyPr/>
        <a:lstStyle/>
        <a:p>
          <a:endParaRPr lang="en-US"/>
        </a:p>
      </dgm:t>
    </dgm:pt>
    <dgm:pt modelId="{1574AD03-273E-104E-BF1E-C28F3B8FE080}">
      <dgm:prSet phldrT="[Text]"/>
      <dgm:spPr/>
      <dgm:t>
        <a:bodyPr/>
        <a:lstStyle/>
        <a:p>
          <a:r>
            <a:rPr lang="en-US" dirty="0"/>
            <a:t>Diminished Engagement/ Morale</a:t>
          </a:r>
        </a:p>
      </dgm:t>
    </dgm:pt>
    <dgm:pt modelId="{06475551-3FAA-1144-ACEC-89B500CAF429}" type="parTrans" cxnId="{EA80960B-F8AE-DC4D-8645-8BEC572011BD}">
      <dgm:prSet/>
      <dgm:spPr/>
      <dgm:t>
        <a:bodyPr/>
        <a:lstStyle/>
        <a:p>
          <a:endParaRPr lang="en-US"/>
        </a:p>
      </dgm:t>
    </dgm:pt>
    <dgm:pt modelId="{36D5C54B-A69A-104C-971B-DB8CFD9FA4CC}" type="sibTrans" cxnId="{EA80960B-F8AE-DC4D-8645-8BEC572011BD}">
      <dgm:prSet/>
      <dgm:spPr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18900000" scaled="1"/>
          <a:tileRect/>
        </a:gradFill>
      </dgm:spPr>
      <dgm:t>
        <a:bodyPr/>
        <a:lstStyle/>
        <a:p>
          <a:endParaRPr lang="en-US"/>
        </a:p>
      </dgm:t>
    </dgm:pt>
    <dgm:pt modelId="{8E58B857-523A-9549-92AE-AD3D3A68F339}">
      <dgm:prSet phldrT="[Text]"/>
      <dgm:spPr/>
      <dgm:t>
        <a:bodyPr/>
        <a:lstStyle/>
        <a:p>
          <a:r>
            <a:rPr lang="en-US" dirty="0">
              <a:solidFill>
                <a:srgbClr val="9A7352"/>
              </a:solidFill>
            </a:rPr>
            <a:t>Workplace Safety</a:t>
          </a:r>
        </a:p>
      </dgm:t>
    </dgm:pt>
    <dgm:pt modelId="{923F8F5F-5FAC-6E49-9775-4064156DA7E7}" type="parTrans" cxnId="{F28DCD99-1DFC-E743-8F7B-8E2049B9939C}">
      <dgm:prSet/>
      <dgm:spPr/>
      <dgm:t>
        <a:bodyPr/>
        <a:lstStyle/>
        <a:p>
          <a:endParaRPr lang="en-US"/>
        </a:p>
      </dgm:t>
    </dgm:pt>
    <dgm:pt modelId="{5E10D6A9-AFA9-0F43-8577-B368BA4C2768}" type="sibTrans" cxnId="{F28DCD99-1DFC-E743-8F7B-8E2049B9939C}">
      <dgm:prSet/>
      <dgm:spPr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16200000" scaled="1"/>
          <a:tileRect/>
        </a:gradFill>
      </dgm:spPr>
      <dgm:t>
        <a:bodyPr/>
        <a:lstStyle/>
        <a:p>
          <a:endParaRPr lang="en-US"/>
        </a:p>
      </dgm:t>
    </dgm:pt>
    <dgm:pt modelId="{55FC9061-DB55-894D-BE85-BC5EF8740F2B}">
      <dgm:prSet phldrT="[Text]"/>
      <dgm:spPr/>
      <dgm:t>
        <a:bodyPr/>
        <a:lstStyle/>
        <a:p>
          <a:r>
            <a:rPr lang="en-US" dirty="0"/>
            <a:t>Increased Presenteeism</a:t>
          </a:r>
        </a:p>
      </dgm:t>
    </dgm:pt>
    <dgm:pt modelId="{7F891AC9-A5C0-104F-A7D9-D94AFFB0856B}" type="parTrans" cxnId="{3B729F94-8714-904E-A666-D79101A78FC0}">
      <dgm:prSet/>
      <dgm:spPr/>
      <dgm:t>
        <a:bodyPr/>
        <a:lstStyle/>
        <a:p>
          <a:endParaRPr lang="en-US"/>
        </a:p>
      </dgm:t>
    </dgm:pt>
    <dgm:pt modelId="{1A9179BF-CA84-8148-A935-DAB41CBE1456}" type="sibTrans" cxnId="{3B729F94-8714-904E-A666-D79101A78FC0}">
      <dgm:prSet/>
      <dgm:spPr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0" scaled="1"/>
          <a:tileRect/>
        </a:gradFill>
      </dgm:spPr>
      <dgm:t>
        <a:bodyPr/>
        <a:lstStyle/>
        <a:p>
          <a:endParaRPr lang="en-US"/>
        </a:p>
      </dgm:t>
    </dgm:pt>
    <dgm:pt modelId="{AEDC59F9-F84B-7240-9152-E3EB3F4F9402}" type="pres">
      <dgm:prSet presAssocID="{84CB8BD8-7FE2-314C-857D-8F31BB3DCAB9}" presName="cycle" presStyleCnt="0">
        <dgm:presLayoutVars>
          <dgm:dir/>
          <dgm:resizeHandles val="exact"/>
        </dgm:presLayoutVars>
      </dgm:prSet>
      <dgm:spPr/>
    </dgm:pt>
    <dgm:pt modelId="{E5F773F9-948C-9F47-AE7C-04018B849F00}" type="pres">
      <dgm:prSet presAssocID="{D5A25FA1-C34B-1342-A5AE-1D54469C9353}" presName="dummy" presStyleCnt="0"/>
      <dgm:spPr/>
    </dgm:pt>
    <dgm:pt modelId="{E50B2949-CC65-824E-9A76-BDC2308FEF2E}" type="pres">
      <dgm:prSet presAssocID="{D5A25FA1-C34B-1342-A5AE-1D54469C9353}" presName="node" presStyleLbl="revTx" presStyleIdx="0" presStyleCnt="7">
        <dgm:presLayoutVars>
          <dgm:bulletEnabled val="1"/>
        </dgm:presLayoutVars>
      </dgm:prSet>
      <dgm:spPr/>
    </dgm:pt>
    <dgm:pt modelId="{41E3703C-8E80-974E-9608-44DB50E48807}" type="pres">
      <dgm:prSet presAssocID="{7A7CF05F-1090-6E40-B25C-DE5FF0A71712}" presName="sibTrans" presStyleLbl="node1" presStyleIdx="0" presStyleCnt="7"/>
      <dgm:spPr/>
    </dgm:pt>
    <dgm:pt modelId="{81E9744C-DCE3-3A4C-B1F4-D656F7EF923C}" type="pres">
      <dgm:prSet presAssocID="{C7E8C0C5-1654-C449-A59B-9B668783E345}" presName="dummy" presStyleCnt="0"/>
      <dgm:spPr/>
    </dgm:pt>
    <dgm:pt modelId="{359FF075-C711-664A-9EF9-1382FC94B094}" type="pres">
      <dgm:prSet presAssocID="{C7E8C0C5-1654-C449-A59B-9B668783E345}" presName="node" presStyleLbl="revTx" presStyleIdx="1" presStyleCnt="7">
        <dgm:presLayoutVars>
          <dgm:bulletEnabled val="1"/>
        </dgm:presLayoutVars>
      </dgm:prSet>
      <dgm:spPr/>
    </dgm:pt>
    <dgm:pt modelId="{C0D2873E-A3FF-5C47-BEFD-898E66DF9FBA}" type="pres">
      <dgm:prSet presAssocID="{9D6D22CD-A287-E345-8049-F9C98EF38571}" presName="sibTrans" presStyleLbl="node1" presStyleIdx="1" presStyleCnt="7"/>
      <dgm:spPr/>
    </dgm:pt>
    <dgm:pt modelId="{7586EA47-10AE-114B-835E-B6D9E6DB8825}" type="pres">
      <dgm:prSet presAssocID="{EC662F9E-FA0C-8F4F-946D-75CDFF349CFF}" presName="dummy" presStyleCnt="0"/>
      <dgm:spPr/>
    </dgm:pt>
    <dgm:pt modelId="{08CA5058-C8EA-CA4F-803C-F2038F6F3730}" type="pres">
      <dgm:prSet presAssocID="{EC662F9E-FA0C-8F4F-946D-75CDFF349CFF}" presName="node" presStyleLbl="revTx" presStyleIdx="2" presStyleCnt="7">
        <dgm:presLayoutVars>
          <dgm:bulletEnabled val="1"/>
        </dgm:presLayoutVars>
      </dgm:prSet>
      <dgm:spPr/>
    </dgm:pt>
    <dgm:pt modelId="{8ABFB698-D27C-BA49-B7BD-B3AC9ECC641F}" type="pres">
      <dgm:prSet presAssocID="{B06D745E-4E98-8843-94AA-2A301E12B748}" presName="sibTrans" presStyleLbl="node1" presStyleIdx="2" presStyleCnt="7"/>
      <dgm:spPr/>
    </dgm:pt>
    <dgm:pt modelId="{01B6D211-7080-294B-B9C3-2C681266A9F3}" type="pres">
      <dgm:prSet presAssocID="{90337749-14E4-214E-AB4E-6D76474F2188}" presName="dummy" presStyleCnt="0"/>
      <dgm:spPr/>
    </dgm:pt>
    <dgm:pt modelId="{D7E2DB93-CFA6-6647-B8C5-E9B5EDEEF565}" type="pres">
      <dgm:prSet presAssocID="{90337749-14E4-214E-AB4E-6D76474F2188}" presName="node" presStyleLbl="revTx" presStyleIdx="3" presStyleCnt="7">
        <dgm:presLayoutVars>
          <dgm:bulletEnabled val="1"/>
        </dgm:presLayoutVars>
      </dgm:prSet>
      <dgm:spPr/>
    </dgm:pt>
    <dgm:pt modelId="{D5178222-410E-5342-9647-263A1CB1AEB8}" type="pres">
      <dgm:prSet presAssocID="{89ACD092-86ED-7446-A47E-96C762B3F86D}" presName="sibTrans" presStyleLbl="node1" presStyleIdx="3" presStyleCnt="7"/>
      <dgm:spPr/>
    </dgm:pt>
    <dgm:pt modelId="{673B4ABD-0066-6542-AC0A-BFF3DF15B411}" type="pres">
      <dgm:prSet presAssocID="{8E58B857-523A-9549-92AE-AD3D3A68F339}" presName="dummy" presStyleCnt="0"/>
      <dgm:spPr/>
    </dgm:pt>
    <dgm:pt modelId="{9A6282A1-1686-A748-BC52-CDE4C63A130C}" type="pres">
      <dgm:prSet presAssocID="{8E58B857-523A-9549-92AE-AD3D3A68F339}" presName="node" presStyleLbl="revTx" presStyleIdx="4" presStyleCnt="7">
        <dgm:presLayoutVars>
          <dgm:bulletEnabled val="1"/>
        </dgm:presLayoutVars>
      </dgm:prSet>
      <dgm:spPr/>
    </dgm:pt>
    <dgm:pt modelId="{1F6D78F0-102A-5245-A79A-1B66AFA54F02}" type="pres">
      <dgm:prSet presAssocID="{5E10D6A9-AFA9-0F43-8577-B368BA4C2768}" presName="sibTrans" presStyleLbl="node1" presStyleIdx="4" presStyleCnt="7" custScaleX="100370" custScaleY="102524"/>
      <dgm:spPr/>
    </dgm:pt>
    <dgm:pt modelId="{1C6EE3ED-D012-1B48-875E-138A1F894710}" type="pres">
      <dgm:prSet presAssocID="{1574AD03-273E-104E-BF1E-C28F3B8FE080}" presName="dummy" presStyleCnt="0"/>
      <dgm:spPr/>
    </dgm:pt>
    <dgm:pt modelId="{B02586E3-8412-2B45-A915-DED2F769F4F8}" type="pres">
      <dgm:prSet presAssocID="{1574AD03-273E-104E-BF1E-C28F3B8FE080}" presName="node" presStyleLbl="revTx" presStyleIdx="5" presStyleCnt="7">
        <dgm:presLayoutVars>
          <dgm:bulletEnabled val="1"/>
        </dgm:presLayoutVars>
      </dgm:prSet>
      <dgm:spPr/>
    </dgm:pt>
    <dgm:pt modelId="{984664E5-6FD9-A440-A1CD-CE2CC112B8A4}" type="pres">
      <dgm:prSet presAssocID="{36D5C54B-A69A-104C-971B-DB8CFD9FA4CC}" presName="sibTrans" presStyleLbl="node1" presStyleIdx="5" presStyleCnt="7"/>
      <dgm:spPr/>
    </dgm:pt>
    <dgm:pt modelId="{EBD333C6-0F7E-D943-AF20-06D13F62F3E9}" type="pres">
      <dgm:prSet presAssocID="{55FC9061-DB55-894D-BE85-BC5EF8740F2B}" presName="dummy" presStyleCnt="0"/>
      <dgm:spPr/>
    </dgm:pt>
    <dgm:pt modelId="{69EFB572-EB87-D949-B712-DFAF3D54C205}" type="pres">
      <dgm:prSet presAssocID="{55FC9061-DB55-894D-BE85-BC5EF8740F2B}" presName="node" presStyleLbl="revTx" presStyleIdx="6" presStyleCnt="7">
        <dgm:presLayoutVars>
          <dgm:bulletEnabled val="1"/>
        </dgm:presLayoutVars>
      </dgm:prSet>
      <dgm:spPr/>
    </dgm:pt>
    <dgm:pt modelId="{64145C76-700E-144A-9D67-BA212F1EC65F}" type="pres">
      <dgm:prSet presAssocID="{1A9179BF-CA84-8148-A935-DAB41CBE1456}" presName="sibTrans" presStyleLbl="node1" presStyleIdx="6" presStyleCnt="7"/>
      <dgm:spPr/>
    </dgm:pt>
  </dgm:ptLst>
  <dgm:cxnLst>
    <dgm:cxn modelId="{BFE32301-2B13-2143-8259-48A4F6CD26F3}" srcId="{84CB8BD8-7FE2-314C-857D-8F31BB3DCAB9}" destId="{C7E8C0C5-1654-C449-A59B-9B668783E345}" srcOrd="1" destOrd="0" parTransId="{A91E2E73-EF43-2743-9834-62EEC97C7490}" sibTransId="{9D6D22CD-A287-E345-8049-F9C98EF38571}"/>
    <dgm:cxn modelId="{EA80960B-F8AE-DC4D-8645-8BEC572011BD}" srcId="{84CB8BD8-7FE2-314C-857D-8F31BB3DCAB9}" destId="{1574AD03-273E-104E-BF1E-C28F3B8FE080}" srcOrd="5" destOrd="0" parTransId="{06475551-3FAA-1144-ACEC-89B500CAF429}" sibTransId="{36D5C54B-A69A-104C-971B-DB8CFD9FA4CC}"/>
    <dgm:cxn modelId="{A8A23C19-003C-D443-BC7D-0605C635823E}" type="presOf" srcId="{C7E8C0C5-1654-C449-A59B-9B668783E345}" destId="{359FF075-C711-664A-9EF9-1382FC94B094}" srcOrd="0" destOrd="0" presId="urn:microsoft.com/office/officeart/2005/8/layout/cycle1"/>
    <dgm:cxn modelId="{50302F26-C15F-8648-9097-9224FD215B52}" type="presOf" srcId="{D5A25FA1-C34B-1342-A5AE-1D54469C9353}" destId="{E50B2949-CC65-824E-9A76-BDC2308FEF2E}" srcOrd="0" destOrd="0" presId="urn:microsoft.com/office/officeart/2005/8/layout/cycle1"/>
    <dgm:cxn modelId="{99C4332E-D609-2B4F-88D5-7E62F4FD9DCE}" type="presOf" srcId="{1574AD03-273E-104E-BF1E-C28F3B8FE080}" destId="{B02586E3-8412-2B45-A915-DED2F769F4F8}" srcOrd="0" destOrd="0" presId="urn:microsoft.com/office/officeart/2005/8/layout/cycle1"/>
    <dgm:cxn modelId="{D20CAC30-0183-CB42-A8A9-0AFC074F1588}" type="presOf" srcId="{84CB8BD8-7FE2-314C-857D-8F31BB3DCAB9}" destId="{AEDC59F9-F84B-7240-9152-E3EB3F4F9402}" srcOrd="0" destOrd="0" presId="urn:microsoft.com/office/officeart/2005/8/layout/cycle1"/>
    <dgm:cxn modelId="{178F8946-0FF0-1642-9E15-C0C2C06AC4AA}" type="presOf" srcId="{1A9179BF-CA84-8148-A935-DAB41CBE1456}" destId="{64145C76-700E-144A-9D67-BA212F1EC65F}" srcOrd="0" destOrd="0" presId="urn:microsoft.com/office/officeart/2005/8/layout/cycle1"/>
    <dgm:cxn modelId="{2B11224E-A841-F44E-91DA-EEC9D0ED1FAC}" srcId="{84CB8BD8-7FE2-314C-857D-8F31BB3DCAB9}" destId="{90337749-14E4-214E-AB4E-6D76474F2188}" srcOrd="3" destOrd="0" parTransId="{8E3A7159-18EB-624A-9423-56007782FC1E}" sibTransId="{89ACD092-86ED-7446-A47E-96C762B3F86D}"/>
    <dgm:cxn modelId="{259C6F56-54A7-1244-81B5-2778FE45F461}" type="presOf" srcId="{9D6D22CD-A287-E345-8049-F9C98EF38571}" destId="{C0D2873E-A3FF-5C47-BEFD-898E66DF9FBA}" srcOrd="0" destOrd="0" presId="urn:microsoft.com/office/officeart/2005/8/layout/cycle1"/>
    <dgm:cxn modelId="{D42C105A-EC42-834C-B62A-A1042F25ED57}" type="presOf" srcId="{7A7CF05F-1090-6E40-B25C-DE5FF0A71712}" destId="{41E3703C-8E80-974E-9608-44DB50E48807}" srcOrd="0" destOrd="0" presId="urn:microsoft.com/office/officeart/2005/8/layout/cycle1"/>
    <dgm:cxn modelId="{093BDA69-EDEB-6E47-848D-965DE2D038A6}" type="presOf" srcId="{5E10D6A9-AFA9-0F43-8577-B368BA4C2768}" destId="{1F6D78F0-102A-5245-A79A-1B66AFA54F02}" srcOrd="0" destOrd="0" presId="urn:microsoft.com/office/officeart/2005/8/layout/cycle1"/>
    <dgm:cxn modelId="{B3E87A6B-C662-D541-A6B8-CD0267C4F518}" srcId="{84CB8BD8-7FE2-314C-857D-8F31BB3DCAB9}" destId="{D5A25FA1-C34B-1342-A5AE-1D54469C9353}" srcOrd="0" destOrd="0" parTransId="{EAD6A8A2-C837-334C-8BF9-5F891119FBD3}" sibTransId="{7A7CF05F-1090-6E40-B25C-DE5FF0A71712}"/>
    <dgm:cxn modelId="{C657C66F-0E99-1246-B020-7D2C78AD1925}" type="presOf" srcId="{90337749-14E4-214E-AB4E-6D76474F2188}" destId="{D7E2DB93-CFA6-6647-B8C5-E9B5EDEEF565}" srcOrd="0" destOrd="0" presId="urn:microsoft.com/office/officeart/2005/8/layout/cycle1"/>
    <dgm:cxn modelId="{52449779-30FA-994E-9562-1B1793C67C5E}" type="presOf" srcId="{55FC9061-DB55-894D-BE85-BC5EF8740F2B}" destId="{69EFB572-EB87-D949-B712-DFAF3D54C205}" srcOrd="0" destOrd="0" presId="urn:microsoft.com/office/officeart/2005/8/layout/cycle1"/>
    <dgm:cxn modelId="{C2E58A87-8451-354A-A7FF-D74940476477}" type="presOf" srcId="{89ACD092-86ED-7446-A47E-96C762B3F86D}" destId="{D5178222-410E-5342-9647-263A1CB1AEB8}" srcOrd="0" destOrd="0" presId="urn:microsoft.com/office/officeart/2005/8/layout/cycle1"/>
    <dgm:cxn modelId="{A990B08B-713D-FC4B-BE1A-6D58C3F3E328}" type="presOf" srcId="{B06D745E-4E98-8843-94AA-2A301E12B748}" destId="{8ABFB698-D27C-BA49-B7BD-B3AC9ECC641F}" srcOrd="0" destOrd="0" presId="urn:microsoft.com/office/officeart/2005/8/layout/cycle1"/>
    <dgm:cxn modelId="{3B729F94-8714-904E-A666-D79101A78FC0}" srcId="{84CB8BD8-7FE2-314C-857D-8F31BB3DCAB9}" destId="{55FC9061-DB55-894D-BE85-BC5EF8740F2B}" srcOrd="6" destOrd="0" parTransId="{7F891AC9-A5C0-104F-A7D9-D94AFFB0856B}" sibTransId="{1A9179BF-CA84-8148-A935-DAB41CBE1456}"/>
    <dgm:cxn modelId="{ADEEA798-5097-4844-84B7-7F60444C764D}" srcId="{84CB8BD8-7FE2-314C-857D-8F31BB3DCAB9}" destId="{EC662F9E-FA0C-8F4F-946D-75CDFF349CFF}" srcOrd="2" destOrd="0" parTransId="{BC885A85-14E6-D042-8755-4D66776C82DE}" sibTransId="{B06D745E-4E98-8843-94AA-2A301E12B748}"/>
    <dgm:cxn modelId="{F28DCD99-1DFC-E743-8F7B-8E2049B9939C}" srcId="{84CB8BD8-7FE2-314C-857D-8F31BB3DCAB9}" destId="{8E58B857-523A-9549-92AE-AD3D3A68F339}" srcOrd="4" destOrd="0" parTransId="{923F8F5F-5FAC-6E49-9775-4064156DA7E7}" sibTransId="{5E10D6A9-AFA9-0F43-8577-B368BA4C2768}"/>
    <dgm:cxn modelId="{5EE310A8-5B73-E945-BB34-F9629484F945}" type="presOf" srcId="{EC662F9E-FA0C-8F4F-946D-75CDFF349CFF}" destId="{08CA5058-C8EA-CA4F-803C-F2038F6F3730}" srcOrd="0" destOrd="0" presId="urn:microsoft.com/office/officeart/2005/8/layout/cycle1"/>
    <dgm:cxn modelId="{BB5BC5E6-0F50-2B49-936A-65AF26150512}" type="presOf" srcId="{8E58B857-523A-9549-92AE-AD3D3A68F339}" destId="{9A6282A1-1686-A748-BC52-CDE4C63A130C}" srcOrd="0" destOrd="0" presId="urn:microsoft.com/office/officeart/2005/8/layout/cycle1"/>
    <dgm:cxn modelId="{3E7FB5FD-E0F6-D04E-B8F9-CADB96B01165}" type="presOf" srcId="{36D5C54B-A69A-104C-971B-DB8CFD9FA4CC}" destId="{984664E5-6FD9-A440-A1CD-CE2CC112B8A4}" srcOrd="0" destOrd="0" presId="urn:microsoft.com/office/officeart/2005/8/layout/cycle1"/>
    <dgm:cxn modelId="{67F4B918-ECEE-CC40-83D1-41EE2608069F}" type="presParOf" srcId="{AEDC59F9-F84B-7240-9152-E3EB3F4F9402}" destId="{E5F773F9-948C-9F47-AE7C-04018B849F00}" srcOrd="0" destOrd="0" presId="urn:microsoft.com/office/officeart/2005/8/layout/cycle1"/>
    <dgm:cxn modelId="{AF925357-EFD0-1C43-8C3D-12C887518BC8}" type="presParOf" srcId="{AEDC59F9-F84B-7240-9152-E3EB3F4F9402}" destId="{E50B2949-CC65-824E-9A76-BDC2308FEF2E}" srcOrd="1" destOrd="0" presId="urn:microsoft.com/office/officeart/2005/8/layout/cycle1"/>
    <dgm:cxn modelId="{21964137-F0BE-5A49-AA55-2C97068B2365}" type="presParOf" srcId="{AEDC59F9-F84B-7240-9152-E3EB3F4F9402}" destId="{41E3703C-8E80-974E-9608-44DB50E48807}" srcOrd="2" destOrd="0" presId="urn:microsoft.com/office/officeart/2005/8/layout/cycle1"/>
    <dgm:cxn modelId="{E78113DC-3136-0640-9188-3304F0B27E14}" type="presParOf" srcId="{AEDC59F9-F84B-7240-9152-E3EB3F4F9402}" destId="{81E9744C-DCE3-3A4C-B1F4-D656F7EF923C}" srcOrd="3" destOrd="0" presId="urn:microsoft.com/office/officeart/2005/8/layout/cycle1"/>
    <dgm:cxn modelId="{B0DB2BAC-27AD-B44F-9C91-DEA1CC6E88E3}" type="presParOf" srcId="{AEDC59F9-F84B-7240-9152-E3EB3F4F9402}" destId="{359FF075-C711-664A-9EF9-1382FC94B094}" srcOrd="4" destOrd="0" presId="urn:microsoft.com/office/officeart/2005/8/layout/cycle1"/>
    <dgm:cxn modelId="{DD67CE84-9F1A-594B-A46A-723C7A03A7CE}" type="presParOf" srcId="{AEDC59F9-F84B-7240-9152-E3EB3F4F9402}" destId="{C0D2873E-A3FF-5C47-BEFD-898E66DF9FBA}" srcOrd="5" destOrd="0" presId="urn:microsoft.com/office/officeart/2005/8/layout/cycle1"/>
    <dgm:cxn modelId="{6035E51A-6AA8-9842-9930-C7D94C2C1350}" type="presParOf" srcId="{AEDC59F9-F84B-7240-9152-E3EB3F4F9402}" destId="{7586EA47-10AE-114B-835E-B6D9E6DB8825}" srcOrd="6" destOrd="0" presId="urn:microsoft.com/office/officeart/2005/8/layout/cycle1"/>
    <dgm:cxn modelId="{03B549FD-C30E-B845-AC6D-DE3A6FDB7E9C}" type="presParOf" srcId="{AEDC59F9-F84B-7240-9152-E3EB3F4F9402}" destId="{08CA5058-C8EA-CA4F-803C-F2038F6F3730}" srcOrd="7" destOrd="0" presId="urn:microsoft.com/office/officeart/2005/8/layout/cycle1"/>
    <dgm:cxn modelId="{A0881719-B529-5748-84E6-DCAAC7850BA2}" type="presParOf" srcId="{AEDC59F9-F84B-7240-9152-E3EB3F4F9402}" destId="{8ABFB698-D27C-BA49-B7BD-B3AC9ECC641F}" srcOrd="8" destOrd="0" presId="urn:microsoft.com/office/officeart/2005/8/layout/cycle1"/>
    <dgm:cxn modelId="{56671F64-E2C4-3D4B-9EDE-60523FF753EE}" type="presParOf" srcId="{AEDC59F9-F84B-7240-9152-E3EB3F4F9402}" destId="{01B6D211-7080-294B-B9C3-2C681266A9F3}" srcOrd="9" destOrd="0" presId="urn:microsoft.com/office/officeart/2005/8/layout/cycle1"/>
    <dgm:cxn modelId="{6F437F35-D793-4341-B2D1-265B6CC2DC77}" type="presParOf" srcId="{AEDC59F9-F84B-7240-9152-E3EB3F4F9402}" destId="{D7E2DB93-CFA6-6647-B8C5-E9B5EDEEF565}" srcOrd="10" destOrd="0" presId="urn:microsoft.com/office/officeart/2005/8/layout/cycle1"/>
    <dgm:cxn modelId="{3573A363-D0DD-D649-BC4F-E36D1C81415B}" type="presParOf" srcId="{AEDC59F9-F84B-7240-9152-E3EB3F4F9402}" destId="{D5178222-410E-5342-9647-263A1CB1AEB8}" srcOrd="11" destOrd="0" presId="urn:microsoft.com/office/officeart/2005/8/layout/cycle1"/>
    <dgm:cxn modelId="{ABD669A9-AF63-FA47-A333-6AC7035B88FD}" type="presParOf" srcId="{AEDC59F9-F84B-7240-9152-E3EB3F4F9402}" destId="{673B4ABD-0066-6542-AC0A-BFF3DF15B411}" srcOrd="12" destOrd="0" presId="urn:microsoft.com/office/officeart/2005/8/layout/cycle1"/>
    <dgm:cxn modelId="{91AE6402-29BF-0940-A659-5E7725C6F21F}" type="presParOf" srcId="{AEDC59F9-F84B-7240-9152-E3EB3F4F9402}" destId="{9A6282A1-1686-A748-BC52-CDE4C63A130C}" srcOrd="13" destOrd="0" presId="urn:microsoft.com/office/officeart/2005/8/layout/cycle1"/>
    <dgm:cxn modelId="{C778D8E0-8874-8846-BD7C-5B707FDA375C}" type="presParOf" srcId="{AEDC59F9-F84B-7240-9152-E3EB3F4F9402}" destId="{1F6D78F0-102A-5245-A79A-1B66AFA54F02}" srcOrd="14" destOrd="0" presId="urn:microsoft.com/office/officeart/2005/8/layout/cycle1"/>
    <dgm:cxn modelId="{B8756422-BA12-1C40-8F6C-71EF44315F6E}" type="presParOf" srcId="{AEDC59F9-F84B-7240-9152-E3EB3F4F9402}" destId="{1C6EE3ED-D012-1B48-875E-138A1F894710}" srcOrd="15" destOrd="0" presId="urn:microsoft.com/office/officeart/2005/8/layout/cycle1"/>
    <dgm:cxn modelId="{10447B49-11FA-B74D-A8B3-B5E2C0D693E8}" type="presParOf" srcId="{AEDC59F9-F84B-7240-9152-E3EB3F4F9402}" destId="{B02586E3-8412-2B45-A915-DED2F769F4F8}" srcOrd="16" destOrd="0" presId="urn:microsoft.com/office/officeart/2005/8/layout/cycle1"/>
    <dgm:cxn modelId="{102FB2DB-806A-604F-9E69-293CEC3D8C44}" type="presParOf" srcId="{AEDC59F9-F84B-7240-9152-E3EB3F4F9402}" destId="{984664E5-6FD9-A440-A1CD-CE2CC112B8A4}" srcOrd="17" destOrd="0" presId="urn:microsoft.com/office/officeart/2005/8/layout/cycle1"/>
    <dgm:cxn modelId="{6524E9D4-4B57-0D45-8F4F-3B611D8F93DF}" type="presParOf" srcId="{AEDC59F9-F84B-7240-9152-E3EB3F4F9402}" destId="{EBD333C6-0F7E-D943-AF20-06D13F62F3E9}" srcOrd="18" destOrd="0" presId="urn:microsoft.com/office/officeart/2005/8/layout/cycle1"/>
    <dgm:cxn modelId="{F38EA74B-3DFF-134F-9F2C-ADE1235707ED}" type="presParOf" srcId="{AEDC59F9-F84B-7240-9152-E3EB3F4F9402}" destId="{69EFB572-EB87-D949-B712-DFAF3D54C205}" srcOrd="19" destOrd="0" presId="urn:microsoft.com/office/officeart/2005/8/layout/cycle1"/>
    <dgm:cxn modelId="{3C3D832A-E96D-214E-9EA2-6354BFBD1AA6}" type="presParOf" srcId="{AEDC59F9-F84B-7240-9152-E3EB3F4F9402}" destId="{64145C76-700E-144A-9D67-BA212F1EC65F}" srcOrd="20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4CB8BD8-7FE2-314C-857D-8F31BB3DCAB9}" type="doc">
      <dgm:prSet loTypeId="urn:microsoft.com/office/officeart/2005/8/layout/cycle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5A25FA1-C34B-1342-A5AE-1D54469C9353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Reduced productivity</a:t>
          </a:r>
        </a:p>
      </dgm:t>
    </dgm:pt>
    <dgm:pt modelId="{EAD6A8A2-C837-334C-8BF9-5F891119FBD3}" type="parTrans" cxnId="{B3E87A6B-C662-D541-A6B8-CD0267C4F518}">
      <dgm:prSet/>
      <dgm:spPr/>
      <dgm:t>
        <a:bodyPr/>
        <a:lstStyle/>
        <a:p>
          <a:endParaRPr lang="en-US"/>
        </a:p>
      </dgm:t>
    </dgm:pt>
    <dgm:pt modelId="{7A7CF05F-1090-6E40-B25C-DE5FF0A71712}" type="sibTrans" cxnId="{B3E87A6B-C662-D541-A6B8-CD0267C4F518}">
      <dgm:prSet/>
      <dgm:spPr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2700000" scaled="1"/>
          <a:tileRect/>
        </a:gradFill>
      </dgm:spPr>
      <dgm:t>
        <a:bodyPr/>
        <a:lstStyle/>
        <a:p>
          <a:endParaRPr lang="en-US"/>
        </a:p>
      </dgm:t>
    </dgm:pt>
    <dgm:pt modelId="{C7E8C0C5-1654-C449-A59B-9B668783E345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Increased Absenteeism</a:t>
          </a:r>
        </a:p>
      </dgm:t>
    </dgm:pt>
    <dgm:pt modelId="{A91E2E73-EF43-2743-9834-62EEC97C7490}" type="parTrans" cxnId="{BFE32301-2B13-2143-8259-48A4F6CD26F3}">
      <dgm:prSet/>
      <dgm:spPr/>
      <dgm:t>
        <a:bodyPr/>
        <a:lstStyle/>
        <a:p>
          <a:endParaRPr lang="en-US"/>
        </a:p>
      </dgm:t>
    </dgm:pt>
    <dgm:pt modelId="{9D6D22CD-A287-E345-8049-F9C98EF38571}" type="sibTrans" cxnId="{BFE32301-2B13-2143-8259-48A4F6CD26F3}">
      <dgm:prSet/>
      <dgm:spPr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5400000" scaled="1"/>
          <a:tileRect/>
        </a:gradFill>
      </dgm:spPr>
      <dgm:t>
        <a:bodyPr/>
        <a:lstStyle/>
        <a:p>
          <a:endParaRPr lang="en-US"/>
        </a:p>
      </dgm:t>
    </dgm:pt>
    <dgm:pt modelId="{EC662F9E-FA0C-8F4F-946D-75CDFF349CFF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Elevated Healthcare Costs</a:t>
          </a:r>
        </a:p>
      </dgm:t>
    </dgm:pt>
    <dgm:pt modelId="{BC885A85-14E6-D042-8755-4D66776C82DE}" type="parTrans" cxnId="{ADEEA798-5097-4844-84B7-7F60444C764D}">
      <dgm:prSet/>
      <dgm:spPr/>
      <dgm:t>
        <a:bodyPr/>
        <a:lstStyle/>
        <a:p>
          <a:endParaRPr lang="en-US"/>
        </a:p>
      </dgm:t>
    </dgm:pt>
    <dgm:pt modelId="{B06D745E-4E98-8843-94AA-2A301E12B748}" type="sibTrans" cxnId="{ADEEA798-5097-4844-84B7-7F60444C764D}">
      <dgm:prSet/>
      <dgm:spPr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8100000" scaled="1"/>
          <a:tileRect/>
        </a:gradFill>
      </dgm:spPr>
      <dgm:t>
        <a:bodyPr/>
        <a:lstStyle/>
        <a:p>
          <a:endParaRPr lang="en-US"/>
        </a:p>
      </dgm:t>
    </dgm:pt>
    <dgm:pt modelId="{90337749-14E4-214E-AB4E-6D76474F2188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Higher Turnover</a:t>
          </a:r>
        </a:p>
      </dgm:t>
    </dgm:pt>
    <dgm:pt modelId="{8E3A7159-18EB-624A-9423-56007782FC1E}" type="parTrans" cxnId="{2B11224E-A841-F44E-91DA-EEC9D0ED1FAC}">
      <dgm:prSet/>
      <dgm:spPr/>
      <dgm:t>
        <a:bodyPr/>
        <a:lstStyle/>
        <a:p>
          <a:endParaRPr lang="en-US"/>
        </a:p>
      </dgm:t>
    </dgm:pt>
    <dgm:pt modelId="{89ACD092-86ED-7446-A47E-96C762B3F86D}" type="sibTrans" cxnId="{2B11224E-A841-F44E-91DA-EEC9D0ED1FAC}">
      <dgm:prSet/>
      <dgm:spPr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10800000" scaled="1"/>
          <a:tileRect/>
        </a:gradFill>
      </dgm:spPr>
      <dgm:t>
        <a:bodyPr/>
        <a:lstStyle/>
        <a:p>
          <a:endParaRPr lang="en-US"/>
        </a:p>
      </dgm:t>
    </dgm:pt>
    <dgm:pt modelId="{1574AD03-273E-104E-BF1E-C28F3B8FE080}">
      <dgm:prSet phldrT="[Text]"/>
      <dgm:spPr/>
      <dgm:t>
        <a:bodyPr/>
        <a:lstStyle/>
        <a:p>
          <a:r>
            <a:rPr lang="en-US" dirty="0">
              <a:solidFill>
                <a:srgbClr val="9A7352"/>
              </a:solidFill>
            </a:rPr>
            <a:t>Diminished Engagement/ Morale</a:t>
          </a:r>
        </a:p>
      </dgm:t>
    </dgm:pt>
    <dgm:pt modelId="{06475551-3FAA-1144-ACEC-89B500CAF429}" type="parTrans" cxnId="{EA80960B-F8AE-DC4D-8645-8BEC572011BD}">
      <dgm:prSet/>
      <dgm:spPr/>
      <dgm:t>
        <a:bodyPr/>
        <a:lstStyle/>
        <a:p>
          <a:endParaRPr lang="en-US"/>
        </a:p>
      </dgm:t>
    </dgm:pt>
    <dgm:pt modelId="{36D5C54B-A69A-104C-971B-DB8CFD9FA4CC}" type="sibTrans" cxnId="{EA80960B-F8AE-DC4D-8645-8BEC572011BD}">
      <dgm:prSet/>
      <dgm:spPr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18900000" scaled="1"/>
          <a:tileRect/>
        </a:gradFill>
      </dgm:spPr>
      <dgm:t>
        <a:bodyPr/>
        <a:lstStyle/>
        <a:p>
          <a:endParaRPr lang="en-US"/>
        </a:p>
      </dgm:t>
    </dgm:pt>
    <dgm:pt modelId="{8E58B857-523A-9549-92AE-AD3D3A68F339}">
      <dgm:prSet phldrT="[Text]"/>
      <dgm:spPr/>
      <dgm:t>
        <a:bodyPr/>
        <a:lstStyle/>
        <a:p>
          <a:r>
            <a:rPr lang="en-US" dirty="0"/>
            <a:t>Workplace Safety</a:t>
          </a:r>
        </a:p>
      </dgm:t>
    </dgm:pt>
    <dgm:pt modelId="{923F8F5F-5FAC-6E49-9775-4064156DA7E7}" type="parTrans" cxnId="{F28DCD99-1DFC-E743-8F7B-8E2049B9939C}">
      <dgm:prSet/>
      <dgm:spPr/>
      <dgm:t>
        <a:bodyPr/>
        <a:lstStyle/>
        <a:p>
          <a:endParaRPr lang="en-US"/>
        </a:p>
      </dgm:t>
    </dgm:pt>
    <dgm:pt modelId="{5E10D6A9-AFA9-0F43-8577-B368BA4C2768}" type="sibTrans" cxnId="{F28DCD99-1DFC-E743-8F7B-8E2049B9939C}">
      <dgm:prSet/>
      <dgm:spPr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16200000" scaled="1"/>
          <a:tileRect/>
        </a:gradFill>
      </dgm:spPr>
      <dgm:t>
        <a:bodyPr/>
        <a:lstStyle/>
        <a:p>
          <a:endParaRPr lang="en-US"/>
        </a:p>
      </dgm:t>
    </dgm:pt>
    <dgm:pt modelId="{55FC9061-DB55-894D-BE85-BC5EF8740F2B}">
      <dgm:prSet phldrT="[Text]"/>
      <dgm:spPr/>
      <dgm:t>
        <a:bodyPr/>
        <a:lstStyle/>
        <a:p>
          <a:r>
            <a:rPr lang="en-US" dirty="0"/>
            <a:t>Increased Presenteeism</a:t>
          </a:r>
        </a:p>
      </dgm:t>
    </dgm:pt>
    <dgm:pt modelId="{7F891AC9-A5C0-104F-A7D9-D94AFFB0856B}" type="parTrans" cxnId="{3B729F94-8714-904E-A666-D79101A78FC0}">
      <dgm:prSet/>
      <dgm:spPr/>
      <dgm:t>
        <a:bodyPr/>
        <a:lstStyle/>
        <a:p>
          <a:endParaRPr lang="en-US"/>
        </a:p>
      </dgm:t>
    </dgm:pt>
    <dgm:pt modelId="{1A9179BF-CA84-8148-A935-DAB41CBE1456}" type="sibTrans" cxnId="{3B729F94-8714-904E-A666-D79101A78FC0}">
      <dgm:prSet/>
      <dgm:spPr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0" scaled="1"/>
          <a:tileRect/>
        </a:gradFill>
      </dgm:spPr>
      <dgm:t>
        <a:bodyPr/>
        <a:lstStyle/>
        <a:p>
          <a:endParaRPr lang="en-US"/>
        </a:p>
      </dgm:t>
    </dgm:pt>
    <dgm:pt modelId="{AEDC59F9-F84B-7240-9152-E3EB3F4F9402}" type="pres">
      <dgm:prSet presAssocID="{84CB8BD8-7FE2-314C-857D-8F31BB3DCAB9}" presName="cycle" presStyleCnt="0">
        <dgm:presLayoutVars>
          <dgm:dir/>
          <dgm:resizeHandles val="exact"/>
        </dgm:presLayoutVars>
      </dgm:prSet>
      <dgm:spPr/>
    </dgm:pt>
    <dgm:pt modelId="{E5F773F9-948C-9F47-AE7C-04018B849F00}" type="pres">
      <dgm:prSet presAssocID="{D5A25FA1-C34B-1342-A5AE-1D54469C9353}" presName="dummy" presStyleCnt="0"/>
      <dgm:spPr/>
    </dgm:pt>
    <dgm:pt modelId="{E50B2949-CC65-824E-9A76-BDC2308FEF2E}" type="pres">
      <dgm:prSet presAssocID="{D5A25FA1-C34B-1342-A5AE-1D54469C9353}" presName="node" presStyleLbl="revTx" presStyleIdx="0" presStyleCnt="7">
        <dgm:presLayoutVars>
          <dgm:bulletEnabled val="1"/>
        </dgm:presLayoutVars>
      </dgm:prSet>
      <dgm:spPr/>
    </dgm:pt>
    <dgm:pt modelId="{41E3703C-8E80-974E-9608-44DB50E48807}" type="pres">
      <dgm:prSet presAssocID="{7A7CF05F-1090-6E40-B25C-DE5FF0A71712}" presName="sibTrans" presStyleLbl="node1" presStyleIdx="0" presStyleCnt="7"/>
      <dgm:spPr/>
    </dgm:pt>
    <dgm:pt modelId="{81E9744C-DCE3-3A4C-B1F4-D656F7EF923C}" type="pres">
      <dgm:prSet presAssocID="{C7E8C0C5-1654-C449-A59B-9B668783E345}" presName="dummy" presStyleCnt="0"/>
      <dgm:spPr/>
    </dgm:pt>
    <dgm:pt modelId="{359FF075-C711-664A-9EF9-1382FC94B094}" type="pres">
      <dgm:prSet presAssocID="{C7E8C0C5-1654-C449-A59B-9B668783E345}" presName="node" presStyleLbl="revTx" presStyleIdx="1" presStyleCnt="7">
        <dgm:presLayoutVars>
          <dgm:bulletEnabled val="1"/>
        </dgm:presLayoutVars>
      </dgm:prSet>
      <dgm:spPr/>
    </dgm:pt>
    <dgm:pt modelId="{C0D2873E-A3FF-5C47-BEFD-898E66DF9FBA}" type="pres">
      <dgm:prSet presAssocID="{9D6D22CD-A287-E345-8049-F9C98EF38571}" presName="sibTrans" presStyleLbl="node1" presStyleIdx="1" presStyleCnt="7"/>
      <dgm:spPr/>
    </dgm:pt>
    <dgm:pt modelId="{7586EA47-10AE-114B-835E-B6D9E6DB8825}" type="pres">
      <dgm:prSet presAssocID="{EC662F9E-FA0C-8F4F-946D-75CDFF349CFF}" presName="dummy" presStyleCnt="0"/>
      <dgm:spPr/>
    </dgm:pt>
    <dgm:pt modelId="{08CA5058-C8EA-CA4F-803C-F2038F6F3730}" type="pres">
      <dgm:prSet presAssocID="{EC662F9E-FA0C-8F4F-946D-75CDFF349CFF}" presName="node" presStyleLbl="revTx" presStyleIdx="2" presStyleCnt="7">
        <dgm:presLayoutVars>
          <dgm:bulletEnabled val="1"/>
        </dgm:presLayoutVars>
      </dgm:prSet>
      <dgm:spPr/>
    </dgm:pt>
    <dgm:pt modelId="{8ABFB698-D27C-BA49-B7BD-B3AC9ECC641F}" type="pres">
      <dgm:prSet presAssocID="{B06D745E-4E98-8843-94AA-2A301E12B748}" presName="sibTrans" presStyleLbl="node1" presStyleIdx="2" presStyleCnt="7"/>
      <dgm:spPr/>
    </dgm:pt>
    <dgm:pt modelId="{01B6D211-7080-294B-B9C3-2C681266A9F3}" type="pres">
      <dgm:prSet presAssocID="{90337749-14E4-214E-AB4E-6D76474F2188}" presName="dummy" presStyleCnt="0"/>
      <dgm:spPr/>
    </dgm:pt>
    <dgm:pt modelId="{D7E2DB93-CFA6-6647-B8C5-E9B5EDEEF565}" type="pres">
      <dgm:prSet presAssocID="{90337749-14E4-214E-AB4E-6D76474F2188}" presName="node" presStyleLbl="revTx" presStyleIdx="3" presStyleCnt="7">
        <dgm:presLayoutVars>
          <dgm:bulletEnabled val="1"/>
        </dgm:presLayoutVars>
      </dgm:prSet>
      <dgm:spPr/>
    </dgm:pt>
    <dgm:pt modelId="{D5178222-410E-5342-9647-263A1CB1AEB8}" type="pres">
      <dgm:prSet presAssocID="{89ACD092-86ED-7446-A47E-96C762B3F86D}" presName="sibTrans" presStyleLbl="node1" presStyleIdx="3" presStyleCnt="7"/>
      <dgm:spPr/>
    </dgm:pt>
    <dgm:pt modelId="{673B4ABD-0066-6542-AC0A-BFF3DF15B411}" type="pres">
      <dgm:prSet presAssocID="{8E58B857-523A-9549-92AE-AD3D3A68F339}" presName="dummy" presStyleCnt="0"/>
      <dgm:spPr/>
    </dgm:pt>
    <dgm:pt modelId="{9A6282A1-1686-A748-BC52-CDE4C63A130C}" type="pres">
      <dgm:prSet presAssocID="{8E58B857-523A-9549-92AE-AD3D3A68F339}" presName="node" presStyleLbl="revTx" presStyleIdx="4" presStyleCnt="7">
        <dgm:presLayoutVars>
          <dgm:bulletEnabled val="1"/>
        </dgm:presLayoutVars>
      </dgm:prSet>
      <dgm:spPr/>
    </dgm:pt>
    <dgm:pt modelId="{1F6D78F0-102A-5245-A79A-1B66AFA54F02}" type="pres">
      <dgm:prSet presAssocID="{5E10D6A9-AFA9-0F43-8577-B368BA4C2768}" presName="sibTrans" presStyleLbl="node1" presStyleIdx="4" presStyleCnt="7" custScaleX="100370" custScaleY="102524"/>
      <dgm:spPr/>
    </dgm:pt>
    <dgm:pt modelId="{1C6EE3ED-D012-1B48-875E-138A1F894710}" type="pres">
      <dgm:prSet presAssocID="{1574AD03-273E-104E-BF1E-C28F3B8FE080}" presName="dummy" presStyleCnt="0"/>
      <dgm:spPr/>
    </dgm:pt>
    <dgm:pt modelId="{B02586E3-8412-2B45-A915-DED2F769F4F8}" type="pres">
      <dgm:prSet presAssocID="{1574AD03-273E-104E-BF1E-C28F3B8FE080}" presName="node" presStyleLbl="revTx" presStyleIdx="5" presStyleCnt="7">
        <dgm:presLayoutVars>
          <dgm:bulletEnabled val="1"/>
        </dgm:presLayoutVars>
      </dgm:prSet>
      <dgm:spPr/>
    </dgm:pt>
    <dgm:pt modelId="{984664E5-6FD9-A440-A1CD-CE2CC112B8A4}" type="pres">
      <dgm:prSet presAssocID="{36D5C54B-A69A-104C-971B-DB8CFD9FA4CC}" presName="sibTrans" presStyleLbl="node1" presStyleIdx="5" presStyleCnt="7"/>
      <dgm:spPr/>
    </dgm:pt>
    <dgm:pt modelId="{EBD333C6-0F7E-D943-AF20-06D13F62F3E9}" type="pres">
      <dgm:prSet presAssocID="{55FC9061-DB55-894D-BE85-BC5EF8740F2B}" presName="dummy" presStyleCnt="0"/>
      <dgm:spPr/>
    </dgm:pt>
    <dgm:pt modelId="{69EFB572-EB87-D949-B712-DFAF3D54C205}" type="pres">
      <dgm:prSet presAssocID="{55FC9061-DB55-894D-BE85-BC5EF8740F2B}" presName="node" presStyleLbl="revTx" presStyleIdx="6" presStyleCnt="7">
        <dgm:presLayoutVars>
          <dgm:bulletEnabled val="1"/>
        </dgm:presLayoutVars>
      </dgm:prSet>
      <dgm:spPr/>
    </dgm:pt>
    <dgm:pt modelId="{64145C76-700E-144A-9D67-BA212F1EC65F}" type="pres">
      <dgm:prSet presAssocID="{1A9179BF-CA84-8148-A935-DAB41CBE1456}" presName="sibTrans" presStyleLbl="node1" presStyleIdx="6" presStyleCnt="7"/>
      <dgm:spPr/>
    </dgm:pt>
  </dgm:ptLst>
  <dgm:cxnLst>
    <dgm:cxn modelId="{BFE32301-2B13-2143-8259-48A4F6CD26F3}" srcId="{84CB8BD8-7FE2-314C-857D-8F31BB3DCAB9}" destId="{C7E8C0C5-1654-C449-A59B-9B668783E345}" srcOrd="1" destOrd="0" parTransId="{A91E2E73-EF43-2743-9834-62EEC97C7490}" sibTransId="{9D6D22CD-A287-E345-8049-F9C98EF38571}"/>
    <dgm:cxn modelId="{EA80960B-F8AE-DC4D-8645-8BEC572011BD}" srcId="{84CB8BD8-7FE2-314C-857D-8F31BB3DCAB9}" destId="{1574AD03-273E-104E-BF1E-C28F3B8FE080}" srcOrd="5" destOrd="0" parTransId="{06475551-3FAA-1144-ACEC-89B500CAF429}" sibTransId="{36D5C54B-A69A-104C-971B-DB8CFD9FA4CC}"/>
    <dgm:cxn modelId="{A8A23C19-003C-D443-BC7D-0605C635823E}" type="presOf" srcId="{C7E8C0C5-1654-C449-A59B-9B668783E345}" destId="{359FF075-C711-664A-9EF9-1382FC94B094}" srcOrd="0" destOrd="0" presId="urn:microsoft.com/office/officeart/2005/8/layout/cycle1"/>
    <dgm:cxn modelId="{50302F26-C15F-8648-9097-9224FD215B52}" type="presOf" srcId="{D5A25FA1-C34B-1342-A5AE-1D54469C9353}" destId="{E50B2949-CC65-824E-9A76-BDC2308FEF2E}" srcOrd="0" destOrd="0" presId="urn:microsoft.com/office/officeart/2005/8/layout/cycle1"/>
    <dgm:cxn modelId="{99C4332E-D609-2B4F-88D5-7E62F4FD9DCE}" type="presOf" srcId="{1574AD03-273E-104E-BF1E-C28F3B8FE080}" destId="{B02586E3-8412-2B45-A915-DED2F769F4F8}" srcOrd="0" destOrd="0" presId="urn:microsoft.com/office/officeart/2005/8/layout/cycle1"/>
    <dgm:cxn modelId="{D20CAC30-0183-CB42-A8A9-0AFC074F1588}" type="presOf" srcId="{84CB8BD8-7FE2-314C-857D-8F31BB3DCAB9}" destId="{AEDC59F9-F84B-7240-9152-E3EB3F4F9402}" srcOrd="0" destOrd="0" presId="urn:microsoft.com/office/officeart/2005/8/layout/cycle1"/>
    <dgm:cxn modelId="{178F8946-0FF0-1642-9E15-C0C2C06AC4AA}" type="presOf" srcId="{1A9179BF-CA84-8148-A935-DAB41CBE1456}" destId="{64145C76-700E-144A-9D67-BA212F1EC65F}" srcOrd="0" destOrd="0" presId="urn:microsoft.com/office/officeart/2005/8/layout/cycle1"/>
    <dgm:cxn modelId="{2B11224E-A841-F44E-91DA-EEC9D0ED1FAC}" srcId="{84CB8BD8-7FE2-314C-857D-8F31BB3DCAB9}" destId="{90337749-14E4-214E-AB4E-6D76474F2188}" srcOrd="3" destOrd="0" parTransId="{8E3A7159-18EB-624A-9423-56007782FC1E}" sibTransId="{89ACD092-86ED-7446-A47E-96C762B3F86D}"/>
    <dgm:cxn modelId="{259C6F56-54A7-1244-81B5-2778FE45F461}" type="presOf" srcId="{9D6D22CD-A287-E345-8049-F9C98EF38571}" destId="{C0D2873E-A3FF-5C47-BEFD-898E66DF9FBA}" srcOrd="0" destOrd="0" presId="urn:microsoft.com/office/officeart/2005/8/layout/cycle1"/>
    <dgm:cxn modelId="{D42C105A-EC42-834C-B62A-A1042F25ED57}" type="presOf" srcId="{7A7CF05F-1090-6E40-B25C-DE5FF0A71712}" destId="{41E3703C-8E80-974E-9608-44DB50E48807}" srcOrd="0" destOrd="0" presId="urn:microsoft.com/office/officeart/2005/8/layout/cycle1"/>
    <dgm:cxn modelId="{093BDA69-EDEB-6E47-848D-965DE2D038A6}" type="presOf" srcId="{5E10D6A9-AFA9-0F43-8577-B368BA4C2768}" destId="{1F6D78F0-102A-5245-A79A-1B66AFA54F02}" srcOrd="0" destOrd="0" presId="urn:microsoft.com/office/officeart/2005/8/layout/cycle1"/>
    <dgm:cxn modelId="{B3E87A6B-C662-D541-A6B8-CD0267C4F518}" srcId="{84CB8BD8-7FE2-314C-857D-8F31BB3DCAB9}" destId="{D5A25FA1-C34B-1342-A5AE-1D54469C9353}" srcOrd="0" destOrd="0" parTransId="{EAD6A8A2-C837-334C-8BF9-5F891119FBD3}" sibTransId="{7A7CF05F-1090-6E40-B25C-DE5FF0A71712}"/>
    <dgm:cxn modelId="{C657C66F-0E99-1246-B020-7D2C78AD1925}" type="presOf" srcId="{90337749-14E4-214E-AB4E-6D76474F2188}" destId="{D7E2DB93-CFA6-6647-B8C5-E9B5EDEEF565}" srcOrd="0" destOrd="0" presId="urn:microsoft.com/office/officeart/2005/8/layout/cycle1"/>
    <dgm:cxn modelId="{52449779-30FA-994E-9562-1B1793C67C5E}" type="presOf" srcId="{55FC9061-DB55-894D-BE85-BC5EF8740F2B}" destId="{69EFB572-EB87-D949-B712-DFAF3D54C205}" srcOrd="0" destOrd="0" presId="urn:microsoft.com/office/officeart/2005/8/layout/cycle1"/>
    <dgm:cxn modelId="{C2E58A87-8451-354A-A7FF-D74940476477}" type="presOf" srcId="{89ACD092-86ED-7446-A47E-96C762B3F86D}" destId="{D5178222-410E-5342-9647-263A1CB1AEB8}" srcOrd="0" destOrd="0" presId="urn:microsoft.com/office/officeart/2005/8/layout/cycle1"/>
    <dgm:cxn modelId="{A990B08B-713D-FC4B-BE1A-6D58C3F3E328}" type="presOf" srcId="{B06D745E-4E98-8843-94AA-2A301E12B748}" destId="{8ABFB698-D27C-BA49-B7BD-B3AC9ECC641F}" srcOrd="0" destOrd="0" presId="urn:microsoft.com/office/officeart/2005/8/layout/cycle1"/>
    <dgm:cxn modelId="{3B729F94-8714-904E-A666-D79101A78FC0}" srcId="{84CB8BD8-7FE2-314C-857D-8F31BB3DCAB9}" destId="{55FC9061-DB55-894D-BE85-BC5EF8740F2B}" srcOrd="6" destOrd="0" parTransId="{7F891AC9-A5C0-104F-A7D9-D94AFFB0856B}" sibTransId="{1A9179BF-CA84-8148-A935-DAB41CBE1456}"/>
    <dgm:cxn modelId="{ADEEA798-5097-4844-84B7-7F60444C764D}" srcId="{84CB8BD8-7FE2-314C-857D-8F31BB3DCAB9}" destId="{EC662F9E-FA0C-8F4F-946D-75CDFF349CFF}" srcOrd="2" destOrd="0" parTransId="{BC885A85-14E6-D042-8755-4D66776C82DE}" sibTransId="{B06D745E-4E98-8843-94AA-2A301E12B748}"/>
    <dgm:cxn modelId="{F28DCD99-1DFC-E743-8F7B-8E2049B9939C}" srcId="{84CB8BD8-7FE2-314C-857D-8F31BB3DCAB9}" destId="{8E58B857-523A-9549-92AE-AD3D3A68F339}" srcOrd="4" destOrd="0" parTransId="{923F8F5F-5FAC-6E49-9775-4064156DA7E7}" sibTransId="{5E10D6A9-AFA9-0F43-8577-B368BA4C2768}"/>
    <dgm:cxn modelId="{5EE310A8-5B73-E945-BB34-F9629484F945}" type="presOf" srcId="{EC662F9E-FA0C-8F4F-946D-75CDFF349CFF}" destId="{08CA5058-C8EA-CA4F-803C-F2038F6F3730}" srcOrd="0" destOrd="0" presId="urn:microsoft.com/office/officeart/2005/8/layout/cycle1"/>
    <dgm:cxn modelId="{BB5BC5E6-0F50-2B49-936A-65AF26150512}" type="presOf" srcId="{8E58B857-523A-9549-92AE-AD3D3A68F339}" destId="{9A6282A1-1686-A748-BC52-CDE4C63A130C}" srcOrd="0" destOrd="0" presId="urn:microsoft.com/office/officeart/2005/8/layout/cycle1"/>
    <dgm:cxn modelId="{3E7FB5FD-E0F6-D04E-B8F9-CADB96B01165}" type="presOf" srcId="{36D5C54B-A69A-104C-971B-DB8CFD9FA4CC}" destId="{984664E5-6FD9-A440-A1CD-CE2CC112B8A4}" srcOrd="0" destOrd="0" presId="urn:microsoft.com/office/officeart/2005/8/layout/cycle1"/>
    <dgm:cxn modelId="{67F4B918-ECEE-CC40-83D1-41EE2608069F}" type="presParOf" srcId="{AEDC59F9-F84B-7240-9152-E3EB3F4F9402}" destId="{E5F773F9-948C-9F47-AE7C-04018B849F00}" srcOrd="0" destOrd="0" presId="urn:microsoft.com/office/officeart/2005/8/layout/cycle1"/>
    <dgm:cxn modelId="{AF925357-EFD0-1C43-8C3D-12C887518BC8}" type="presParOf" srcId="{AEDC59F9-F84B-7240-9152-E3EB3F4F9402}" destId="{E50B2949-CC65-824E-9A76-BDC2308FEF2E}" srcOrd="1" destOrd="0" presId="urn:microsoft.com/office/officeart/2005/8/layout/cycle1"/>
    <dgm:cxn modelId="{21964137-F0BE-5A49-AA55-2C97068B2365}" type="presParOf" srcId="{AEDC59F9-F84B-7240-9152-E3EB3F4F9402}" destId="{41E3703C-8E80-974E-9608-44DB50E48807}" srcOrd="2" destOrd="0" presId="urn:microsoft.com/office/officeart/2005/8/layout/cycle1"/>
    <dgm:cxn modelId="{E78113DC-3136-0640-9188-3304F0B27E14}" type="presParOf" srcId="{AEDC59F9-F84B-7240-9152-E3EB3F4F9402}" destId="{81E9744C-DCE3-3A4C-B1F4-D656F7EF923C}" srcOrd="3" destOrd="0" presId="urn:microsoft.com/office/officeart/2005/8/layout/cycle1"/>
    <dgm:cxn modelId="{B0DB2BAC-27AD-B44F-9C91-DEA1CC6E88E3}" type="presParOf" srcId="{AEDC59F9-F84B-7240-9152-E3EB3F4F9402}" destId="{359FF075-C711-664A-9EF9-1382FC94B094}" srcOrd="4" destOrd="0" presId="urn:microsoft.com/office/officeart/2005/8/layout/cycle1"/>
    <dgm:cxn modelId="{DD67CE84-9F1A-594B-A46A-723C7A03A7CE}" type="presParOf" srcId="{AEDC59F9-F84B-7240-9152-E3EB3F4F9402}" destId="{C0D2873E-A3FF-5C47-BEFD-898E66DF9FBA}" srcOrd="5" destOrd="0" presId="urn:microsoft.com/office/officeart/2005/8/layout/cycle1"/>
    <dgm:cxn modelId="{6035E51A-6AA8-9842-9930-C7D94C2C1350}" type="presParOf" srcId="{AEDC59F9-F84B-7240-9152-E3EB3F4F9402}" destId="{7586EA47-10AE-114B-835E-B6D9E6DB8825}" srcOrd="6" destOrd="0" presId="urn:microsoft.com/office/officeart/2005/8/layout/cycle1"/>
    <dgm:cxn modelId="{03B549FD-C30E-B845-AC6D-DE3A6FDB7E9C}" type="presParOf" srcId="{AEDC59F9-F84B-7240-9152-E3EB3F4F9402}" destId="{08CA5058-C8EA-CA4F-803C-F2038F6F3730}" srcOrd="7" destOrd="0" presId="urn:microsoft.com/office/officeart/2005/8/layout/cycle1"/>
    <dgm:cxn modelId="{A0881719-B529-5748-84E6-DCAAC7850BA2}" type="presParOf" srcId="{AEDC59F9-F84B-7240-9152-E3EB3F4F9402}" destId="{8ABFB698-D27C-BA49-B7BD-B3AC9ECC641F}" srcOrd="8" destOrd="0" presId="urn:microsoft.com/office/officeart/2005/8/layout/cycle1"/>
    <dgm:cxn modelId="{56671F64-E2C4-3D4B-9EDE-60523FF753EE}" type="presParOf" srcId="{AEDC59F9-F84B-7240-9152-E3EB3F4F9402}" destId="{01B6D211-7080-294B-B9C3-2C681266A9F3}" srcOrd="9" destOrd="0" presId="urn:microsoft.com/office/officeart/2005/8/layout/cycle1"/>
    <dgm:cxn modelId="{6F437F35-D793-4341-B2D1-265B6CC2DC77}" type="presParOf" srcId="{AEDC59F9-F84B-7240-9152-E3EB3F4F9402}" destId="{D7E2DB93-CFA6-6647-B8C5-E9B5EDEEF565}" srcOrd="10" destOrd="0" presId="urn:microsoft.com/office/officeart/2005/8/layout/cycle1"/>
    <dgm:cxn modelId="{3573A363-D0DD-D649-BC4F-E36D1C81415B}" type="presParOf" srcId="{AEDC59F9-F84B-7240-9152-E3EB3F4F9402}" destId="{D5178222-410E-5342-9647-263A1CB1AEB8}" srcOrd="11" destOrd="0" presId="urn:microsoft.com/office/officeart/2005/8/layout/cycle1"/>
    <dgm:cxn modelId="{ABD669A9-AF63-FA47-A333-6AC7035B88FD}" type="presParOf" srcId="{AEDC59F9-F84B-7240-9152-E3EB3F4F9402}" destId="{673B4ABD-0066-6542-AC0A-BFF3DF15B411}" srcOrd="12" destOrd="0" presId="urn:microsoft.com/office/officeart/2005/8/layout/cycle1"/>
    <dgm:cxn modelId="{91AE6402-29BF-0940-A659-5E7725C6F21F}" type="presParOf" srcId="{AEDC59F9-F84B-7240-9152-E3EB3F4F9402}" destId="{9A6282A1-1686-A748-BC52-CDE4C63A130C}" srcOrd="13" destOrd="0" presId="urn:microsoft.com/office/officeart/2005/8/layout/cycle1"/>
    <dgm:cxn modelId="{C778D8E0-8874-8846-BD7C-5B707FDA375C}" type="presParOf" srcId="{AEDC59F9-F84B-7240-9152-E3EB3F4F9402}" destId="{1F6D78F0-102A-5245-A79A-1B66AFA54F02}" srcOrd="14" destOrd="0" presId="urn:microsoft.com/office/officeart/2005/8/layout/cycle1"/>
    <dgm:cxn modelId="{B8756422-BA12-1C40-8F6C-71EF44315F6E}" type="presParOf" srcId="{AEDC59F9-F84B-7240-9152-E3EB3F4F9402}" destId="{1C6EE3ED-D012-1B48-875E-138A1F894710}" srcOrd="15" destOrd="0" presId="urn:microsoft.com/office/officeart/2005/8/layout/cycle1"/>
    <dgm:cxn modelId="{10447B49-11FA-B74D-A8B3-B5E2C0D693E8}" type="presParOf" srcId="{AEDC59F9-F84B-7240-9152-E3EB3F4F9402}" destId="{B02586E3-8412-2B45-A915-DED2F769F4F8}" srcOrd="16" destOrd="0" presId="urn:microsoft.com/office/officeart/2005/8/layout/cycle1"/>
    <dgm:cxn modelId="{102FB2DB-806A-604F-9E69-293CEC3D8C44}" type="presParOf" srcId="{AEDC59F9-F84B-7240-9152-E3EB3F4F9402}" destId="{984664E5-6FD9-A440-A1CD-CE2CC112B8A4}" srcOrd="17" destOrd="0" presId="urn:microsoft.com/office/officeart/2005/8/layout/cycle1"/>
    <dgm:cxn modelId="{6524E9D4-4B57-0D45-8F4F-3B611D8F93DF}" type="presParOf" srcId="{AEDC59F9-F84B-7240-9152-E3EB3F4F9402}" destId="{EBD333C6-0F7E-D943-AF20-06D13F62F3E9}" srcOrd="18" destOrd="0" presId="urn:microsoft.com/office/officeart/2005/8/layout/cycle1"/>
    <dgm:cxn modelId="{F38EA74B-3DFF-134F-9F2C-ADE1235707ED}" type="presParOf" srcId="{AEDC59F9-F84B-7240-9152-E3EB3F4F9402}" destId="{69EFB572-EB87-D949-B712-DFAF3D54C205}" srcOrd="19" destOrd="0" presId="urn:microsoft.com/office/officeart/2005/8/layout/cycle1"/>
    <dgm:cxn modelId="{3C3D832A-E96D-214E-9EA2-6354BFBD1AA6}" type="presParOf" srcId="{AEDC59F9-F84B-7240-9152-E3EB3F4F9402}" destId="{64145C76-700E-144A-9D67-BA212F1EC65F}" srcOrd="20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4CB8BD8-7FE2-314C-857D-8F31BB3DCAB9}" type="doc">
      <dgm:prSet loTypeId="urn:microsoft.com/office/officeart/2005/8/layout/cycle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5A25FA1-C34B-1342-A5AE-1D54469C9353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Reduced productivity</a:t>
          </a:r>
        </a:p>
      </dgm:t>
    </dgm:pt>
    <dgm:pt modelId="{EAD6A8A2-C837-334C-8BF9-5F891119FBD3}" type="parTrans" cxnId="{B3E87A6B-C662-D541-A6B8-CD0267C4F518}">
      <dgm:prSet/>
      <dgm:spPr/>
      <dgm:t>
        <a:bodyPr/>
        <a:lstStyle/>
        <a:p>
          <a:endParaRPr lang="en-US"/>
        </a:p>
      </dgm:t>
    </dgm:pt>
    <dgm:pt modelId="{7A7CF05F-1090-6E40-B25C-DE5FF0A71712}" type="sibTrans" cxnId="{B3E87A6B-C662-D541-A6B8-CD0267C4F518}">
      <dgm:prSet/>
      <dgm:spPr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2700000" scaled="1"/>
          <a:tileRect/>
        </a:gradFill>
      </dgm:spPr>
      <dgm:t>
        <a:bodyPr/>
        <a:lstStyle/>
        <a:p>
          <a:endParaRPr lang="en-US"/>
        </a:p>
      </dgm:t>
    </dgm:pt>
    <dgm:pt modelId="{C7E8C0C5-1654-C449-A59B-9B668783E345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Increased Absenteeism</a:t>
          </a:r>
        </a:p>
      </dgm:t>
    </dgm:pt>
    <dgm:pt modelId="{A91E2E73-EF43-2743-9834-62EEC97C7490}" type="parTrans" cxnId="{BFE32301-2B13-2143-8259-48A4F6CD26F3}">
      <dgm:prSet/>
      <dgm:spPr/>
      <dgm:t>
        <a:bodyPr/>
        <a:lstStyle/>
        <a:p>
          <a:endParaRPr lang="en-US"/>
        </a:p>
      </dgm:t>
    </dgm:pt>
    <dgm:pt modelId="{9D6D22CD-A287-E345-8049-F9C98EF38571}" type="sibTrans" cxnId="{BFE32301-2B13-2143-8259-48A4F6CD26F3}">
      <dgm:prSet/>
      <dgm:spPr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5400000" scaled="1"/>
          <a:tileRect/>
        </a:gradFill>
      </dgm:spPr>
      <dgm:t>
        <a:bodyPr/>
        <a:lstStyle/>
        <a:p>
          <a:endParaRPr lang="en-US"/>
        </a:p>
      </dgm:t>
    </dgm:pt>
    <dgm:pt modelId="{EC662F9E-FA0C-8F4F-946D-75CDFF349CFF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Elevated Healthcare Costs</a:t>
          </a:r>
        </a:p>
      </dgm:t>
    </dgm:pt>
    <dgm:pt modelId="{BC885A85-14E6-D042-8755-4D66776C82DE}" type="parTrans" cxnId="{ADEEA798-5097-4844-84B7-7F60444C764D}">
      <dgm:prSet/>
      <dgm:spPr/>
      <dgm:t>
        <a:bodyPr/>
        <a:lstStyle/>
        <a:p>
          <a:endParaRPr lang="en-US"/>
        </a:p>
      </dgm:t>
    </dgm:pt>
    <dgm:pt modelId="{B06D745E-4E98-8843-94AA-2A301E12B748}" type="sibTrans" cxnId="{ADEEA798-5097-4844-84B7-7F60444C764D}">
      <dgm:prSet/>
      <dgm:spPr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8100000" scaled="1"/>
          <a:tileRect/>
        </a:gradFill>
      </dgm:spPr>
      <dgm:t>
        <a:bodyPr/>
        <a:lstStyle/>
        <a:p>
          <a:endParaRPr lang="en-US"/>
        </a:p>
      </dgm:t>
    </dgm:pt>
    <dgm:pt modelId="{90337749-14E4-214E-AB4E-6D76474F2188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Higher Turnover</a:t>
          </a:r>
        </a:p>
      </dgm:t>
    </dgm:pt>
    <dgm:pt modelId="{8E3A7159-18EB-624A-9423-56007782FC1E}" type="parTrans" cxnId="{2B11224E-A841-F44E-91DA-EEC9D0ED1FAC}">
      <dgm:prSet/>
      <dgm:spPr/>
      <dgm:t>
        <a:bodyPr/>
        <a:lstStyle/>
        <a:p>
          <a:endParaRPr lang="en-US"/>
        </a:p>
      </dgm:t>
    </dgm:pt>
    <dgm:pt modelId="{89ACD092-86ED-7446-A47E-96C762B3F86D}" type="sibTrans" cxnId="{2B11224E-A841-F44E-91DA-EEC9D0ED1FAC}">
      <dgm:prSet/>
      <dgm:spPr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10800000" scaled="1"/>
          <a:tileRect/>
        </a:gradFill>
      </dgm:spPr>
      <dgm:t>
        <a:bodyPr/>
        <a:lstStyle/>
        <a:p>
          <a:endParaRPr lang="en-US"/>
        </a:p>
      </dgm:t>
    </dgm:pt>
    <dgm:pt modelId="{1574AD03-273E-104E-BF1E-C28F3B8FE080}">
      <dgm:prSet phldrT="[Text]"/>
      <dgm:spPr/>
      <dgm:t>
        <a:bodyPr/>
        <a:lstStyle/>
        <a:p>
          <a:r>
            <a:rPr lang="en-US" dirty="0"/>
            <a:t>Diminished Engagement/ Morale</a:t>
          </a:r>
        </a:p>
      </dgm:t>
    </dgm:pt>
    <dgm:pt modelId="{06475551-3FAA-1144-ACEC-89B500CAF429}" type="parTrans" cxnId="{EA80960B-F8AE-DC4D-8645-8BEC572011BD}">
      <dgm:prSet/>
      <dgm:spPr/>
      <dgm:t>
        <a:bodyPr/>
        <a:lstStyle/>
        <a:p>
          <a:endParaRPr lang="en-US"/>
        </a:p>
      </dgm:t>
    </dgm:pt>
    <dgm:pt modelId="{36D5C54B-A69A-104C-971B-DB8CFD9FA4CC}" type="sibTrans" cxnId="{EA80960B-F8AE-DC4D-8645-8BEC572011BD}">
      <dgm:prSet/>
      <dgm:spPr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18900000" scaled="1"/>
          <a:tileRect/>
        </a:gradFill>
      </dgm:spPr>
      <dgm:t>
        <a:bodyPr/>
        <a:lstStyle/>
        <a:p>
          <a:endParaRPr lang="en-US"/>
        </a:p>
      </dgm:t>
    </dgm:pt>
    <dgm:pt modelId="{8E58B857-523A-9549-92AE-AD3D3A68F339}">
      <dgm:prSet phldrT="[Text]"/>
      <dgm:spPr/>
      <dgm:t>
        <a:bodyPr/>
        <a:lstStyle/>
        <a:p>
          <a:r>
            <a:rPr lang="en-US" dirty="0">
              <a:solidFill>
                <a:srgbClr val="9A7352"/>
              </a:solidFill>
            </a:rPr>
            <a:t>Workplace Safety</a:t>
          </a:r>
        </a:p>
      </dgm:t>
    </dgm:pt>
    <dgm:pt modelId="{923F8F5F-5FAC-6E49-9775-4064156DA7E7}" type="parTrans" cxnId="{F28DCD99-1DFC-E743-8F7B-8E2049B9939C}">
      <dgm:prSet/>
      <dgm:spPr/>
      <dgm:t>
        <a:bodyPr/>
        <a:lstStyle/>
        <a:p>
          <a:endParaRPr lang="en-US"/>
        </a:p>
      </dgm:t>
    </dgm:pt>
    <dgm:pt modelId="{5E10D6A9-AFA9-0F43-8577-B368BA4C2768}" type="sibTrans" cxnId="{F28DCD99-1DFC-E743-8F7B-8E2049B9939C}">
      <dgm:prSet/>
      <dgm:spPr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16200000" scaled="1"/>
          <a:tileRect/>
        </a:gradFill>
      </dgm:spPr>
      <dgm:t>
        <a:bodyPr/>
        <a:lstStyle/>
        <a:p>
          <a:endParaRPr lang="en-US"/>
        </a:p>
      </dgm:t>
    </dgm:pt>
    <dgm:pt modelId="{55FC9061-DB55-894D-BE85-BC5EF8740F2B}">
      <dgm:prSet phldrT="[Text]"/>
      <dgm:spPr/>
      <dgm:t>
        <a:bodyPr/>
        <a:lstStyle/>
        <a:p>
          <a:r>
            <a:rPr lang="en-US" dirty="0"/>
            <a:t>Increased Presenteeism</a:t>
          </a:r>
        </a:p>
      </dgm:t>
    </dgm:pt>
    <dgm:pt modelId="{7F891AC9-A5C0-104F-A7D9-D94AFFB0856B}" type="parTrans" cxnId="{3B729F94-8714-904E-A666-D79101A78FC0}">
      <dgm:prSet/>
      <dgm:spPr/>
      <dgm:t>
        <a:bodyPr/>
        <a:lstStyle/>
        <a:p>
          <a:endParaRPr lang="en-US"/>
        </a:p>
      </dgm:t>
    </dgm:pt>
    <dgm:pt modelId="{1A9179BF-CA84-8148-A935-DAB41CBE1456}" type="sibTrans" cxnId="{3B729F94-8714-904E-A666-D79101A78FC0}">
      <dgm:prSet/>
      <dgm:spPr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0" scaled="1"/>
          <a:tileRect/>
        </a:gradFill>
      </dgm:spPr>
      <dgm:t>
        <a:bodyPr/>
        <a:lstStyle/>
        <a:p>
          <a:endParaRPr lang="en-US"/>
        </a:p>
      </dgm:t>
    </dgm:pt>
    <dgm:pt modelId="{AEDC59F9-F84B-7240-9152-E3EB3F4F9402}" type="pres">
      <dgm:prSet presAssocID="{84CB8BD8-7FE2-314C-857D-8F31BB3DCAB9}" presName="cycle" presStyleCnt="0">
        <dgm:presLayoutVars>
          <dgm:dir/>
          <dgm:resizeHandles val="exact"/>
        </dgm:presLayoutVars>
      </dgm:prSet>
      <dgm:spPr/>
    </dgm:pt>
    <dgm:pt modelId="{E5F773F9-948C-9F47-AE7C-04018B849F00}" type="pres">
      <dgm:prSet presAssocID="{D5A25FA1-C34B-1342-A5AE-1D54469C9353}" presName="dummy" presStyleCnt="0"/>
      <dgm:spPr/>
    </dgm:pt>
    <dgm:pt modelId="{E50B2949-CC65-824E-9A76-BDC2308FEF2E}" type="pres">
      <dgm:prSet presAssocID="{D5A25FA1-C34B-1342-A5AE-1D54469C9353}" presName="node" presStyleLbl="revTx" presStyleIdx="0" presStyleCnt="7">
        <dgm:presLayoutVars>
          <dgm:bulletEnabled val="1"/>
        </dgm:presLayoutVars>
      </dgm:prSet>
      <dgm:spPr/>
    </dgm:pt>
    <dgm:pt modelId="{41E3703C-8E80-974E-9608-44DB50E48807}" type="pres">
      <dgm:prSet presAssocID="{7A7CF05F-1090-6E40-B25C-DE5FF0A71712}" presName="sibTrans" presStyleLbl="node1" presStyleIdx="0" presStyleCnt="7"/>
      <dgm:spPr/>
    </dgm:pt>
    <dgm:pt modelId="{81E9744C-DCE3-3A4C-B1F4-D656F7EF923C}" type="pres">
      <dgm:prSet presAssocID="{C7E8C0C5-1654-C449-A59B-9B668783E345}" presName="dummy" presStyleCnt="0"/>
      <dgm:spPr/>
    </dgm:pt>
    <dgm:pt modelId="{359FF075-C711-664A-9EF9-1382FC94B094}" type="pres">
      <dgm:prSet presAssocID="{C7E8C0C5-1654-C449-A59B-9B668783E345}" presName="node" presStyleLbl="revTx" presStyleIdx="1" presStyleCnt="7">
        <dgm:presLayoutVars>
          <dgm:bulletEnabled val="1"/>
        </dgm:presLayoutVars>
      </dgm:prSet>
      <dgm:spPr/>
    </dgm:pt>
    <dgm:pt modelId="{C0D2873E-A3FF-5C47-BEFD-898E66DF9FBA}" type="pres">
      <dgm:prSet presAssocID="{9D6D22CD-A287-E345-8049-F9C98EF38571}" presName="sibTrans" presStyleLbl="node1" presStyleIdx="1" presStyleCnt="7"/>
      <dgm:spPr/>
    </dgm:pt>
    <dgm:pt modelId="{7586EA47-10AE-114B-835E-B6D9E6DB8825}" type="pres">
      <dgm:prSet presAssocID="{EC662F9E-FA0C-8F4F-946D-75CDFF349CFF}" presName="dummy" presStyleCnt="0"/>
      <dgm:spPr/>
    </dgm:pt>
    <dgm:pt modelId="{08CA5058-C8EA-CA4F-803C-F2038F6F3730}" type="pres">
      <dgm:prSet presAssocID="{EC662F9E-FA0C-8F4F-946D-75CDFF349CFF}" presName="node" presStyleLbl="revTx" presStyleIdx="2" presStyleCnt="7">
        <dgm:presLayoutVars>
          <dgm:bulletEnabled val="1"/>
        </dgm:presLayoutVars>
      </dgm:prSet>
      <dgm:spPr/>
    </dgm:pt>
    <dgm:pt modelId="{8ABFB698-D27C-BA49-B7BD-B3AC9ECC641F}" type="pres">
      <dgm:prSet presAssocID="{B06D745E-4E98-8843-94AA-2A301E12B748}" presName="sibTrans" presStyleLbl="node1" presStyleIdx="2" presStyleCnt="7"/>
      <dgm:spPr/>
    </dgm:pt>
    <dgm:pt modelId="{01B6D211-7080-294B-B9C3-2C681266A9F3}" type="pres">
      <dgm:prSet presAssocID="{90337749-14E4-214E-AB4E-6D76474F2188}" presName="dummy" presStyleCnt="0"/>
      <dgm:spPr/>
    </dgm:pt>
    <dgm:pt modelId="{D7E2DB93-CFA6-6647-B8C5-E9B5EDEEF565}" type="pres">
      <dgm:prSet presAssocID="{90337749-14E4-214E-AB4E-6D76474F2188}" presName="node" presStyleLbl="revTx" presStyleIdx="3" presStyleCnt="7">
        <dgm:presLayoutVars>
          <dgm:bulletEnabled val="1"/>
        </dgm:presLayoutVars>
      </dgm:prSet>
      <dgm:spPr/>
    </dgm:pt>
    <dgm:pt modelId="{D5178222-410E-5342-9647-263A1CB1AEB8}" type="pres">
      <dgm:prSet presAssocID="{89ACD092-86ED-7446-A47E-96C762B3F86D}" presName="sibTrans" presStyleLbl="node1" presStyleIdx="3" presStyleCnt="7"/>
      <dgm:spPr/>
    </dgm:pt>
    <dgm:pt modelId="{673B4ABD-0066-6542-AC0A-BFF3DF15B411}" type="pres">
      <dgm:prSet presAssocID="{8E58B857-523A-9549-92AE-AD3D3A68F339}" presName="dummy" presStyleCnt="0"/>
      <dgm:spPr/>
    </dgm:pt>
    <dgm:pt modelId="{9A6282A1-1686-A748-BC52-CDE4C63A130C}" type="pres">
      <dgm:prSet presAssocID="{8E58B857-523A-9549-92AE-AD3D3A68F339}" presName="node" presStyleLbl="revTx" presStyleIdx="4" presStyleCnt="7">
        <dgm:presLayoutVars>
          <dgm:bulletEnabled val="1"/>
        </dgm:presLayoutVars>
      </dgm:prSet>
      <dgm:spPr/>
    </dgm:pt>
    <dgm:pt modelId="{1F6D78F0-102A-5245-A79A-1B66AFA54F02}" type="pres">
      <dgm:prSet presAssocID="{5E10D6A9-AFA9-0F43-8577-B368BA4C2768}" presName="sibTrans" presStyleLbl="node1" presStyleIdx="4" presStyleCnt="7" custScaleX="100370" custScaleY="102524"/>
      <dgm:spPr/>
    </dgm:pt>
    <dgm:pt modelId="{1C6EE3ED-D012-1B48-875E-138A1F894710}" type="pres">
      <dgm:prSet presAssocID="{1574AD03-273E-104E-BF1E-C28F3B8FE080}" presName="dummy" presStyleCnt="0"/>
      <dgm:spPr/>
    </dgm:pt>
    <dgm:pt modelId="{B02586E3-8412-2B45-A915-DED2F769F4F8}" type="pres">
      <dgm:prSet presAssocID="{1574AD03-273E-104E-BF1E-C28F3B8FE080}" presName="node" presStyleLbl="revTx" presStyleIdx="5" presStyleCnt="7">
        <dgm:presLayoutVars>
          <dgm:bulletEnabled val="1"/>
        </dgm:presLayoutVars>
      </dgm:prSet>
      <dgm:spPr/>
    </dgm:pt>
    <dgm:pt modelId="{984664E5-6FD9-A440-A1CD-CE2CC112B8A4}" type="pres">
      <dgm:prSet presAssocID="{36D5C54B-A69A-104C-971B-DB8CFD9FA4CC}" presName="sibTrans" presStyleLbl="node1" presStyleIdx="5" presStyleCnt="7"/>
      <dgm:spPr/>
    </dgm:pt>
    <dgm:pt modelId="{EBD333C6-0F7E-D943-AF20-06D13F62F3E9}" type="pres">
      <dgm:prSet presAssocID="{55FC9061-DB55-894D-BE85-BC5EF8740F2B}" presName="dummy" presStyleCnt="0"/>
      <dgm:spPr/>
    </dgm:pt>
    <dgm:pt modelId="{69EFB572-EB87-D949-B712-DFAF3D54C205}" type="pres">
      <dgm:prSet presAssocID="{55FC9061-DB55-894D-BE85-BC5EF8740F2B}" presName="node" presStyleLbl="revTx" presStyleIdx="6" presStyleCnt="7">
        <dgm:presLayoutVars>
          <dgm:bulletEnabled val="1"/>
        </dgm:presLayoutVars>
      </dgm:prSet>
      <dgm:spPr/>
    </dgm:pt>
    <dgm:pt modelId="{64145C76-700E-144A-9D67-BA212F1EC65F}" type="pres">
      <dgm:prSet presAssocID="{1A9179BF-CA84-8148-A935-DAB41CBE1456}" presName="sibTrans" presStyleLbl="node1" presStyleIdx="6" presStyleCnt="7"/>
      <dgm:spPr/>
    </dgm:pt>
  </dgm:ptLst>
  <dgm:cxnLst>
    <dgm:cxn modelId="{BFE32301-2B13-2143-8259-48A4F6CD26F3}" srcId="{84CB8BD8-7FE2-314C-857D-8F31BB3DCAB9}" destId="{C7E8C0C5-1654-C449-A59B-9B668783E345}" srcOrd="1" destOrd="0" parTransId="{A91E2E73-EF43-2743-9834-62EEC97C7490}" sibTransId="{9D6D22CD-A287-E345-8049-F9C98EF38571}"/>
    <dgm:cxn modelId="{EA80960B-F8AE-DC4D-8645-8BEC572011BD}" srcId="{84CB8BD8-7FE2-314C-857D-8F31BB3DCAB9}" destId="{1574AD03-273E-104E-BF1E-C28F3B8FE080}" srcOrd="5" destOrd="0" parTransId="{06475551-3FAA-1144-ACEC-89B500CAF429}" sibTransId="{36D5C54B-A69A-104C-971B-DB8CFD9FA4CC}"/>
    <dgm:cxn modelId="{A8A23C19-003C-D443-BC7D-0605C635823E}" type="presOf" srcId="{C7E8C0C5-1654-C449-A59B-9B668783E345}" destId="{359FF075-C711-664A-9EF9-1382FC94B094}" srcOrd="0" destOrd="0" presId="urn:microsoft.com/office/officeart/2005/8/layout/cycle1"/>
    <dgm:cxn modelId="{50302F26-C15F-8648-9097-9224FD215B52}" type="presOf" srcId="{D5A25FA1-C34B-1342-A5AE-1D54469C9353}" destId="{E50B2949-CC65-824E-9A76-BDC2308FEF2E}" srcOrd="0" destOrd="0" presId="urn:microsoft.com/office/officeart/2005/8/layout/cycle1"/>
    <dgm:cxn modelId="{99C4332E-D609-2B4F-88D5-7E62F4FD9DCE}" type="presOf" srcId="{1574AD03-273E-104E-BF1E-C28F3B8FE080}" destId="{B02586E3-8412-2B45-A915-DED2F769F4F8}" srcOrd="0" destOrd="0" presId="urn:microsoft.com/office/officeart/2005/8/layout/cycle1"/>
    <dgm:cxn modelId="{D20CAC30-0183-CB42-A8A9-0AFC074F1588}" type="presOf" srcId="{84CB8BD8-7FE2-314C-857D-8F31BB3DCAB9}" destId="{AEDC59F9-F84B-7240-9152-E3EB3F4F9402}" srcOrd="0" destOrd="0" presId="urn:microsoft.com/office/officeart/2005/8/layout/cycle1"/>
    <dgm:cxn modelId="{178F8946-0FF0-1642-9E15-C0C2C06AC4AA}" type="presOf" srcId="{1A9179BF-CA84-8148-A935-DAB41CBE1456}" destId="{64145C76-700E-144A-9D67-BA212F1EC65F}" srcOrd="0" destOrd="0" presId="urn:microsoft.com/office/officeart/2005/8/layout/cycle1"/>
    <dgm:cxn modelId="{2B11224E-A841-F44E-91DA-EEC9D0ED1FAC}" srcId="{84CB8BD8-7FE2-314C-857D-8F31BB3DCAB9}" destId="{90337749-14E4-214E-AB4E-6D76474F2188}" srcOrd="3" destOrd="0" parTransId="{8E3A7159-18EB-624A-9423-56007782FC1E}" sibTransId="{89ACD092-86ED-7446-A47E-96C762B3F86D}"/>
    <dgm:cxn modelId="{259C6F56-54A7-1244-81B5-2778FE45F461}" type="presOf" srcId="{9D6D22CD-A287-E345-8049-F9C98EF38571}" destId="{C0D2873E-A3FF-5C47-BEFD-898E66DF9FBA}" srcOrd="0" destOrd="0" presId="urn:microsoft.com/office/officeart/2005/8/layout/cycle1"/>
    <dgm:cxn modelId="{D42C105A-EC42-834C-B62A-A1042F25ED57}" type="presOf" srcId="{7A7CF05F-1090-6E40-B25C-DE5FF0A71712}" destId="{41E3703C-8E80-974E-9608-44DB50E48807}" srcOrd="0" destOrd="0" presId="urn:microsoft.com/office/officeart/2005/8/layout/cycle1"/>
    <dgm:cxn modelId="{093BDA69-EDEB-6E47-848D-965DE2D038A6}" type="presOf" srcId="{5E10D6A9-AFA9-0F43-8577-B368BA4C2768}" destId="{1F6D78F0-102A-5245-A79A-1B66AFA54F02}" srcOrd="0" destOrd="0" presId="urn:microsoft.com/office/officeart/2005/8/layout/cycle1"/>
    <dgm:cxn modelId="{B3E87A6B-C662-D541-A6B8-CD0267C4F518}" srcId="{84CB8BD8-7FE2-314C-857D-8F31BB3DCAB9}" destId="{D5A25FA1-C34B-1342-A5AE-1D54469C9353}" srcOrd="0" destOrd="0" parTransId="{EAD6A8A2-C837-334C-8BF9-5F891119FBD3}" sibTransId="{7A7CF05F-1090-6E40-B25C-DE5FF0A71712}"/>
    <dgm:cxn modelId="{C657C66F-0E99-1246-B020-7D2C78AD1925}" type="presOf" srcId="{90337749-14E4-214E-AB4E-6D76474F2188}" destId="{D7E2DB93-CFA6-6647-B8C5-E9B5EDEEF565}" srcOrd="0" destOrd="0" presId="urn:microsoft.com/office/officeart/2005/8/layout/cycle1"/>
    <dgm:cxn modelId="{52449779-30FA-994E-9562-1B1793C67C5E}" type="presOf" srcId="{55FC9061-DB55-894D-BE85-BC5EF8740F2B}" destId="{69EFB572-EB87-D949-B712-DFAF3D54C205}" srcOrd="0" destOrd="0" presId="urn:microsoft.com/office/officeart/2005/8/layout/cycle1"/>
    <dgm:cxn modelId="{C2E58A87-8451-354A-A7FF-D74940476477}" type="presOf" srcId="{89ACD092-86ED-7446-A47E-96C762B3F86D}" destId="{D5178222-410E-5342-9647-263A1CB1AEB8}" srcOrd="0" destOrd="0" presId="urn:microsoft.com/office/officeart/2005/8/layout/cycle1"/>
    <dgm:cxn modelId="{A990B08B-713D-FC4B-BE1A-6D58C3F3E328}" type="presOf" srcId="{B06D745E-4E98-8843-94AA-2A301E12B748}" destId="{8ABFB698-D27C-BA49-B7BD-B3AC9ECC641F}" srcOrd="0" destOrd="0" presId="urn:microsoft.com/office/officeart/2005/8/layout/cycle1"/>
    <dgm:cxn modelId="{3B729F94-8714-904E-A666-D79101A78FC0}" srcId="{84CB8BD8-7FE2-314C-857D-8F31BB3DCAB9}" destId="{55FC9061-DB55-894D-BE85-BC5EF8740F2B}" srcOrd="6" destOrd="0" parTransId="{7F891AC9-A5C0-104F-A7D9-D94AFFB0856B}" sibTransId="{1A9179BF-CA84-8148-A935-DAB41CBE1456}"/>
    <dgm:cxn modelId="{ADEEA798-5097-4844-84B7-7F60444C764D}" srcId="{84CB8BD8-7FE2-314C-857D-8F31BB3DCAB9}" destId="{EC662F9E-FA0C-8F4F-946D-75CDFF349CFF}" srcOrd="2" destOrd="0" parTransId="{BC885A85-14E6-D042-8755-4D66776C82DE}" sibTransId="{B06D745E-4E98-8843-94AA-2A301E12B748}"/>
    <dgm:cxn modelId="{F28DCD99-1DFC-E743-8F7B-8E2049B9939C}" srcId="{84CB8BD8-7FE2-314C-857D-8F31BB3DCAB9}" destId="{8E58B857-523A-9549-92AE-AD3D3A68F339}" srcOrd="4" destOrd="0" parTransId="{923F8F5F-5FAC-6E49-9775-4064156DA7E7}" sibTransId="{5E10D6A9-AFA9-0F43-8577-B368BA4C2768}"/>
    <dgm:cxn modelId="{5EE310A8-5B73-E945-BB34-F9629484F945}" type="presOf" srcId="{EC662F9E-FA0C-8F4F-946D-75CDFF349CFF}" destId="{08CA5058-C8EA-CA4F-803C-F2038F6F3730}" srcOrd="0" destOrd="0" presId="urn:microsoft.com/office/officeart/2005/8/layout/cycle1"/>
    <dgm:cxn modelId="{BB5BC5E6-0F50-2B49-936A-65AF26150512}" type="presOf" srcId="{8E58B857-523A-9549-92AE-AD3D3A68F339}" destId="{9A6282A1-1686-A748-BC52-CDE4C63A130C}" srcOrd="0" destOrd="0" presId="urn:microsoft.com/office/officeart/2005/8/layout/cycle1"/>
    <dgm:cxn modelId="{3E7FB5FD-E0F6-D04E-B8F9-CADB96B01165}" type="presOf" srcId="{36D5C54B-A69A-104C-971B-DB8CFD9FA4CC}" destId="{984664E5-6FD9-A440-A1CD-CE2CC112B8A4}" srcOrd="0" destOrd="0" presId="urn:microsoft.com/office/officeart/2005/8/layout/cycle1"/>
    <dgm:cxn modelId="{67F4B918-ECEE-CC40-83D1-41EE2608069F}" type="presParOf" srcId="{AEDC59F9-F84B-7240-9152-E3EB3F4F9402}" destId="{E5F773F9-948C-9F47-AE7C-04018B849F00}" srcOrd="0" destOrd="0" presId="urn:microsoft.com/office/officeart/2005/8/layout/cycle1"/>
    <dgm:cxn modelId="{AF925357-EFD0-1C43-8C3D-12C887518BC8}" type="presParOf" srcId="{AEDC59F9-F84B-7240-9152-E3EB3F4F9402}" destId="{E50B2949-CC65-824E-9A76-BDC2308FEF2E}" srcOrd="1" destOrd="0" presId="urn:microsoft.com/office/officeart/2005/8/layout/cycle1"/>
    <dgm:cxn modelId="{21964137-F0BE-5A49-AA55-2C97068B2365}" type="presParOf" srcId="{AEDC59F9-F84B-7240-9152-E3EB3F4F9402}" destId="{41E3703C-8E80-974E-9608-44DB50E48807}" srcOrd="2" destOrd="0" presId="urn:microsoft.com/office/officeart/2005/8/layout/cycle1"/>
    <dgm:cxn modelId="{E78113DC-3136-0640-9188-3304F0B27E14}" type="presParOf" srcId="{AEDC59F9-F84B-7240-9152-E3EB3F4F9402}" destId="{81E9744C-DCE3-3A4C-B1F4-D656F7EF923C}" srcOrd="3" destOrd="0" presId="urn:microsoft.com/office/officeart/2005/8/layout/cycle1"/>
    <dgm:cxn modelId="{B0DB2BAC-27AD-B44F-9C91-DEA1CC6E88E3}" type="presParOf" srcId="{AEDC59F9-F84B-7240-9152-E3EB3F4F9402}" destId="{359FF075-C711-664A-9EF9-1382FC94B094}" srcOrd="4" destOrd="0" presId="urn:microsoft.com/office/officeart/2005/8/layout/cycle1"/>
    <dgm:cxn modelId="{DD67CE84-9F1A-594B-A46A-723C7A03A7CE}" type="presParOf" srcId="{AEDC59F9-F84B-7240-9152-E3EB3F4F9402}" destId="{C0D2873E-A3FF-5C47-BEFD-898E66DF9FBA}" srcOrd="5" destOrd="0" presId="urn:microsoft.com/office/officeart/2005/8/layout/cycle1"/>
    <dgm:cxn modelId="{6035E51A-6AA8-9842-9930-C7D94C2C1350}" type="presParOf" srcId="{AEDC59F9-F84B-7240-9152-E3EB3F4F9402}" destId="{7586EA47-10AE-114B-835E-B6D9E6DB8825}" srcOrd="6" destOrd="0" presId="urn:microsoft.com/office/officeart/2005/8/layout/cycle1"/>
    <dgm:cxn modelId="{03B549FD-C30E-B845-AC6D-DE3A6FDB7E9C}" type="presParOf" srcId="{AEDC59F9-F84B-7240-9152-E3EB3F4F9402}" destId="{08CA5058-C8EA-CA4F-803C-F2038F6F3730}" srcOrd="7" destOrd="0" presId="urn:microsoft.com/office/officeart/2005/8/layout/cycle1"/>
    <dgm:cxn modelId="{A0881719-B529-5748-84E6-DCAAC7850BA2}" type="presParOf" srcId="{AEDC59F9-F84B-7240-9152-E3EB3F4F9402}" destId="{8ABFB698-D27C-BA49-B7BD-B3AC9ECC641F}" srcOrd="8" destOrd="0" presId="urn:microsoft.com/office/officeart/2005/8/layout/cycle1"/>
    <dgm:cxn modelId="{56671F64-E2C4-3D4B-9EDE-60523FF753EE}" type="presParOf" srcId="{AEDC59F9-F84B-7240-9152-E3EB3F4F9402}" destId="{01B6D211-7080-294B-B9C3-2C681266A9F3}" srcOrd="9" destOrd="0" presId="urn:microsoft.com/office/officeart/2005/8/layout/cycle1"/>
    <dgm:cxn modelId="{6F437F35-D793-4341-B2D1-265B6CC2DC77}" type="presParOf" srcId="{AEDC59F9-F84B-7240-9152-E3EB3F4F9402}" destId="{D7E2DB93-CFA6-6647-B8C5-E9B5EDEEF565}" srcOrd="10" destOrd="0" presId="urn:microsoft.com/office/officeart/2005/8/layout/cycle1"/>
    <dgm:cxn modelId="{3573A363-D0DD-D649-BC4F-E36D1C81415B}" type="presParOf" srcId="{AEDC59F9-F84B-7240-9152-E3EB3F4F9402}" destId="{D5178222-410E-5342-9647-263A1CB1AEB8}" srcOrd="11" destOrd="0" presId="urn:microsoft.com/office/officeart/2005/8/layout/cycle1"/>
    <dgm:cxn modelId="{ABD669A9-AF63-FA47-A333-6AC7035B88FD}" type="presParOf" srcId="{AEDC59F9-F84B-7240-9152-E3EB3F4F9402}" destId="{673B4ABD-0066-6542-AC0A-BFF3DF15B411}" srcOrd="12" destOrd="0" presId="urn:microsoft.com/office/officeart/2005/8/layout/cycle1"/>
    <dgm:cxn modelId="{91AE6402-29BF-0940-A659-5E7725C6F21F}" type="presParOf" srcId="{AEDC59F9-F84B-7240-9152-E3EB3F4F9402}" destId="{9A6282A1-1686-A748-BC52-CDE4C63A130C}" srcOrd="13" destOrd="0" presId="urn:microsoft.com/office/officeart/2005/8/layout/cycle1"/>
    <dgm:cxn modelId="{C778D8E0-8874-8846-BD7C-5B707FDA375C}" type="presParOf" srcId="{AEDC59F9-F84B-7240-9152-E3EB3F4F9402}" destId="{1F6D78F0-102A-5245-A79A-1B66AFA54F02}" srcOrd="14" destOrd="0" presId="urn:microsoft.com/office/officeart/2005/8/layout/cycle1"/>
    <dgm:cxn modelId="{B8756422-BA12-1C40-8F6C-71EF44315F6E}" type="presParOf" srcId="{AEDC59F9-F84B-7240-9152-E3EB3F4F9402}" destId="{1C6EE3ED-D012-1B48-875E-138A1F894710}" srcOrd="15" destOrd="0" presId="urn:microsoft.com/office/officeart/2005/8/layout/cycle1"/>
    <dgm:cxn modelId="{10447B49-11FA-B74D-A8B3-B5E2C0D693E8}" type="presParOf" srcId="{AEDC59F9-F84B-7240-9152-E3EB3F4F9402}" destId="{B02586E3-8412-2B45-A915-DED2F769F4F8}" srcOrd="16" destOrd="0" presId="urn:microsoft.com/office/officeart/2005/8/layout/cycle1"/>
    <dgm:cxn modelId="{102FB2DB-806A-604F-9E69-293CEC3D8C44}" type="presParOf" srcId="{AEDC59F9-F84B-7240-9152-E3EB3F4F9402}" destId="{984664E5-6FD9-A440-A1CD-CE2CC112B8A4}" srcOrd="17" destOrd="0" presId="urn:microsoft.com/office/officeart/2005/8/layout/cycle1"/>
    <dgm:cxn modelId="{6524E9D4-4B57-0D45-8F4F-3B611D8F93DF}" type="presParOf" srcId="{AEDC59F9-F84B-7240-9152-E3EB3F4F9402}" destId="{EBD333C6-0F7E-D943-AF20-06D13F62F3E9}" srcOrd="18" destOrd="0" presId="urn:microsoft.com/office/officeart/2005/8/layout/cycle1"/>
    <dgm:cxn modelId="{F38EA74B-3DFF-134F-9F2C-ADE1235707ED}" type="presParOf" srcId="{AEDC59F9-F84B-7240-9152-E3EB3F4F9402}" destId="{69EFB572-EB87-D949-B712-DFAF3D54C205}" srcOrd="19" destOrd="0" presId="urn:microsoft.com/office/officeart/2005/8/layout/cycle1"/>
    <dgm:cxn modelId="{3C3D832A-E96D-214E-9EA2-6354BFBD1AA6}" type="presParOf" srcId="{AEDC59F9-F84B-7240-9152-E3EB3F4F9402}" destId="{64145C76-700E-144A-9D67-BA212F1EC65F}" srcOrd="20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4CB8BD8-7FE2-314C-857D-8F31BB3DCAB9}" type="doc">
      <dgm:prSet loTypeId="urn:microsoft.com/office/officeart/2005/8/layout/cycle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5A25FA1-C34B-1342-A5AE-1D54469C9353}">
      <dgm:prSet phldrT="[Text]"/>
      <dgm:spPr/>
      <dgm:t>
        <a:bodyPr/>
        <a:lstStyle/>
        <a:p>
          <a:r>
            <a:rPr lang="en-US" dirty="0"/>
            <a:t>Reduced productivity</a:t>
          </a:r>
        </a:p>
      </dgm:t>
    </dgm:pt>
    <dgm:pt modelId="{EAD6A8A2-C837-334C-8BF9-5F891119FBD3}" type="parTrans" cxnId="{B3E87A6B-C662-D541-A6B8-CD0267C4F518}">
      <dgm:prSet/>
      <dgm:spPr/>
      <dgm:t>
        <a:bodyPr/>
        <a:lstStyle/>
        <a:p>
          <a:endParaRPr lang="en-US"/>
        </a:p>
      </dgm:t>
    </dgm:pt>
    <dgm:pt modelId="{7A7CF05F-1090-6E40-B25C-DE5FF0A71712}" type="sibTrans" cxnId="{B3E87A6B-C662-D541-A6B8-CD0267C4F518}">
      <dgm:prSet/>
      <dgm:spPr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2700000" scaled="1"/>
          <a:tileRect/>
        </a:gradFill>
      </dgm:spPr>
      <dgm:t>
        <a:bodyPr/>
        <a:lstStyle/>
        <a:p>
          <a:endParaRPr lang="en-US"/>
        </a:p>
      </dgm:t>
    </dgm:pt>
    <dgm:pt modelId="{C7E8C0C5-1654-C449-A59B-9B668783E345}">
      <dgm:prSet phldrT="[Text]"/>
      <dgm:spPr/>
      <dgm:t>
        <a:bodyPr/>
        <a:lstStyle/>
        <a:p>
          <a:r>
            <a:rPr lang="en-US" dirty="0"/>
            <a:t>Increased Absenteeism</a:t>
          </a:r>
        </a:p>
      </dgm:t>
    </dgm:pt>
    <dgm:pt modelId="{A91E2E73-EF43-2743-9834-62EEC97C7490}" type="parTrans" cxnId="{BFE32301-2B13-2143-8259-48A4F6CD26F3}">
      <dgm:prSet/>
      <dgm:spPr/>
      <dgm:t>
        <a:bodyPr/>
        <a:lstStyle/>
        <a:p>
          <a:endParaRPr lang="en-US"/>
        </a:p>
      </dgm:t>
    </dgm:pt>
    <dgm:pt modelId="{9D6D22CD-A287-E345-8049-F9C98EF38571}" type="sibTrans" cxnId="{BFE32301-2B13-2143-8259-48A4F6CD26F3}">
      <dgm:prSet/>
      <dgm:spPr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5400000" scaled="1"/>
          <a:tileRect/>
        </a:gradFill>
      </dgm:spPr>
      <dgm:t>
        <a:bodyPr/>
        <a:lstStyle/>
        <a:p>
          <a:endParaRPr lang="en-US"/>
        </a:p>
      </dgm:t>
    </dgm:pt>
    <dgm:pt modelId="{EC662F9E-FA0C-8F4F-946D-75CDFF349CFF}">
      <dgm:prSet phldrT="[Text]"/>
      <dgm:spPr/>
      <dgm:t>
        <a:bodyPr/>
        <a:lstStyle/>
        <a:p>
          <a:r>
            <a:rPr lang="en-US" dirty="0"/>
            <a:t>Elevated Healthcare Costs</a:t>
          </a:r>
        </a:p>
      </dgm:t>
    </dgm:pt>
    <dgm:pt modelId="{BC885A85-14E6-D042-8755-4D66776C82DE}" type="parTrans" cxnId="{ADEEA798-5097-4844-84B7-7F60444C764D}">
      <dgm:prSet/>
      <dgm:spPr/>
      <dgm:t>
        <a:bodyPr/>
        <a:lstStyle/>
        <a:p>
          <a:endParaRPr lang="en-US"/>
        </a:p>
      </dgm:t>
    </dgm:pt>
    <dgm:pt modelId="{B06D745E-4E98-8843-94AA-2A301E12B748}" type="sibTrans" cxnId="{ADEEA798-5097-4844-84B7-7F60444C764D}">
      <dgm:prSet/>
      <dgm:spPr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8100000" scaled="1"/>
          <a:tileRect/>
        </a:gradFill>
      </dgm:spPr>
      <dgm:t>
        <a:bodyPr/>
        <a:lstStyle/>
        <a:p>
          <a:endParaRPr lang="en-US"/>
        </a:p>
      </dgm:t>
    </dgm:pt>
    <dgm:pt modelId="{90337749-14E4-214E-AB4E-6D76474F2188}">
      <dgm:prSet phldrT="[Text]"/>
      <dgm:spPr/>
      <dgm:t>
        <a:bodyPr/>
        <a:lstStyle/>
        <a:p>
          <a:r>
            <a:rPr lang="en-US" dirty="0"/>
            <a:t>Higher Turnover</a:t>
          </a:r>
        </a:p>
      </dgm:t>
    </dgm:pt>
    <dgm:pt modelId="{8E3A7159-18EB-624A-9423-56007782FC1E}" type="parTrans" cxnId="{2B11224E-A841-F44E-91DA-EEC9D0ED1FAC}">
      <dgm:prSet/>
      <dgm:spPr/>
      <dgm:t>
        <a:bodyPr/>
        <a:lstStyle/>
        <a:p>
          <a:endParaRPr lang="en-US"/>
        </a:p>
      </dgm:t>
    </dgm:pt>
    <dgm:pt modelId="{89ACD092-86ED-7446-A47E-96C762B3F86D}" type="sibTrans" cxnId="{2B11224E-A841-F44E-91DA-EEC9D0ED1FAC}">
      <dgm:prSet/>
      <dgm:spPr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10800000" scaled="1"/>
          <a:tileRect/>
        </a:gradFill>
      </dgm:spPr>
      <dgm:t>
        <a:bodyPr/>
        <a:lstStyle/>
        <a:p>
          <a:endParaRPr lang="en-US"/>
        </a:p>
      </dgm:t>
    </dgm:pt>
    <dgm:pt modelId="{1574AD03-273E-104E-BF1E-C28F3B8FE080}">
      <dgm:prSet phldrT="[Text]"/>
      <dgm:spPr/>
      <dgm:t>
        <a:bodyPr/>
        <a:lstStyle/>
        <a:p>
          <a:r>
            <a:rPr lang="en-US" dirty="0"/>
            <a:t>Diminished Engagement/ Morale</a:t>
          </a:r>
        </a:p>
      </dgm:t>
    </dgm:pt>
    <dgm:pt modelId="{06475551-3FAA-1144-ACEC-89B500CAF429}" type="parTrans" cxnId="{EA80960B-F8AE-DC4D-8645-8BEC572011BD}">
      <dgm:prSet/>
      <dgm:spPr/>
      <dgm:t>
        <a:bodyPr/>
        <a:lstStyle/>
        <a:p>
          <a:endParaRPr lang="en-US"/>
        </a:p>
      </dgm:t>
    </dgm:pt>
    <dgm:pt modelId="{36D5C54B-A69A-104C-971B-DB8CFD9FA4CC}" type="sibTrans" cxnId="{EA80960B-F8AE-DC4D-8645-8BEC572011BD}">
      <dgm:prSet/>
      <dgm:spPr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18900000" scaled="1"/>
          <a:tileRect/>
        </a:gradFill>
      </dgm:spPr>
      <dgm:t>
        <a:bodyPr/>
        <a:lstStyle/>
        <a:p>
          <a:endParaRPr lang="en-US"/>
        </a:p>
      </dgm:t>
    </dgm:pt>
    <dgm:pt modelId="{8E58B857-523A-9549-92AE-AD3D3A68F339}">
      <dgm:prSet phldrT="[Text]"/>
      <dgm:spPr/>
      <dgm:t>
        <a:bodyPr/>
        <a:lstStyle/>
        <a:p>
          <a:r>
            <a:rPr lang="en-US" dirty="0"/>
            <a:t>Workplace Safety</a:t>
          </a:r>
        </a:p>
      </dgm:t>
    </dgm:pt>
    <dgm:pt modelId="{923F8F5F-5FAC-6E49-9775-4064156DA7E7}" type="parTrans" cxnId="{F28DCD99-1DFC-E743-8F7B-8E2049B9939C}">
      <dgm:prSet/>
      <dgm:spPr/>
      <dgm:t>
        <a:bodyPr/>
        <a:lstStyle/>
        <a:p>
          <a:endParaRPr lang="en-US"/>
        </a:p>
      </dgm:t>
    </dgm:pt>
    <dgm:pt modelId="{5E10D6A9-AFA9-0F43-8577-B368BA4C2768}" type="sibTrans" cxnId="{F28DCD99-1DFC-E743-8F7B-8E2049B9939C}">
      <dgm:prSet/>
      <dgm:spPr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16200000" scaled="1"/>
          <a:tileRect/>
        </a:gradFill>
      </dgm:spPr>
      <dgm:t>
        <a:bodyPr/>
        <a:lstStyle/>
        <a:p>
          <a:endParaRPr lang="en-US"/>
        </a:p>
      </dgm:t>
    </dgm:pt>
    <dgm:pt modelId="{55FC9061-DB55-894D-BE85-BC5EF8740F2B}">
      <dgm:prSet phldrT="[Text]"/>
      <dgm:spPr/>
      <dgm:t>
        <a:bodyPr/>
        <a:lstStyle/>
        <a:p>
          <a:r>
            <a:rPr lang="en-US" dirty="0"/>
            <a:t>Increased Presenteeism</a:t>
          </a:r>
        </a:p>
      </dgm:t>
    </dgm:pt>
    <dgm:pt modelId="{7F891AC9-A5C0-104F-A7D9-D94AFFB0856B}" type="parTrans" cxnId="{3B729F94-8714-904E-A666-D79101A78FC0}">
      <dgm:prSet/>
      <dgm:spPr/>
      <dgm:t>
        <a:bodyPr/>
        <a:lstStyle/>
        <a:p>
          <a:endParaRPr lang="en-US"/>
        </a:p>
      </dgm:t>
    </dgm:pt>
    <dgm:pt modelId="{1A9179BF-CA84-8148-A935-DAB41CBE1456}" type="sibTrans" cxnId="{3B729F94-8714-904E-A666-D79101A78FC0}">
      <dgm:prSet/>
      <dgm:spPr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0" scaled="1"/>
          <a:tileRect/>
        </a:gradFill>
      </dgm:spPr>
      <dgm:t>
        <a:bodyPr/>
        <a:lstStyle/>
        <a:p>
          <a:endParaRPr lang="en-US"/>
        </a:p>
      </dgm:t>
    </dgm:pt>
    <dgm:pt modelId="{AEDC59F9-F84B-7240-9152-E3EB3F4F9402}" type="pres">
      <dgm:prSet presAssocID="{84CB8BD8-7FE2-314C-857D-8F31BB3DCAB9}" presName="cycle" presStyleCnt="0">
        <dgm:presLayoutVars>
          <dgm:dir/>
          <dgm:resizeHandles val="exact"/>
        </dgm:presLayoutVars>
      </dgm:prSet>
      <dgm:spPr/>
    </dgm:pt>
    <dgm:pt modelId="{E5F773F9-948C-9F47-AE7C-04018B849F00}" type="pres">
      <dgm:prSet presAssocID="{D5A25FA1-C34B-1342-A5AE-1D54469C9353}" presName="dummy" presStyleCnt="0"/>
      <dgm:spPr/>
    </dgm:pt>
    <dgm:pt modelId="{E50B2949-CC65-824E-9A76-BDC2308FEF2E}" type="pres">
      <dgm:prSet presAssocID="{D5A25FA1-C34B-1342-A5AE-1D54469C9353}" presName="node" presStyleLbl="revTx" presStyleIdx="0" presStyleCnt="7">
        <dgm:presLayoutVars>
          <dgm:bulletEnabled val="1"/>
        </dgm:presLayoutVars>
      </dgm:prSet>
      <dgm:spPr/>
    </dgm:pt>
    <dgm:pt modelId="{41E3703C-8E80-974E-9608-44DB50E48807}" type="pres">
      <dgm:prSet presAssocID="{7A7CF05F-1090-6E40-B25C-DE5FF0A71712}" presName="sibTrans" presStyleLbl="node1" presStyleIdx="0" presStyleCnt="7"/>
      <dgm:spPr/>
    </dgm:pt>
    <dgm:pt modelId="{81E9744C-DCE3-3A4C-B1F4-D656F7EF923C}" type="pres">
      <dgm:prSet presAssocID="{C7E8C0C5-1654-C449-A59B-9B668783E345}" presName="dummy" presStyleCnt="0"/>
      <dgm:spPr/>
    </dgm:pt>
    <dgm:pt modelId="{359FF075-C711-664A-9EF9-1382FC94B094}" type="pres">
      <dgm:prSet presAssocID="{C7E8C0C5-1654-C449-A59B-9B668783E345}" presName="node" presStyleLbl="revTx" presStyleIdx="1" presStyleCnt="7">
        <dgm:presLayoutVars>
          <dgm:bulletEnabled val="1"/>
        </dgm:presLayoutVars>
      </dgm:prSet>
      <dgm:spPr/>
    </dgm:pt>
    <dgm:pt modelId="{C0D2873E-A3FF-5C47-BEFD-898E66DF9FBA}" type="pres">
      <dgm:prSet presAssocID="{9D6D22CD-A287-E345-8049-F9C98EF38571}" presName="sibTrans" presStyleLbl="node1" presStyleIdx="1" presStyleCnt="7"/>
      <dgm:spPr/>
    </dgm:pt>
    <dgm:pt modelId="{7586EA47-10AE-114B-835E-B6D9E6DB8825}" type="pres">
      <dgm:prSet presAssocID="{EC662F9E-FA0C-8F4F-946D-75CDFF349CFF}" presName="dummy" presStyleCnt="0"/>
      <dgm:spPr/>
    </dgm:pt>
    <dgm:pt modelId="{08CA5058-C8EA-CA4F-803C-F2038F6F3730}" type="pres">
      <dgm:prSet presAssocID="{EC662F9E-FA0C-8F4F-946D-75CDFF349CFF}" presName="node" presStyleLbl="revTx" presStyleIdx="2" presStyleCnt="7">
        <dgm:presLayoutVars>
          <dgm:bulletEnabled val="1"/>
        </dgm:presLayoutVars>
      </dgm:prSet>
      <dgm:spPr/>
    </dgm:pt>
    <dgm:pt modelId="{8ABFB698-D27C-BA49-B7BD-B3AC9ECC641F}" type="pres">
      <dgm:prSet presAssocID="{B06D745E-4E98-8843-94AA-2A301E12B748}" presName="sibTrans" presStyleLbl="node1" presStyleIdx="2" presStyleCnt="7"/>
      <dgm:spPr/>
    </dgm:pt>
    <dgm:pt modelId="{01B6D211-7080-294B-B9C3-2C681266A9F3}" type="pres">
      <dgm:prSet presAssocID="{90337749-14E4-214E-AB4E-6D76474F2188}" presName="dummy" presStyleCnt="0"/>
      <dgm:spPr/>
    </dgm:pt>
    <dgm:pt modelId="{D7E2DB93-CFA6-6647-B8C5-E9B5EDEEF565}" type="pres">
      <dgm:prSet presAssocID="{90337749-14E4-214E-AB4E-6D76474F2188}" presName="node" presStyleLbl="revTx" presStyleIdx="3" presStyleCnt="7">
        <dgm:presLayoutVars>
          <dgm:bulletEnabled val="1"/>
        </dgm:presLayoutVars>
      </dgm:prSet>
      <dgm:spPr/>
    </dgm:pt>
    <dgm:pt modelId="{D5178222-410E-5342-9647-263A1CB1AEB8}" type="pres">
      <dgm:prSet presAssocID="{89ACD092-86ED-7446-A47E-96C762B3F86D}" presName="sibTrans" presStyleLbl="node1" presStyleIdx="3" presStyleCnt="7"/>
      <dgm:spPr/>
    </dgm:pt>
    <dgm:pt modelId="{673B4ABD-0066-6542-AC0A-BFF3DF15B411}" type="pres">
      <dgm:prSet presAssocID="{8E58B857-523A-9549-92AE-AD3D3A68F339}" presName="dummy" presStyleCnt="0"/>
      <dgm:spPr/>
    </dgm:pt>
    <dgm:pt modelId="{9A6282A1-1686-A748-BC52-CDE4C63A130C}" type="pres">
      <dgm:prSet presAssocID="{8E58B857-523A-9549-92AE-AD3D3A68F339}" presName="node" presStyleLbl="revTx" presStyleIdx="4" presStyleCnt="7">
        <dgm:presLayoutVars>
          <dgm:bulletEnabled val="1"/>
        </dgm:presLayoutVars>
      </dgm:prSet>
      <dgm:spPr/>
    </dgm:pt>
    <dgm:pt modelId="{1F6D78F0-102A-5245-A79A-1B66AFA54F02}" type="pres">
      <dgm:prSet presAssocID="{5E10D6A9-AFA9-0F43-8577-B368BA4C2768}" presName="sibTrans" presStyleLbl="node1" presStyleIdx="4" presStyleCnt="7" custScaleX="100370" custScaleY="102524"/>
      <dgm:spPr/>
    </dgm:pt>
    <dgm:pt modelId="{1C6EE3ED-D012-1B48-875E-138A1F894710}" type="pres">
      <dgm:prSet presAssocID="{1574AD03-273E-104E-BF1E-C28F3B8FE080}" presName="dummy" presStyleCnt="0"/>
      <dgm:spPr/>
    </dgm:pt>
    <dgm:pt modelId="{B02586E3-8412-2B45-A915-DED2F769F4F8}" type="pres">
      <dgm:prSet presAssocID="{1574AD03-273E-104E-BF1E-C28F3B8FE080}" presName="node" presStyleLbl="revTx" presStyleIdx="5" presStyleCnt="7">
        <dgm:presLayoutVars>
          <dgm:bulletEnabled val="1"/>
        </dgm:presLayoutVars>
      </dgm:prSet>
      <dgm:spPr/>
    </dgm:pt>
    <dgm:pt modelId="{984664E5-6FD9-A440-A1CD-CE2CC112B8A4}" type="pres">
      <dgm:prSet presAssocID="{36D5C54B-A69A-104C-971B-DB8CFD9FA4CC}" presName="sibTrans" presStyleLbl="node1" presStyleIdx="5" presStyleCnt="7"/>
      <dgm:spPr/>
    </dgm:pt>
    <dgm:pt modelId="{EBD333C6-0F7E-D943-AF20-06D13F62F3E9}" type="pres">
      <dgm:prSet presAssocID="{55FC9061-DB55-894D-BE85-BC5EF8740F2B}" presName="dummy" presStyleCnt="0"/>
      <dgm:spPr/>
    </dgm:pt>
    <dgm:pt modelId="{69EFB572-EB87-D949-B712-DFAF3D54C205}" type="pres">
      <dgm:prSet presAssocID="{55FC9061-DB55-894D-BE85-BC5EF8740F2B}" presName="node" presStyleLbl="revTx" presStyleIdx="6" presStyleCnt="7">
        <dgm:presLayoutVars>
          <dgm:bulletEnabled val="1"/>
        </dgm:presLayoutVars>
      </dgm:prSet>
      <dgm:spPr/>
    </dgm:pt>
    <dgm:pt modelId="{64145C76-700E-144A-9D67-BA212F1EC65F}" type="pres">
      <dgm:prSet presAssocID="{1A9179BF-CA84-8148-A935-DAB41CBE1456}" presName="sibTrans" presStyleLbl="node1" presStyleIdx="6" presStyleCnt="7"/>
      <dgm:spPr/>
    </dgm:pt>
  </dgm:ptLst>
  <dgm:cxnLst>
    <dgm:cxn modelId="{BFE32301-2B13-2143-8259-48A4F6CD26F3}" srcId="{84CB8BD8-7FE2-314C-857D-8F31BB3DCAB9}" destId="{C7E8C0C5-1654-C449-A59B-9B668783E345}" srcOrd="1" destOrd="0" parTransId="{A91E2E73-EF43-2743-9834-62EEC97C7490}" sibTransId="{9D6D22CD-A287-E345-8049-F9C98EF38571}"/>
    <dgm:cxn modelId="{EA80960B-F8AE-DC4D-8645-8BEC572011BD}" srcId="{84CB8BD8-7FE2-314C-857D-8F31BB3DCAB9}" destId="{1574AD03-273E-104E-BF1E-C28F3B8FE080}" srcOrd="5" destOrd="0" parTransId="{06475551-3FAA-1144-ACEC-89B500CAF429}" sibTransId="{36D5C54B-A69A-104C-971B-DB8CFD9FA4CC}"/>
    <dgm:cxn modelId="{A8A23C19-003C-D443-BC7D-0605C635823E}" type="presOf" srcId="{C7E8C0C5-1654-C449-A59B-9B668783E345}" destId="{359FF075-C711-664A-9EF9-1382FC94B094}" srcOrd="0" destOrd="0" presId="urn:microsoft.com/office/officeart/2005/8/layout/cycle1"/>
    <dgm:cxn modelId="{50302F26-C15F-8648-9097-9224FD215B52}" type="presOf" srcId="{D5A25FA1-C34B-1342-A5AE-1D54469C9353}" destId="{E50B2949-CC65-824E-9A76-BDC2308FEF2E}" srcOrd="0" destOrd="0" presId="urn:microsoft.com/office/officeart/2005/8/layout/cycle1"/>
    <dgm:cxn modelId="{99C4332E-D609-2B4F-88D5-7E62F4FD9DCE}" type="presOf" srcId="{1574AD03-273E-104E-BF1E-C28F3B8FE080}" destId="{B02586E3-8412-2B45-A915-DED2F769F4F8}" srcOrd="0" destOrd="0" presId="urn:microsoft.com/office/officeart/2005/8/layout/cycle1"/>
    <dgm:cxn modelId="{D20CAC30-0183-CB42-A8A9-0AFC074F1588}" type="presOf" srcId="{84CB8BD8-7FE2-314C-857D-8F31BB3DCAB9}" destId="{AEDC59F9-F84B-7240-9152-E3EB3F4F9402}" srcOrd="0" destOrd="0" presId="urn:microsoft.com/office/officeart/2005/8/layout/cycle1"/>
    <dgm:cxn modelId="{178F8946-0FF0-1642-9E15-C0C2C06AC4AA}" type="presOf" srcId="{1A9179BF-CA84-8148-A935-DAB41CBE1456}" destId="{64145C76-700E-144A-9D67-BA212F1EC65F}" srcOrd="0" destOrd="0" presId="urn:microsoft.com/office/officeart/2005/8/layout/cycle1"/>
    <dgm:cxn modelId="{2B11224E-A841-F44E-91DA-EEC9D0ED1FAC}" srcId="{84CB8BD8-7FE2-314C-857D-8F31BB3DCAB9}" destId="{90337749-14E4-214E-AB4E-6D76474F2188}" srcOrd="3" destOrd="0" parTransId="{8E3A7159-18EB-624A-9423-56007782FC1E}" sibTransId="{89ACD092-86ED-7446-A47E-96C762B3F86D}"/>
    <dgm:cxn modelId="{259C6F56-54A7-1244-81B5-2778FE45F461}" type="presOf" srcId="{9D6D22CD-A287-E345-8049-F9C98EF38571}" destId="{C0D2873E-A3FF-5C47-BEFD-898E66DF9FBA}" srcOrd="0" destOrd="0" presId="urn:microsoft.com/office/officeart/2005/8/layout/cycle1"/>
    <dgm:cxn modelId="{D42C105A-EC42-834C-B62A-A1042F25ED57}" type="presOf" srcId="{7A7CF05F-1090-6E40-B25C-DE5FF0A71712}" destId="{41E3703C-8E80-974E-9608-44DB50E48807}" srcOrd="0" destOrd="0" presId="urn:microsoft.com/office/officeart/2005/8/layout/cycle1"/>
    <dgm:cxn modelId="{093BDA69-EDEB-6E47-848D-965DE2D038A6}" type="presOf" srcId="{5E10D6A9-AFA9-0F43-8577-B368BA4C2768}" destId="{1F6D78F0-102A-5245-A79A-1B66AFA54F02}" srcOrd="0" destOrd="0" presId="urn:microsoft.com/office/officeart/2005/8/layout/cycle1"/>
    <dgm:cxn modelId="{B3E87A6B-C662-D541-A6B8-CD0267C4F518}" srcId="{84CB8BD8-7FE2-314C-857D-8F31BB3DCAB9}" destId="{D5A25FA1-C34B-1342-A5AE-1D54469C9353}" srcOrd="0" destOrd="0" parTransId="{EAD6A8A2-C837-334C-8BF9-5F891119FBD3}" sibTransId="{7A7CF05F-1090-6E40-B25C-DE5FF0A71712}"/>
    <dgm:cxn modelId="{C657C66F-0E99-1246-B020-7D2C78AD1925}" type="presOf" srcId="{90337749-14E4-214E-AB4E-6D76474F2188}" destId="{D7E2DB93-CFA6-6647-B8C5-E9B5EDEEF565}" srcOrd="0" destOrd="0" presId="urn:microsoft.com/office/officeart/2005/8/layout/cycle1"/>
    <dgm:cxn modelId="{52449779-30FA-994E-9562-1B1793C67C5E}" type="presOf" srcId="{55FC9061-DB55-894D-BE85-BC5EF8740F2B}" destId="{69EFB572-EB87-D949-B712-DFAF3D54C205}" srcOrd="0" destOrd="0" presId="urn:microsoft.com/office/officeart/2005/8/layout/cycle1"/>
    <dgm:cxn modelId="{C2E58A87-8451-354A-A7FF-D74940476477}" type="presOf" srcId="{89ACD092-86ED-7446-A47E-96C762B3F86D}" destId="{D5178222-410E-5342-9647-263A1CB1AEB8}" srcOrd="0" destOrd="0" presId="urn:microsoft.com/office/officeart/2005/8/layout/cycle1"/>
    <dgm:cxn modelId="{A990B08B-713D-FC4B-BE1A-6D58C3F3E328}" type="presOf" srcId="{B06D745E-4E98-8843-94AA-2A301E12B748}" destId="{8ABFB698-D27C-BA49-B7BD-B3AC9ECC641F}" srcOrd="0" destOrd="0" presId="urn:microsoft.com/office/officeart/2005/8/layout/cycle1"/>
    <dgm:cxn modelId="{3B729F94-8714-904E-A666-D79101A78FC0}" srcId="{84CB8BD8-7FE2-314C-857D-8F31BB3DCAB9}" destId="{55FC9061-DB55-894D-BE85-BC5EF8740F2B}" srcOrd="6" destOrd="0" parTransId="{7F891AC9-A5C0-104F-A7D9-D94AFFB0856B}" sibTransId="{1A9179BF-CA84-8148-A935-DAB41CBE1456}"/>
    <dgm:cxn modelId="{ADEEA798-5097-4844-84B7-7F60444C764D}" srcId="{84CB8BD8-7FE2-314C-857D-8F31BB3DCAB9}" destId="{EC662F9E-FA0C-8F4F-946D-75CDFF349CFF}" srcOrd="2" destOrd="0" parTransId="{BC885A85-14E6-D042-8755-4D66776C82DE}" sibTransId="{B06D745E-4E98-8843-94AA-2A301E12B748}"/>
    <dgm:cxn modelId="{F28DCD99-1DFC-E743-8F7B-8E2049B9939C}" srcId="{84CB8BD8-7FE2-314C-857D-8F31BB3DCAB9}" destId="{8E58B857-523A-9549-92AE-AD3D3A68F339}" srcOrd="4" destOrd="0" parTransId="{923F8F5F-5FAC-6E49-9775-4064156DA7E7}" sibTransId="{5E10D6A9-AFA9-0F43-8577-B368BA4C2768}"/>
    <dgm:cxn modelId="{5EE310A8-5B73-E945-BB34-F9629484F945}" type="presOf" srcId="{EC662F9E-FA0C-8F4F-946D-75CDFF349CFF}" destId="{08CA5058-C8EA-CA4F-803C-F2038F6F3730}" srcOrd="0" destOrd="0" presId="urn:microsoft.com/office/officeart/2005/8/layout/cycle1"/>
    <dgm:cxn modelId="{BB5BC5E6-0F50-2B49-936A-65AF26150512}" type="presOf" srcId="{8E58B857-523A-9549-92AE-AD3D3A68F339}" destId="{9A6282A1-1686-A748-BC52-CDE4C63A130C}" srcOrd="0" destOrd="0" presId="urn:microsoft.com/office/officeart/2005/8/layout/cycle1"/>
    <dgm:cxn modelId="{3E7FB5FD-E0F6-D04E-B8F9-CADB96B01165}" type="presOf" srcId="{36D5C54B-A69A-104C-971B-DB8CFD9FA4CC}" destId="{984664E5-6FD9-A440-A1CD-CE2CC112B8A4}" srcOrd="0" destOrd="0" presId="urn:microsoft.com/office/officeart/2005/8/layout/cycle1"/>
    <dgm:cxn modelId="{67F4B918-ECEE-CC40-83D1-41EE2608069F}" type="presParOf" srcId="{AEDC59F9-F84B-7240-9152-E3EB3F4F9402}" destId="{E5F773F9-948C-9F47-AE7C-04018B849F00}" srcOrd="0" destOrd="0" presId="urn:microsoft.com/office/officeart/2005/8/layout/cycle1"/>
    <dgm:cxn modelId="{AF925357-EFD0-1C43-8C3D-12C887518BC8}" type="presParOf" srcId="{AEDC59F9-F84B-7240-9152-E3EB3F4F9402}" destId="{E50B2949-CC65-824E-9A76-BDC2308FEF2E}" srcOrd="1" destOrd="0" presId="urn:microsoft.com/office/officeart/2005/8/layout/cycle1"/>
    <dgm:cxn modelId="{21964137-F0BE-5A49-AA55-2C97068B2365}" type="presParOf" srcId="{AEDC59F9-F84B-7240-9152-E3EB3F4F9402}" destId="{41E3703C-8E80-974E-9608-44DB50E48807}" srcOrd="2" destOrd="0" presId="urn:microsoft.com/office/officeart/2005/8/layout/cycle1"/>
    <dgm:cxn modelId="{E78113DC-3136-0640-9188-3304F0B27E14}" type="presParOf" srcId="{AEDC59F9-F84B-7240-9152-E3EB3F4F9402}" destId="{81E9744C-DCE3-3A4C-B1F4-D656F7EF923C}" srcOrd="3" destOrd="0" presId="urn:microsoft.com/office/officeart/2005/8/layout/cycle1"/>
    <dgm:cxn modelId="{B0DB2BAC-27AD-B44F-9C91-DEA1CC6E88E3}" type="presParOf" srcId="{AEDC59F9-F84B-7240-9152-E3EB3F4F9402}" destId="{359FF075-C711-664A-9EF9-1382FC94B094}" srcOrd="4" destOrd="0" presId="urn:microsoft.com/office/officeart/2005/8/layout/cycle1"/>
    <dgm:cxn modelId="{DD67CE84-9F1A-594B-A46A-723C7A03A7CE}" type="presParOf" srcId="{AEDC59F9-F84B-7240-9152-E3EB3F4F9402}" destId="{C0D2873E-A3FF-5C47-BEFD-898E66DF9FBA}" srcOrd="5" destOrd="0" presId="urn:microsoft.com/office/officeart/2005/8/layout/cycle1"/>
    <dgm:cxn modelId="{6035E51A-6AA8-9842-9930-C7D94C2C1350}" type="presParOf" srcId="{AEDC59F9-F84B-7240-9152-E3EB3F4F9402}" destId="{7586EA47-10AE-114B-835E-B6D9E6DB8825}" srcOrd="6" destOrd="0" presId="urn:microsoft.com/office/officeart/2005/8/layout/cycle1"/>
    <dgm:cxn modelId="{03B549FD-C30E-B845-AC6D-DE3A6FDB7E9C}" type="presParOf" srcId="{AEDC59F9-F84B-7240-9152-E3EB3F4F9402}" destId="{08CA5058-C8EA-CA4F-803C-F2038F6F3730}" srcOrd="7" destOrd="0" presId="urn:microsoft.com/office/officeart/2005/8/layout/cycle1"/>
    <dgm:cxn modelId="{A0881719-B529-5748-84E6-DCAAC7850BA2}" type="presParOf" srcId="{AEDC59F9-F84B-7240-9152-E3EB3F4F9402}" destId="{8ABFB698-D27C-BA49-B7BD-B3AC9ECC641F}" srcOrd="8" destOrd="0" presId="urn:microsoft.com/office/officeart/2005/8/layout/cycle1"/>
    <dgm:cxn modelId="{56671F64-E2C4-3D4B-9EDE-60523FF753EE}" type="presParOf" srcId="{AEDC59F9-F84B-7240-9152-E3EB3F4F9402}" destId="{01B6D211-7080-294B-B9C3-2C681266A9F3}" srcOrd="9" destOrd="0" presId="urn:microsoft.com/office/officeart/2005/8/layout/cycle1"/>
    <dgm:cxn modelId="{6F437F35-D793-4341-B2D1-265B6CC2DC77}" type="presParOf" srcId="{AEDC59F9-F84B-7240-9152-E3EB3F4F9402}" destId="{D7E2DB93-CFA6-6647-B8C5-E9B5EDEEF565}" srcOrd="10" destOrd="0" presId="urn:microsoft.com/office/officeart/2005/8/layout/cycle1"/>
    <dgm:cxn modelId="{3573A363-D0DD-D649-BC4F-E36D1C81415B}" type="presParOf" srcId="{AEDC59F9-F84B-7240-9152-E3EB3F4F9402}" destId="{D5178222-410E-5342-9647-263A1CB1AEB8}" srcOrd="11" destOrd="0" presId="urn:microsoft.com/office/officeart/2005/8/layout/cycle1"/>
    <dgm:cxn modelId="{ABD669A9-AF63-FA47-A333-6AC7035B88FD}" type="presParOf" srcId="{AEDC59F9-F84B-7240-9152-E3EB3F4F9402}" destId="{673B4ABD-0066-6542-AC0A-BFF3DF15B411}" srcOrd="12" destOrd="0" presId="urn:microsoft.com/office/officeart/2005/8/layout/cycle1"/>
    <dgm:cxn modelId="{91AE6402-29BF-0940-A659-5E7725C6F21F}" type="presParOf" srcId="{AEDC59F9-F84B-7240-9152-E3EB3F4F9402}" destId="{9A6282A1-1686-A748-BC52-CDE4C63A130C}" srcOrd="13" destOrd="0" presId="urn:microsoft.com/office/officeart/2005/8/layout/cycle1"/>
    <dgm:cxn modelId="{C778D8E0-8874-8846-BD7C-5B707FDA375C}" type="presParOf" srcId="{AEDC59F9-F84B-7240-9152-E3EB3F4F9402}" destId="{1F6D78F0-102A-5245-A79A-1B66AFA54F02}" srcOrd="14" destOrd="0" presId="urn:microsoft.com/office/officeart/2005/8/layout/cycle1"/>
    <dgm:cxn modelId="{B8756422-BA12-1C40-8F6C-71EF44315F6E}" type="presParOf" srcId="{AEDC59F9-F84B-7240-9152-E3EB3F4F9402}" destId="{1C6EE3ED-D012-1B48-875E-138A1F894710}" srcOrd="15" destOrd="0" presId="urn:microsoft.com/office/officeart/2005/8/layout/cycle1"/>
    <dgm:cxn modelId="{10447B49-11FA-B74D-A8B3-B5E2C0D693E8}" type="presParOf" srcId="{AEDC59F9-F84B-7240-9152-E3EB3F4F9402}" destId="{B02586E3-8412-2B45-A915-DED2F769F4F8}" srcOrd="16" destOrd="0" presId="urn:microsoft.com/office/officeart/2005/8/layout/cycle1"/>
    <dgm:cxn modelId="{102FB2DB-806A-604F-9E69-293CEC3D8C44}" type="presParOf" srcId="{AEDC59F9-F84B-7240-9152-E3EB3F4F9402}" destId="{984664E5-6FD9-A440-A1CD-CE2CC112B8A4}" srcOrd="17" destOrd="0" presId="urn:microsoft.com/office/officeart/2005/8/layout/cycle1"/>
    <dgm:cxn modelId="{6524E9D4-4B57-0D45-8F4F-3B611D8F93DF}" type="presParOf" srcId="{AEDC59F9-F84B-7240-9152-E3EB3F4F9402}" destId="{EBD333C6-0F7E-D943-AF20-06D13F62F3E9}" srcOrd="18" destOrd="0" presId="urn:microsoft.com/office/officeart/2005/8/layout/cycle1"/>
    <dgm:cxn modelId="{F38EA74B-3DFF-134F-9F2C-ADE1235707ED}" type="presParOf" srcId="{AEDC59F9-F84B-7240-9152-E3EB3F4F9402}" destId="{69EFB572-EB87-D949-B712-DFAF3D54C205}" srcOrd="19" destOrd="0" presId="urn:microsoft.com/office/officeart/2005/8/layout/cycle1"/>
    <dgm:cxn modelId="{3C3D832A-E96D-214E-9EA2-6354BFBD1AA6}" type="presParOf" srcId="{AEDC59F9-F84B-7240-9152-E3EB3F4F9402}" destId="{64145C76-700E-144A-9D67-BA212F1EC65F}" srcOrd="20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0B2949-CC65-824E-9A76-BDC2308FEF2E}">
      <dsp:nvSpPr>
        <dsp:cNvPr id="0" name=""/>
        <dsp:cNvSpPr/>
      </dsp:nvSpPr>
      <dsp:spPr>
        <a:xfrm>
          <a:off x="4327592" y="1844"/>
          <a:ext cx="1042713" cy="104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rgbClr val="9A7352"/>
              </a:solidFill>
            </a:rPr>
            <a:t>Reduced productivity</a:t>
          </a:r>
        </a:p>
      </dsp:txBody>
      <dsp:txXfrm>
        <a:off x="4327592" y="1844"/>
        <a:ext cx="1042713" cy="1042713"/>
      </dsp:txXfrm>
    </dsp:sp>
    <dsp:sp modelId="{41E3703C-8E80-974E-9608-44DB50E48807}">
      <dsp:nvSpPr>
        <dsp:cNvPr id="0" name=""/>
        <dsp:cNvSpPr/>
      </dsp:nvSpPr>
      <dsp:spPr>
        <a:xfrm>
          <a:off x="1072683" y="57333"/>
          <a:ext cx="5400492" cy="5400492"/>
        </a:xfrm>
        <a:prstGeom prst="circularArrow">
          <a:avLst>
            <a:gd name="adj1" fmla="val 3765"/>
            <a:gd name="adj2" fmla="val 234925"/>
            <a:gd name="adj3" fmla="val 19826550"/>
            <a:gd name="adj4" fmla="val 18605941"/>
            <a:gd name="adj5" fmla="val 4393"/>
          </a:avLst>
        </a:prstGeom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270000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9FF075-C711-664A-9EF9-1382FC94B094}">
      <dsp:nvSpPr>
        <dsp:cNvPr id="0" name=""/>
        <dsp:cNvSpPr/>
      </dsp:nvSpPr>
      <dsp:spPr>
        <a:xfrm>
          <a:off x="5669367" y="1684377"/>
          <a:ext cx="1042713" cy="104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Increased Absenteeism</a:t>
          </a:r>
        </a:p>
      </dsp:txBody>
      <dsp:txXfrm>
        <a:off x="5669367" y="1684377"/>
        <a:ext cx="1042713" cy="1042713"/>
      </dsp:txXfrm>
    </dsp:sp>
    <dsp:sp modelId="{C0D2873E-A3FF-5C47-BEFD-898E66DF9FBA}">
      <dsp:nvSpPr>
        <dsp:cNvPr id="0" name=""/>
        <dsp:cNvSpPr/>
      </dsp:nvSpPr>
      <dsp:spPr>
        <a:xfrm>
          <a:off x="1072683" y="57333"/>
          <a:ext cx="5400492" cy="5400492"/>
        </a:xfrm>
        <a:prstGeom prst="circularArrow">
          <a:avLst>
            <a:gd name="adj1" fmla="val 3765"/>
            <a:gd name="adj2" fmla="val 234925"/>
            <a:gd name="adj3" fmla="val 1229673"/>
            <a:gd name="adj4" fmla="val 21557735"/>
            <a:gd name="adj5" fmla="val 4393"/>
          </a:avLst>
        </a:prstGeom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540000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CA5058-C8EA-CA4F-803C-F2038F6F3730}">
      <dsp:nvSpPr>
        <dsp:cNvPr id="0" name=""/>
        <dsp:cNvSpPr/>
      </dsp:nvSpPr>
      <dsp:spPr>
        <a:xfrm>
          <a:off x="5190493" y="3782461"/>
          <a:ext cx="1042713" cy="104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Elevated Healthcare Costs</a:t>
          </a:r>
        </a:p>
      </dsp:txBody>
      <dsp:txXfrm>
        <a:off x="5190493" y="3782461"/>
        <a:ext cx="1042713" cy="1042713"/>
      </dsp:txXfrm>
    </dsp:sp>
    <dsp:sp modelId="{8ABFB698-D27C-BA49-B7BD-B3AC9ECC641F}">
      <dsp:nvSpPr>
        <dsp:cNvPr id="0" name=""/>
        <dsp:cNvSpPr/>
      </dsp:nvSpPr>
      <dsp:spPr>
        <a:xfrm>
          <a:off x="1072683" y="57333"/>
          <a:ext cx="5400492" cy="5400492"/>
        </a:xfrm>
        <a:prstGeom prst="circularArrow">
          <a:avLst>
            <a:gd name="adj1" fmla="val 3765"/>
            <a:gd name="adj2" fmla="val 234925"/>
            <a:gd name="adj3" fmla="val 4436936"/>
            <a:gd name="adj4" fmla="val 3308268"/>
            <a:gd name="adj5" fmla="val 4393"/>
          </a:avLst>
        </a:prstGeom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810000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E2DB93-CFA6-6647-B8C5-E9B5EDEEF565}">
      <dsp:nvSpPr>
        <dsp:cNvPr id="0" name=""/>
        <dsp:cNvSpPr/>
      </dsp:nvSpPr>
      <dsp:spPr>
        <a:xfrm>
          <a:off x="3251572" y="4716196"/>
          <a:ext cx="1042713" cy="104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Higher Turnover</a:t>
          </a:r>
        </a:p>
      </dsp:txBody>
      <dsp:txXfrm>
        <a:off x="3251572" y="4716196"/>
        <a:ext cx="1042713" cy="1042713"/>
      </dsp:txXfrm>
    </dsp:sp>
    <dsp:sp modelId="{D5178222-410E-5342-9647-263A1CB1AEB8}">
      <dsp:nvSpPr>
        <dsp:cNvPr id="0" name=""/>
        <dsp:cNvSpPr/>
      </dsp:nvSpPr>
      <dsp:spPr>
        <a:xfrm>
          <a:off x="1072683" y="57333"/>
          <a:ext cx="5400492" cy="5400492"/>
        </a:xfrm>
        <a:prstGeom prst="circularArrow">
          <a:avLst>
            <a:gd name="adj1" fmla="val 3765"/>
            <a:gd name="adj2" fmla="val 234925"/>
            <a:gd name="adj3" fmla="val 7256806"/>
            <a:gd name="adj4" fmla="val 6128139"/>
            <a:gd name="adj5" fmla="val 4393"/>
          </a:avLst>
        </a:prstGeom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1080000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6282A1-1686-A748-BC52-CDE4C63A130C}">
      <dsp:nvSpPr>
        <dsp:cNvPr id="0" name=""/>
        <dsp:cNvSpPr/>
      </dsp:nvSpPr>
      <dsp:spPr>
        <a:xfrm>
          <a:off x="1312651" y="3782461"/>
          <a:ext cx="1042713" cy="104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Workplace Safety</a:t>
          </a:r>
        </a:p>
      </dsp:txBody>
      <dsp:txXfrm>
        <a:off x="1312651" y="3782461"/>
        <a:ext cx="1042713" cy="1042713"/>
      </dsp:txXfrm>
    </dsp:sp>
    <dsp:sp modelId="{1F6D78F0-102A-5245-A79A-1B66AFA54F02}">
      <dsp:nvSpPr>
        <dsp:cNvPr id="0" name=""/>
        <dsp:cNvSpPr/>
      </dsp:nvSpPr>
      <dsp:spPr>
        <a:xfrm>
          <a:off x="1062692" y="-10820"/>
          <a:ext cx="5420474" cy="5536801"/>
        </a:xfrm>
        <a:prstGeom prst="circularArrow">
          <a:avLst>
            <a:gd name="adj1" fmla="val 3765"/>
            <a:gd name="adj2" fmla="val 234925"/>
            <a:gd name="adj3" fmla="val 10607340"/>
            <a:gd name="adj4" fmla="val 9335402"/>
            <a:gd name="adj5" fmla="val 4393"/>
          </a:avLst>
        </a:prstGeom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1620000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2586E3-8412-2B45-A915-DED2F769F4F8}">
      <dsp:nvSpPr>
        <dsp:cNvPr id="0" name=""/>
        <dsp:cNvSpPr/>
      </dsp:nvSpPr>
      <dsp:spPr>
        <a:xfrm>
          <a:off x="833777" y="1684377"/>
          <a:ext cx="1042713" cy="104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Diminished Engagement/ Morale</a:t>
          </a:r>
        </a:p>
      </dsp:txBody>
      <dsp:txXfrm>
        <a:off x="833777" y="1684377"/>
        <a:ext cx="1042713" cy="1042713"/>
      </dsp:txXfrm>
    </dsp:sp>
    <dsp:sp modelId="{984664E5-6FD9-A440-A1CD-CE2CC112B8A4}">
      <dsp:nvSpPr>
        <dsp:cNvPr id="0" name=""/>
        <dsp:cNvSpPr/>
      </dsp:nvSpPr>
      <dsp:spPr>
        <a:xfrm>
          <a:off x="1072683" y="57333"/>
          <a:ext cx="5400492" cy="5400492"/>
        </a:xfrm>
        <a:prstGeom prst="circularArrow">
          <a:avLst>
            <a:gd name="adj1" fmla="val 3765"/>
            <a:gd name="adj2" fmla="val 234925"/>
            <a:gd name="adj3" fmla="val 13559133"/>
            <a:gd name="adj4" fmla="val 12338524"/>
            <a:gd name="adj5" fmla="val 4393"/>
          </a:avLst>
        </a:prstGeom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1890000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EFB572-EB87-D949-B712-DFAF3D54C205}">
      <dsp:nvSpPr>
        <dsp:cNvPr id="0" name=""/>
        <dsp:cNvSpPr/>
      </dsp:nvSpPr>
      <dsp:spPr>
        <a:xfrm>
          <a:off x="2175552" y="1844"/>
          <a:ext cx="1042713" cy="104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Increased Presenteeism</a:t>
          </a:r>
        </a:p>
      </dsp:txBody>
      <dsp:txXfrm>
        <a:off x="2175552" y="1844"/>
        <a:ext cx="1042713" cy="1042713"/>
      </dsp:txXfrm>
    </dsp:sp>
    <dsp:sp modelId="{64145C76-700E-144A-9D67-BA212F1EC65F}">
      <dsp:nvSpPr>
        <dsp:cNvPr id="0" name=""/>
        <dsp:cNvSpPr/>
      </dsp:nvSpPr>
      <dsp:spPr>
        <a:xfrm>
          <a:off x="1072683" y="57333"/>
          <a:ext cx="5400492" cy="5400492"/>
        </a:xfrm>
        <a:prstGeom prst="circularArrow">
          <a:avLst>
            <a:gd name="adj1" fmla="val 3765"/>
            <a:gd name="adj2" fmla="val 234925"/>
            <a:gd name="adj3" fmla="val 16740509"/>
            <a:gd name="adj4" fmla="val 15424565"/>
            <a:gd name="adj5" fmla="val 4393"/>
          </a:avLst>
        </a:prstGeom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0B2949-CC65-824E-9A76-BDC2308FEF2E}">
      <dsp:nvSpPr>
        <dsp:cNvPr id="0" name=""/>
        <dsp:cNvSpPr/>
      </dsp:nvSpPr>
      <dsp:spPr>
        <a:xfrm>
          <a:off x="4327592" y="1844"/>
          <a:ext cx="1042713" cy="104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chemeClr val="tx1"/>
              </a:solidFill>
            </a:rPr>
            <a:t>Reduced productivity</a:t>
          </a:r>
        </a:p>
      </dsp:txBody>
      <dsp:txXfrm>
        <a:off x="4327592" y="1844"/>
        <a:ext cx="1042713" cy="1042713"/>
      </dsp:txXfrm>
    </dsp:sp>
    <dsp:sp modelId="{41E3703C-8E80-974E-9608-44DB50E48807}">
      <dsp:nvSpPr>
        <dsp:cNvPr id="0" name=""/>
        <dsp:cNvSpPr/>
      </dsp:nvSpPr>
      <dsp:spPr>
        <a:xfrm>
          <a:off x="1072683" y="57333"/>
          <a:ext cx="5400492" cy="5400492"/>
        </a:xfrm>
        <a:prstGeom prst="circularArrow">
          <a:avLst>
            <a:gd name="adj1" fmla="val 3765"/>
            <a:gd name="adj2" fmla="val 234925"/>
            <a:gd name="adj3" fmla="val 19826550"/>
            <a:gd name="adj4" fmla="val 18605941"/>
            <a:gd name="adj5" fmla="val 4393"/>
          </a:avLst>
        </a:prstGeom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270000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9FF075-C711-664A-9EF9-1382FC94B094}">
      <dsp:nvSpPr>
        <dsp:cNvPr id="0" name=""/>
        <dsp:cNvSpPr/>
      </dsp:nvSpPr>
      <dsp:spPr>
        <a:xfrm>
          <a:off x="5669367" y="1684377"/>
          <a:ext cx="1042713" cy="104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rgbClr val="9A7352"/>
              </a:solidFill>
            </a:rPr>
            <a:t>Increased Absenteeism</a:t>
          </a:r>
        </a:p>
      </dsp:txBody>
      <dsp:txXfrm>
        <a:off x="5669367" y="1684377"/>
        <a:ext cx="1042713" cy="1042713"/>
      </dsp:txXfrm>
    </dsp:sp>
    <dsp:sp modelId="{C0D2873E-A3FF-5C47-BEFD-898E66DF9FBA}">
      <dsp:nvSpPr>
        <dsp:cNvPr id="0" name=""/>
        <dsp:cNvSpPr/>
      </dsp:nvSpPr>
      <dsp:spPr>
        <a:xfrm>
          <a:off x="1072683" y="57333"/>
          <a:ext cx="5400492" cy="5400492"/>
        </a:xfrm>
        <a:prstGeom prst="circularArrow">
          <a:avLst>
            <a:gd name="adj1" fmla="val 3765"/>
            <a:gd name="adj2" fmla="val 234925"/>
            <a:gd name="adj3" fmla="val 1229673"/>
            <a:gd name="adj4" fmla="val 21557735"/>
            <a:gd name="adj5" fmla="val 4393"/>
          </a:avLst>
        </a:prstGeom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540000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CA5058-C8EA-CA4F-803C-F2038F6F3730}">
      <dsp:nvSpPr>
        <dsp:cNvPr id="0" name=""/>
        <dsp:cNvSpPr/>
      </dsp:nvSpPr>
      <dsp:spPr>
        <a:xfrm>
          <a:off x="5190493" y="3782461"/>
          <a:ext cx="1042713" cy="104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Elevated Healthcare Costs</a:t>
          </a:r>
        </a:p>
      </dsp:txBody>
      <dsp:txXfrm>
        <a:off x="5190493" y="3782461"/>
        <a:ext cx="1042713" cy="1042713"/>
      </dsp:txXfrm>
    </dsp:sp>
    <dsp:sp modelId="{8ABFB698-D27C-BA49-B7BD-B3AC9ECC641F}">
      <dsp:nvSpPr>
        <dsp:cNvPr id="0" name=""/>
        <dsp:cNvSpPr/>
      </dsp:nvSpPr>
      <dsp:spPr>
        <a:xfrm>
          <a:off x="1072683" y="57333"/>
          <a:ext cx="5400492" cy="5400492"/>
        </a:xfrm>
        <a:prstGeom prst="circularArrow">
          <a:avLst>
            <a:gd name="adj1" fmla="val 3765"/>
            <a:gd name="adj2" fmla="val 234925"/>
            <a:gd name="adj3" fmla="val 4436936"/>
            <a:gd name="adj4" fmla="val 3308268"/>
            <a:gd name="adj5" fmla="val 4393"/>
          </a:avLst>
        </a:prstGeom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810000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E2DB93-CFA6-6647-B8C5-E9B5EDEEF565}">
      <dsp:nvSpPr>
        <dsp:cNvPr id="0" name=""/>
        <dsp:cNvSpPr/>
      </dsp:nvSpPr>
      <dsp:spPr>
        <a:xfrm>
          <a:off x="3251572" y="4716196"/>
          <a:ext cx="1042713" cy="104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Higher Turnover</a:t>
          </a:r>
        </a:p>
      </dsp:txBody>
      <dsp:txXfrm>
        <a:off x="3251572" y="4716196"/>
        <a:ext cx="1042713" cy="1042713"/>
      </dsp:txXfrm>
    </dsp:sp>
    <dsp:sp modelId="{D5178222-410E-5342-9647-263A1CB1AEB8}">
      <dsp:nvSpPr>
        <dsp:cNvPr id="0" name=""/>
        <dsp:cNvSpPr/>
      </dsp:nvSpPr>
      <dsp:spPr>
        <a:xfrm>
          <a:off x="1072683" y="57333"/>
          <a:ext cx="5400492" cy="5400492"/>
        </a:xfrm>
        <a:prstGeom prst="circularArrow">
          <a:avLst>
            <a:gd name="adj1" fmla="val 3765"/>
            <a:gd name="adj2" fmla="val 234925"/>
            <a:gd name="adj3" fmla="val 7256806"/>
            <a:gd name="adj4" fmla="val 6128139"/>
            <a:gd name="adj5" fmla="val 4393"/>
          </a:avLst>
        </a:prstGeom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1080000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6282A1-1686-A748-BC52-CDE4C63A130C}">
      <dsp:nvSpPr>
        <dsp:cNvPr id="0" name=""/>
        <dsp:cNvSpPr/>
      </dsp:nvSpPr>
      <dsp:spPr>
        <a:xfrm>
          <a:off x="1312651" y="3782461"/>
          <a:ext cx="1042713" cy="104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Workplace Safety</a:t>
          </a:r>
        </a:p>
      </dsp:txBody>
      <dsp:txXfrm>
        <a:off x="1312651" y="3782461"/>
        <a:ext cx="1042713" cy="1042713"/>
      </dsp:txXfrm>
    </dsp:sp>
    <dsp:sp modelId="{1F6D78F0-102A-5245-A79A-1B66AFA54F02}">
      <dsp:nvSpPr>
        <dsp:cNvPr id="0" name=""/>
        <dsp:cNvSpPr/>
      </dsp:nvSpPr>
      <dsp:spPr>
        <a:xfrm>
          <a:off x="1062692" y="-10820"/>
          <a:ext cx="5420474" cy="5536801"/>
        </a:xfrm>
        <a:prstGeom prst="circularArrow">
          <a:avLst>
            <a:gd name="adj1" fmla="val 3765"/>
            <a:gd name="adj2" fmla="val 234925"/>
            <a:gd name="adj3" fmla="val 10607340"/>
            <a:gd name="adj4" fmla="val 9335402"/>
            <a:gd name="adj5" fmla="val 4393"/>
          </a:avLst>
        </a:prstGeom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1620000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2586E3-8412-2B45-A915-DED2F769F4F8}">
      <dsp:nvSpPr>
        <dsp:cNvPr id="0" name=""/>
        <dsp:cNvSpPr/>
      </dsp:nvSpPr>
      <dsp:spPr>
        <a:xfrm>
          <a:off x="833777" y="1684377"/>
          <a:ext cx="1042713" cy="104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Diminished Engagement/ Morale</a:t>
          </a:r>
        </a:p>
      </dsp:txBody>
      <dsp:txXfrm>
        <a:off x="833777" y="1684377"/>
        <a:ext cx="1042713" cy="1042713"/>
      </dsp:txXfrm>
    </dsp:sp>
    <dsp:sp modelId="{984664E5-6FD9-A440-A1CD-CE2CC112B8A4}">
      <dsp:nvSpPr>
        <dsp:cNvPr id="0" name=""/>
        <dsp:cNvSpPr/>
      </dsp:nvSpPr>
      <dsp:spPr>
        <a:xfrm>
          <a:off x="1072683" y="57333"/>
          <a:ext cx="5400492" cy="5400492"/>
        </a:xfrm>
        <a:prstGeom prst="circularArrow">
          <a:avLst>
            <a:gd name="adj1" fmla="val 3765"/>
            <a:gd name="adj2" fmla="val 234925"/>
            <a:gd name="adj3" fmla="val 13559133"/>
            <a:gd name="adj4" fmla="val 12338524"/>
            <a:gd name="adj5" fmla="val 4393"/>
          </a:avLst>
        </a:prstGeom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1890000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EFB572-EB87-D949-B712-DFAF3D54C205}">
      <dsp:nvSpPr>
        <dsp:cNvPr id="0" name=""/>
        <dsp:cNvSpPr/>
      </dsp:nvSpPr>
      <dsp:spPr>
        <a:xfrm>
          <a:off x="2175552" y="1844"/>
          <a:ext cx="1042713" cy="104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Increased Presenteeism</a:t>
          </a:r>
        </a:p>
      </dsp:txBody>
      <dsp:txXfrm>
        <a:off x="2175552" y="1844"/>
        <a:ext cx="1042713" cy="1042713"/>
      </dsp:txXfrm>
    </dsp:sp>
    <dsp:sp modelId="{64145C76-700E-144A-9D67-BA212F1EC65F}">
      <dsp:nvSpPr>
        <dsp:cNvPr id="0" name=""/>
        <dsp:cNvSpPr/>
      </dsp:nvSpPr>
      <dsp:spPr>
        <a:xfrm>
          <a:off x="1072683" y="57333"/>
          <a:ext cx="5400492" cy="5400492"/>
        </a:xfrm>
        <a:prstGeom prst="circularArrow">
          <a:avLst>
            <a:gd name="adj1" fmla="val 3765"/>
            <a:gd name="adj2" fmla="val 234925"/>
            <a:gd name="adj3" fmla="val 16740509"/>
            <a:gd name="adj4" fmla="val 15424565"/>
            <a:gd name="adj5" fmla="val 4393"/>
          </a:avLst>
        </a:prstGeom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0B2949-CC65-824E-9A76-BDC2308FEF2E}">
      <dsp:nvSpPr>
        <dsp:cNvPr id="0" name=""/>
        <dsp:cNvSpPr/>
      </dsp:nvSpPr>
      <dsp:spPr>
        <a:xfrm>
          <a:off x="4327592" y="1844"/>
          <a:ext cx="1042713" cy="104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chemeClr val="tx1"/>
              </a:solidFill>
            </a:rPr>
            <a:t>Reduced productivity</a:t>
          </a:r>
        </a:p>
      </dsp:txBody>
      <dsp:txXfrm>
        <a:off x="4327592" y="1844"/>
        <a:ext cx="1042713" cy="1042713"/>
      </dsp:txXfrm>
    </dsp:sp>
    <dsp:sp modelId="{41E3703C-8E80-974E-9608-44DB50E48807}">
      <dsp:nvSpPr>
        <dsp:cNvPr id="0" name=""/>
        <dsp:cNvSpPr/>
      </dsp:nvSpPr>
      <dsp:spPr>
        <a:xfrm>
          <a:off x="1072683" y="57333"/>
          <a:ext cx="5400492" cy="5400492"/>
        </a:xfrm>
        <a:prstGeom prst="circularArrow">
          <a:avLst>
            <a:gd name="adj1" fmla="val 3765"/>
            <a:gd name="adj2" fmla="val 234925"/>
            <a:gd name="adj3" fmla="val 19826550"/>
            <a:gd name="adj4" fmla="val 18605941"/>
            <a:gd name="adj5" fmla="val 4393"/>
          </a:avLst>
        </a:prstGeom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270000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9FF075-C711-664A-9EF9-1382FC94B094}">
      <dsp:nvSpPr>
        <dsp:cNvPr id="0" name=""/>
        <dsp:cNvSpPr/>
      </dsp:nvSpPr>
      <dsp:spPr>
        <a:xfrm>
          <a:off x="5669367" y="1684377"/>
          <a:ext cx="1042713" cy="104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chemeClr val="tx1"/>
              </a:solidFill>
            </a:rPr>
            <a:t>Increased Absenteeism</a:t>
          </a:r>
        </a:p>
      </dsp:txBody>
      <dsp:txXfrm>
        <a:off x="5669367" y="1684377"/>
        <a:ext cx="1042713" cy="1042713"/>
      </dsp:txXfrm>
    </dsp:sp>
    <dsp:sp modelId="{C0D2873E-A3FF-5C47-BEFD-898E66DF9FBA}">
      <dsp:nvSpPr>
        <dsp:cNvPr id="0" name=""/>
        <dsp:cNvSpPr/>
      </dsp:nvSpPr>
      <dsp:spPr>
        <a:xfrm>
          <a:off x="1072683" y="57333"/>
          <a:ext cx="5400492" cy="5400492"/>
        </a:xfrm>
        <a:prstGeom prst="circularArrow">
          <a:avLst>
            <a:gd name="adj1" fmla="val 3765"/>
            <a:gd name="adj2" fmla="val 234925"/>
            <a:gd name="adj3" fmla="val 1229673"/>
            <a:gd name="adj4" fmla="val 21557735"/>
            <a:gd name="adj5" fmla="val 4393"/>
          </a:avLst>
        </a:prstGeom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540000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CA5058-C8EA-CA4F-803C-F2038F6F3730}">
      <dsp:nvSpPr>
        <dsp:cNvPr id="0" name=""/>
        <dsp:cNvSpPr/>
      </dsp:nvSpPr>
      <dsp:spPr>
        <a:xfrm>
          <a:off x="5190493" y="3782461"/>
          <a:ext cx="1042713" cy="104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rgbClr val="9A7352"/>
              </a:solidFill>
            </a:rPr>
            <a:t>Elevated Healthcare Costs</a:t>
          </a:r>
        </a:p>
      </dsp:txBody>
      <dsp:txXfrm>
        <a:off x="5190493" y="3782461"/>
        <a:ext cx="1042713" cy="1042713"/>
      </dsp:txXfrm>
    </dsp:sp>
    <dsp:sp modelId="{8ABFB698-D27C-BA49-B7BD-B3AC9ECC641F}">
      <dsp:nvSpPr>
        <dsp:cNvPr id="0" name=""/>
        <dsp:cNvSpPr/>
      </dsp:nvSpPr>
      <dsp:spPr>
        <a:xfrm>
          <a:off x="1072683" y="57333"/>
          <a:ext cx="5400492" cy="5400492"/>
        </a:xfrm>
        <a:prstGeom prst="circularArrow">
          <a:avLst>
            <a:gd name="adj1" fmla="val 3765"/>
            <a:gd name="adj2" fmla="val 234925"/>
            <a:gd name="adj3" fmla="val 4436936"/>
            <a:gd name="adj4" fmla="val 3308268"/>
            <a:gd name="adj5" fmla="val 4393"/>
          </a:avLst>
        </a:prstGeom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810000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E2DB93-CFA6-6647-B8C5-E9B5EDEEF565}">
      <dsp:nvSpPr>
        <dsp:cNvPr id="0" name=""/>
        <dsp:cNvSpPr/>
      </dsp:nvSpPr>
      <dsp:spPr>
        <a:xfrm>
          <a:off x="3251572" y="4716196"/>
          <a:ext cx="1042713" cy="104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Higher Turnover</a:t>
          </a:r>
        </a:p>
      </dsp:txBody>
      <dsp:txXfrm>
        <a:off x="3251572" y="4716196"/>
        <a:ext cx="1042713" cy="1042713"/>
      </dsp:txXfrm>
    </dsp:sp>
    <dsp:sp modelId="{D5178222-410E-5342-9647-263A1CB1AEB8}">
      <dsp:nvSpPr>
        <dsp:cNvPr id="0" name=""/>
        <dsp:cNvSpPr/>
      </dsp:nvSpPr>
      <dsp:spPr>
        <a:xfrm>
          <a:off x="1072683" y="57333"/>
          <a:ext cx="5400492" cy="5400492"/>
        </a:xfrm>
        <a:prstGeom prst="circularArrow">
          <a:avLst>
            <a:gd name="adj1" fmla="val 3765"/>
            <a:gd name="adj2" fmla="val 234925"/>
            <a:gd name="adj3" fmla="val 7256806"/>
            <a:gd name="adj4" fmla="val 6128139"/>
            <a:gd name="adj5" fmla="val 4393"/>
          </a:avLst>
        </a:prstGeom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1080000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6282A1-1686-A748-BC52-CDE4C63A130C}">
      <dsp:nvSpPr>
        <dsp:cNvPr id="0" name=""/>
        <dsp:cNvSpPr/>
      </dsp:nvSpPr>
      <dsp:spPr>
        <a:xfrm>
          <a:off x="1312651" y="3782461"/>
          <a:ext cx="1042713" cy="104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Workplace Safety</a:t>
          </a:r>
        </a:p>
      </dsp:txBody>
      <dsp:txXfrm>
        <a:off x="1312651" y="3782461"/>
        <a:ext cx="1042713" cy="1042713"/>
      </dsp:txXfrm>
    </dsp:sp>
    <dsp:sp modelId="{1F6D78F0-102A-5245-A79A-1B66AFA54F02}">
      <dsp:nvSpPr>
        <dsp:cNvPr id="0" name=""/>
        <dsp:cNvSpPr/>
      </dsp:nvSpPr>
      <dsp:spPr>
        <a:xfrm>
          <a:off x="1062692" y="-10820"/>
          <a:ext cx="5420474" cy="5536801"/>
        </a:xfrm>
        <a:prstGeom prst="circularArrow">
          <a:avLst>
            <a:gd name="adj1" fmla="val 3765"/>
            <a:gd name="adj2" fmla="val 234925"/>
            <a:gd name="adj3" fmla="val 10607340"/>
            <a:gd name="adj4" fmla="val 9335402"/>
            <a:gd name="adj5" fmla="val 4393"/>
          </a:avLst>
        </a:prstGeom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1620000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2586E3-8412-2B45-A915-DED2F769F4F8}">
      <dsp:nvSpPr>
        <dsp:cNvPr id="0" name=""/>
        <dsp:cNvSpPr/>
      </dsp:nvSpPr>
      <dsp:spPr>
        <a:xfrm>
          <a:off x="833777" y="1684377"/>
          <a:ext cx="1042713" cy="104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Diminished Engagement/ Morale</a:t>
          </a:r>
        </a:p>
      </dsp:txBody>
      <dsp:txXfrm>
        <a:off x="833777" y="1684377"/>
        <a:ext cx="1042713" cy="1042713"/>
      </dsp:txXfrm>
    </dsp:sp>
    <dsp:sp modelId="{984664E5-6FD9-A440-A1CD-CE2CC112B8A4}">
      <dsp:nvSpPr>
        <dsp:cNvPr id="0" name=""/>
        <dsp:cNvSpPr/>
      </dsp:nvSpPr>
      <dsp:spPr>
        <a:xfrm>
          <a:off x="1072683" y="57333"/>
          <a:ext cx="5400492" cy="5400492"/>
        </a:xfrm>
        <a:prstGeom prst="circularArrow">
          <a:avLst>
            <a:gd name="adj1" fmla="val 3765"/>
            <a:gd name="adj2" fmla="val 234925"/>
            <a:gd name="adj3" fmla="val 13559133"/>
            <a:gd name="adj4" fmla="val 12338524"/>
            <a:gd name="adj5" fmla="val 4393"/>
          </a:avLst>
        </a:prstGeom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1890000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EFB572-EB87-D949-B712-DFAF3D54C205}">
      <dsp:nvSpPr>
        <dsp:cNvPr id="0" name=""/>
        <dsp:cNvSpPr/>
      </dsp:nvSpPr>
      <dsp:spPr>
        <a:xfrm>
          <a:off x="2175552" y="1844"/>
          <a:ext cx="1042713" cy="104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Increased Presenteeism</a:t>
          </a:r>
        </a:p>
      </dsp:txBody>
      <dsp:txXfrm>
        <a:off x="2175552" y="1844"/>
        <a:ext cx="1042713" cy="1042713"/>
      </dsp:txXfrm>
    </dsp:sp>
    <dsp:sp modelId="{64145C76-700E-144A-9D67-BA212F1EC65F}">
      <dsp:nvSpPr>
        <dsp:cNvPr id="0" name=""/>
        <dsp:cNvSpPr/>
      </dsp:nvSpPr>
      <dsp:spPr>
        <a:xfrm>
          <a:off x="1072683" y="57333"/>
          <a:ext cx="5400492" cy="5400492"/>
        </a:xfrm>
        <a:prstGeom prst="circularArrow">
          <a:avLst>
            <a:gd name="adj1" fmla="val 3765"/>
            <a:gd name="adj2" fmla="val 234925"/>
            <a:gd name="adj3" fmla="val 16740509"/>
            <a:gd name="adj4" fmla="val 15424565"/>
            <a:gd name="adj5" fmla="val 4393"/>
          </a:avLst>
        </a:prstGeom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0B2949-CC65-824E-9A76-BDC2308FEF2E}">
      <dsp:nvSpPr>
        <dsp:cNvPr id="0" name=""/>
        <dsp:cNvSpPr/>
      </dsp:nvSpPr>
      <dsp:spPr>
        <a:xfrm>
          <a:off x="4327592" y="1844"/>
          <a:ext cx="1042713" cy="104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chemeClr val="tx1"/>
              </a:solidFill>
            </a:rPr>
            <a:t>Reduced productivity</a:t>
          </a:r>
        </a:p>
      </dsp:txBody>
      <dsp:txXfrm>
        <a:off x="4327592" y="1844"/>
        <a:ext cx="1042713" cy="1042713"/>
      </dsp:txXfrm>
    </dsp:sp>
    <dsp:sp modelId="{41E3703C-8E80-974E-9608-44DB50E48807}">
      <dsp:nvSpPr>
        <dsp:cNvPr id="0" name=""/>
        <dsp:cNvSpPr/>
      </dsp:nvSpPr>
      <dsp:spPr>
        <a:xfrm>
          <a:off x="1072683" y="57333"/>
          <a:ext cx="5400492" cy="5400492"/>
        </a:xfrm>
        <a:prstGeom prst="circularArrow">
          <a:avLst>
            <a:gd name="adj1" fmla="val 3765"/>
            <a:gd name="adj2" fmla="val 234925"/>
            <a:gd name="adj3" fmla="val 19826550"/>
            <a:gd name="adj4" fmla="val 18605941"/>
            <a:gd name="adj5" fmla="val 4393"/>
          </a:avLst>
        </a:prstGeom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270000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9FF075-C711-664A-9EF9-1382FC94B094}">
      <dsp:nvSpPr>
        <dsp:cNvPr id="0" name=""/>
        <dsp:cNvSpPr/>
      </dsp:nvSpPr>
      <dsp:spPr>
        <a:xfrm>
          <a:off x="5669367" y="1684377"/>
          <a:ext cx="1042713" cy="104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chemeClr val="tx1"/>
              </a:solidFill>
            </a:rPr>
            <a:t>Increased Absenteeism</a:t>
          </a:r>
        </a:p>
      </dsp:txBody>
      <dsp:txXfrm>
        <a:off x="5669367" y="1684377"/>
        <a:ext cx="1042713" cy="1042713"/>
      </dsp:txXfrm>
    </dsp:sp>
    <dsp:sp modelId="{C0D2873E-A3FF-5C47-BEFD-898E66DF9FBA}">
      <dsp:nvSpPr>
        <dsp:cNvPr id="0" name=""/>
        <dsp:cNvSpPr/>
      </dsp:nvSpPr>
      <dsp:spPr>
        <a:xfrm>
          <a:off x="1072683" y="57333"/>
          <a:ext cx="5400492" cy="5400492"/>
        </a:xfrm>
        <a:prstGeom prst="circularArrow">
          <a:avLst>
            <a:gd name="adj1" fmla="val 3765"/>
            <a:gd name="adj2" fmla="val 234925"/>
            <a:gd name="adj3" fmla="val 1229673"/>
            <a:gd name="adj4" fmla="val 21557735"/>
            <a:gd name="adj5" fmla="val 4393"/>
          </a:avLst>
        </a:prstGeom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540000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CA5058-C8EA-CA4F-803C-F2038F6F3730}">
      <dsp:nvSpPr>
        <dsp:cNvPr id="0" name=""/>
        <dsp:cNvSpPr/>
      </dsp:nvSpPr>
      <dsp:spPr>
        <a:xfrm>
          <a:off x="5190493" y="3782461"/>
          <a:ext cx="1042713" cy="104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chemeClr val="tx1"/>
              </a:solidFill>
            </a:rPr>
            <a:t>Elevated Healthcare Costs</a:t>
          </a:r>
        </a:p>
      </dsp:txBody>
      <dsp:txXfrm>
        <a:off x="5190493" y="3782461"/>
        <a:ext cx="1042713" cy="1042713"/>
      </dsp:txXfrm>
    </dsp:sp>
    <dsp:sp modelId="{8ABFB698-D27C-BA49-B7BD-B3AC9ECC641F}">
      <dsp:nvSpPr>
        <dsp:cNvPr id="0" name=""/>
        <dsp:cNvSpPr/>
      </dsp:nvSpPr>
      <dsp:spPr>
        <a:xfrm>
          <a:off x="1072683" y="57333"/>
          <a:ext cx="5400492" cy="5400492"/>
        </a:xfrm>
        <a:prstGeom prst="circularArrow">
          <a:avLst>
            <a:gd name="adj1" fmla="val 3765"/>
            <a:gd name="adj2" fmla="val 234925"/>
            <a:gd name="adj3" fmla="val 4436936"/>
            <a:gd name="adj4" fmla="val 3308268"/>
            <a:gd name="adj5" fmla="val 4393"/>
          </a:avLst>
        </a:prstGeom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810000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E2DB93-CFA6-6647-B8C5-E9B5EDEEF565}">
      <dsp:nvSpPr>
        <dsp:cNvPr id="0" name=""/>
        <dsp:cNvSpPr/>
      </dsp:nvSpPr>
      <dsp:spPr>
        <a:xfrm>
          <a:off x="3251572" y="4716196"/>
          <a:ext cx="1042713" cy="104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rgbClr val="9A7352"/>
              </a:solidFill>
            </a:rPr>
            <a:t>Higher Turnover</a:t>
          </a:r>
        </a:p>
      </dsp:txBody>
      <dsp:txXfrm>
        <a:off x="3251572" y="4716196"/>
        <a:ext cx="1042713" cy="1042713"/>
      </dsp:txXfrm>
    </dsp:sp>
    <dsp:sp modelId="{D5178222-410E-5342-9647-263A1CB1AEB8}">
      <dsp:nvSpPr>
        <dsp:cNvPr id="0" name=""/>
        <dsp:cNvSpPr/>
      </dsp:nvSpPr>
      <dsp:spPr>
        <a:xfrm>
          <a:off x="1072683" y="57333"/>
          <a:ext cx="5400492" cy="5400492"/>
        </a:xfrm>
        <a:prstGeom prst="circularArrow">
          <a:avLst>
            <a:gd name="adj1" fmla="val 3765"/>
            <a:gd name="adj2" fmla="val 234925"/>
            <a:gd name="adj3" fmla="val 7256806"/>
            <a:gd name="adj4" fmla="val 6128139"/>
            <a:gd name="adj5" fmla="val 4393"/>
          </a:avLst>
        </a:prstGeom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1080000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6282A1-1686-A748-BC52-CDE4C63A130C}">
      <dsp:nvSpPr>
        <dsp:cNvPr id="0" name=""/>
        <dsp:cNvSpPr/>
      </dsp:nvSpPr>
      <dsp:spPr>
        <a:xfrm>
          <a:off x="1312651" y="3782461"/>
          <a:ext cx="1042713" cy="104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Workplace Safety</a:t>
          </a:r>
        </a:p>
      </dsp:txBody>
      <dsp:txXfrm>
        <a:off x="1312651" y="3782461"/>
        <a:ext cx="1042713" cy="1042713"/>
      </dsp:txXfrm>
    </dsp:sp>
    <dsp:sp modelId="{1F6D78F0-102A-5245-A79A-1B66AFA54F02}">
      <dsp:nvSpPr>
        <dsp:cNvPr id="0" name=""/>
        <dsp:cNvSpPr/>
      </dsp:nvSpPr>
      <dsp:spPr>
        <a:xfrm>
          <a:off x="1062692" y="-10820"/>
          <a:ext cx="5420474" cy="5536801"/>
        </a:xfrm>
        <a:prstGeom prst="circularArrow">
          <a:avLst>
            <a:gd name="adj1" fmla="val 3765"/>
            <a:gd name="adj2" fmla="val 234925"/>
            <a:gd name="adj3" fmla="val 10607340"/>
            <a:gd name="adj4" fmla="val 9335402"/>
            <a:gd name="adj5" fmla="val 4393"/>
          </a:avLst>
        </a:prstGeom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1620000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2586E3-8412-2B45-A915-DED2F769F4F8}">
      <dsp:nvSpPr>
        <dsp:cNvPr id="0" name=""/>
        <dsp:cNvSpPr/>
      </dsp:nvSpPr>
      <dsp:spPr>
        <a:xfrm>
          <a:off x="833777" y="1684377"/>
          <a:ext cx="1042713" cy="104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Diminished Engagement/ Morale</a:t>
          </a:r>
        </a:p>
      </dsp:txBody>
      <dsp:txXfrm>
        <a:off x="833777" y="1684377"/>
        <a:ext cx="1042713" cy="1042713"/>
      </dsp:txXfrm>
    </dsp:sp>
    <dsp:sp modelId="{984664E5-6FD9-A440-A1CD-CE2CC112B8A4}">
      <dsp:nvSpPr>
        <dsp:cNvPr id="0" name=""/>
        <dsp:cNvSpPr/>
      </dsp:nvSpPr>
      <dsp:spPr>
        <a:xfrm>
          <a:off x="1072683" y="57333"/>
          <a:ext cx="5400492" cy="5400492"/>
        </a:xfrm>
        <a:prstGeom prst="circularArrow">
          <a:avLst>
            <a:gd name="adj1" fmla="val 3765"/>
            <a:gd name="adj2" fmla="val 234925"/>
            <a:gd name="adj3" fmla="val 13559133"/>
            <a:gd name="adj4" fmla="val 12338524"/>
            <a:gd name="adj5" fmla="val 4393"/>
          </a:avLst>
        </a:prstGeom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1890000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EFB572-EB87-D949-B712-DFAF3D54C205}">
      <dsp:nvSpPr>
        <dsp:cNvPr id="0" name=""/>
        <dsp:cNvSpPr/>
      </dsp:nvSpPr>
      <dsp:spPr>
        <a:xfrm>
          <a:off x="2175552" y="1844"/>
          <a:ext cx="1042713" cy="104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Increased Presenteeism</a:t>
          </a:r>
        </a:p>
      </dsp:txBody>
      <dsp:txXfrm>
        <a:off x="2175552" y="1844"/>
        <a:ext cx="1042713" cy="1042713"/>
      </dsp:txXfrm>
    </dsp:sp>
    <dsp:sp modelId="{64145C76-700E-144A-9D67-BA212F1EC65F}">
      <dsp:nvSpPr>
        <dsp:cNvPr id="0" name=""/>
        <dsp:cNvSpPr/>
      </dsp:nvSpPr>
      <dsp:spPr>
        <a:xfrm>
          <a:off x="1072683" y="57333"/>
          <a:ext cx="5400492" cy="5400492"/>
        </a:xfrm>
        <a:prstGeom prst="circularArrow">
          <a:avLst>
            <a:gd name="adj1" fmla="val 3765"/>
            <a:gd name="adj2" fmla="val 234925"/>
            <a:gd name="adj3" fmla="val 16740509"/>
            <a:gd name="adj4" fmla="val 15424565"/>
            <a:gd name="adj5" fmla="val 4393"/>
          </a:avLst>
        </a:prstGeom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0B2949-CC65-824E-9A76-BDC2308FEF2E}">
      <dsp:nvSpPr>
        <dsp:cNvPr id="0" name=""/>
        <dsp:cNvSpPr/>
      </dsp:nvSpPr>
      <dsp:spPr>
        <a:xfrm>
          <a:off x="4327592" y="1844"/>
          <a:ext cx="1042713" cy="104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chemeClr val="tx1"/>
              </a:solidFill>
            </a:rPr>
            <a:t>Reduced productivity</a:t>
          </a:r>
        </a:p>
      </dsp:txBody>
      <dsp:txXfrm>
        <a:off x="4327592" y="1844"/>
        <a:ext cx="1042713" cy="1042713"/>
      </dsp:txXfrm>
    </dsp:sp>
    <dsp:sp modelId="{41E3703C-8E80-974E-9608-44DB50E48807}">
      <dsp:nvSpPr>
        <dsp:cNvPr id="0" name=""/>
        <dsp:cNvSpPr/>
      </dsp:nvSpPr>
      <dsp:spPr>
        <a:xfrm>
          <a:off x="1072683" y="57333"/>
          <a:ext cx="5400492" cy="5400492"/>
        </a:xfrm>
        <a:prstGeom prst="circularArrow">
          <a:avLst>
            <a:gd name="adj1" fmla="val 3765"/>
            <a:gd name="adj2" fmla="val 234925"/>
            <a:gd name="adj3" fmla="val 19826550"/>
            <a:gd name="adj4" fmla="val 18605941"/>
            <a:gd name="adj5" fmla="val 4393"/>
          </a:avLst>
        </a:prstGeom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270000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9FF075-C711-664A-9EF9-1382FC94B094}">
      <dsp:nvSpPr>
        <dsp:cNvPr id="0" name=""/>
        <dsp:cNvSpPr/>
      </dsp:nvSpPr>
      <dsp:spPr>
        <a:xfrm>
          <a:off x="5669367" y="1684377"/>
          <a:ext cx="1042713" cy="104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chemeClr val="tx1"/>
              </a:solidFill>
            </a:rPr>
            <a:t>Increased Absenteeism</a:t>
          </a:r>
        </a:p>
      </dsp:txBody>
      <dsp:txXfrm>
        <a:off x="5669367" y="1684377"/>
        <a:ext cx="1042713" cy="1042713"/>
      </dsp:txXfrm>
    </dsp:sp>
    <dsp:sp modelId="{C0D2873E-A3FF-5C47-BEFD-898E66DF9FBA}">
      <dsp:nvSpPr>
        <dsp:cNvPr id="0" name=""/>
        <dsp:cNvSpPr/>
      </dsp:nvSpPr>
      <dsp:spPr>
        <a:xfrm>
          <a:off x="1072683" y="57333"/>
          <a:ext cx="5400492" cy="5400492"/>
        </a:xfrm>
        <a:prstGeom prst="circularArrow">
          <a:avLst>
            <a:gd name="adj1" fmla="val 3765"/>
            <a:gd name="adj2" fmla="val 234925"/>
            <a:gd name="adj3" fmla="val 1229673"/>
            <a:gd name="adj4" fmla="val 21557735"/>
            <a:gd name="adj5" fmla="val 4393"/>
          </a:avLst>
        </a:prstGeom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540000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CA5058-C8EA-CA4F-803C-F2038F6F3730}">
      <dsp:nvSpPr>
        <dsp:cNvPr id="0" name=""/>
        <dsp:cNvSpPr/>
      </dsp:nvSpPr>
      <dsp:spPr>
        <a:xfrm>
          <a:off x="5190493" y="3782461"/>
          <a:ext cx="1042713" cy="104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chemeClr val="tx1"/>
              </a:solidFill>
            </a:rPr>
            <a:t>Elevated Healthcare Costs</a:t>
          </a:r>
        </a:p>
      </dsp:txBody>
      <dsp:txXfrm>
        <a:off x="5190493" y="3782461"/>
        <a:ext cx="1042713" cy="1042713"/>
      </dsp:txXfrm>
    </dsp:sp>
    <dsp:sp modelId="{8ABFB698-D27C-BA49-B7BD-B3AC9ECC641F}">
      <dsp:nvSpPr>
        <dsp:cNvPr id="0" name=""/>
        <dsp:cNvSpPr/>
      </dsp:nvSpPr>
      <dsp:spPr>
        <a:xfrm>
          <a:off x="1072683" y="57333"/>
          <a:ext cx="5400492" cy="5400492"/>
        </a:xfrm>
        <a:prstGeom prst="circularArrow">
          <a:avLst>
            <a:gd name="adj1" fmla="val 3765"/>
            <a:gd name="adj2" fmla="val 234925"/>
            <a:gd name="adj3" fmla="val 4436936"/>
            <a:gd name="adj4" fmla="val 3308268"/>
            <a:gd name="adj5" fmla="val 4393"/>
          </a:avLst>
        </a:prstGeom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810000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E2DB93-CFA6-6647-B8C5-E9B5EDEEF565}">
      <dsp:nvSpPr>
        <dsp:cNvPr id="0" name=""/>
        <dsp:cNvSpPr/>
      </dsp:nvSpPr>
      <dsp:spPr>
        <a:xfrm>
          <a:off x="3251572" y="4716196"/>
          <a:ext cx="1042713" cy="104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chemeClr val="tx1"/>
              </a:solidFill>
            </a:rPr>
            <a:t>Higher Turnover</a:t>
          </a:r>
        </a:p>
      </dsp:txBody>
      <dsp:txXfrm>
        <a:off x="3251572" y="4716196"/>
        <a:ext cx="1042713" cy="1042713"/>
      </dsp:txXfrm>
    </dsp:sp>
    <dsp:sp modelId="{D5178222-410E-5342-9647-263A1CB1AEB8}">
      <dsp:nvSpPr>
        <dsp:cNvPr id="0" name=""/>
        <dsp:cNvSpPr/>
      </dsp:nvSpPr>
      <dsp:spPr>
        <a:xfrm>
          <a:off x="1072683" y="57333"/>
          <a:ext cx="5400492" cy="5400492"/>
        </a:xfrm>
        <a:prstGeom prst="circularArrow">
          <a:avLst>
            <a:gd name="adj1" fmla="val 3765"/>
            <a:gd name="adj2" fmla="val 234925"/>
            <a:gd name="adj3" fmla="val 7256806"/>
            <a:gd name="adj4" fmla="val 6128139"/>
            <a:gd name="adj5" fmla="val 4393"/>
          </a:avLst>
        </a:prstGeom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1080000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6282A1-1686-A748-BC52-CDE4C63A130C}">
      <dsp:nvSpPr>
        <dsp:cNvPr id="0" name=""/>
        <dsp:cNvSpPr/>
      </dsp:nvSpPr>
      <dsp:spPr>
        <a:xfrm>
          <a:off x="1312651" y="3782461"/>
          <a:ext cx="1042713" cy="104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rgbClr val="9A7352"/>
              </a:solidFill>
            </a:rPr>
            <a:t>Workplace Safety</a:t>
          </a:r>
        </a:p>
      </dsp:txBody>
      <dsp:txXfrm>
        <a:off x="1312651" y="3782461"/>
        <a:ext cx="1042713" cy="1042713"/>
      </dsp:txXfrm>
    </dsp:sp>
    <dsp:sp modelId="{1F6D78F0-102A-5245-A79A-1B66AFA54F02}">
      <dsp:nvSpPr>
        <dsp:cNvPr id="0" name=""/>
        <dsp:cNvSpPr/>
      </dsp:nvSpPr>
      <dsp:spPr>
        <a:xfrm>
          <a:off x="1062692" y="-10820"/>
          <a:ext cx="5420474" cy="5536801"/>
        </a:xfrm>
        <a:prstGeom prst="circularArrow">
          <a:avLst>
            <a:gd name="adj1" fmla="val 3765"/>
            <a:gd name="adj2" fmla="val 234925"/>
            <a:gd name="adj3" fmla="val 10607340"/>
            <a:gd name="adj4" fmla="val 9335402"/>
            <a:gd name="adj5" fmla="val 4393"/>
          </a:avLst>
        </a:prstGeom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1620000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2586E3-8412-2B45-A915-DED2F769F4F8}">
      <dsp:nvSpPr>
        <dsp:cNvPr id="0" name=""/>
        <dsp:cNvSpPr/>
      </dsp:nvSpPr>
      <dsp:spPr>
        <a:xfrm>
          <a:off x="833777" y="1684377"/>
          <a:ext cx="1042713" cy="104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Diminished Engagement/ Morale</a:t>
          </a:r>
        </a:p>
      </dsp:txBody>
      <dsp:txXfrm>
        <a:off x="833777" y="1684377"/>
        <a:ext cx="1042713" cy="1042713"/>
      </dsp:txXfrm>
    </dsp:sp>
    <dsp:sp modelId="{984664E5-6FD9-A440-A1CD-CE2CC112B8A4}">
      <dsp:nvSpPr>
        <dsp:cNvPr id="0" name=""/>
        <dsp:cNvSpPr/>
      </dsp:nvSpPr>
      <dsp:spPr>
        <a:xfrm>
          <a:off x="1072683" y="57333"/>
          <a:ext cx="5400492" cy="5400492"/>
        </a:xfrm>
        <a:prstGeom prst="circularArrow">
          <a:avLst>
            <a:gd name="adj1" fmla="val 3765"/>
            <a:gd name="adj2" fmla="val 234925"/>
            <a:gd name="adj3" fmla="val 13559133"/>
            <a:gd name="adj4" fmla="val 12338524"/>
            <a:gd name="adj5" fmla="val 4393"/>
          </a:avLst>
        </a:prstGeom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1890000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EFB572-EB87-D949-B712-DFAF3D54C205}">
      <dsp:nvSpPr>
        <dsp:cNvPr id="0" name=""/>
        <dsp:cNvSpPr/>
      </dsp:nvSpPr>
      <dsp:spPr>
        <a:xfrm>
          <a:off x="2175552" y="1844"/>
          <a:ext cx="1042713" cy="104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Increased Presenteeism</a:t>
          </a:r>
        </a:p>
      </dsp:txBody>
      <dsp:txXfrm>
        <a:off x="2175552" y="1844"/>
        <a:ext cx="1042713" cy="1042713"/>
      </dsp:txXfrm>
    </dsp:sp>
    <dsp:sp modelId="{64145C76-700E-144A-9D67-BA212F1EC65F}">
      <dsp:nvSpPr>
        <dsp:cNvPr id="0" name=""/>
        <dsp:cNvSpPr/>
      </dsp:nvSpPr>
      <dsp:spPr>
        <a:xfrm>
          <a:off x="1072683" y="57333"/>
          <a:ext cx="5400492" cy="5400492"/>
        </a:xfrm>
        <a:prstGeom prst="circularArrow">
          <a:avLst>
            <a:gd name="adj1" fmla="val 3765"/>
            <a:gd name="adj2" fmla="val 234925"/>
            <a:gd name="adj3" fmla="val 16740509"/>
            <a:gd name="adj4" fmla="val 15424565"/>
            <a:gd name="adj5" fmla="val 4393"/>
          </a:avLst>
        </a:prstGeom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0B2949-CC65-824E-9A76-BDC2308FEF2E}">
      <dsp:nvSpPr>
        <dsp:cNvPr id="0" name=""/>
        <dsp:cNvSpPr/>
      </dsp:nvSpPr>
      <dsp:spPr>
        <a:xfrm>
          <a:off x="4327592" y="1844"/>
          <a:ext cx="1042713" cy="104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chemeClr val="tx1"/>
              </a:solidFill>
            </a:rPr>
            <a:t>Reduced productivity</a:t>
          </a:r>
        </a:p>
      </dsp:txBody>
      <dsp:txXfrm>
        <a:off x="4327592" y="1844"/>
        <a:ext cx="1042713" cy="1042713"/>
      </dsp:txXfrm>
    </dsp:sp>
    <dsp:sp modelId="{41E3703C-8E80-974E-9608-44DB50E48807}">
      <dsp:nvSpPr>
        <dsp:cNvPr id="0" name=""/>
        <dsp:cNvSpPr/>
      </dsp:nvSpPr>
      <dsp:spPr>
        <a:xfrm>
          <a:off x="1072683" y="57333"/>
          <a:ext cx="5400492" cy="5400492"/>
        </a:xfrm>
        <a:prstGeom prst="circularArrow">
          <a:avLst>
            <a:gd name="adj1" fmla="val 3765"/>
            <a:gd name="adj2" fmla="val 234925"/>
            <a:gd name="adj3" fmla="val 19826550"/>
            <a:gd name="adj4" fmla="val 18605941"/>
            <a:gd name="adj5" fmla="val 4393"/>
          </a:avLst>
        </a:prstGeom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270000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9FF075-C711-664A-9EF9-1382FC94B094}">
      <dsp:nvSpPr>
        <dsp:cNvPr id="0" name=""/>
        <dsp:cNvSpPr/>
      </dsp:nvSpPr>
      <dsp:spPr>
        <a:xfrm>
          <a:off x="5669367" y="1684377"/>
          <a:ext cx="1042713" cy="104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chemeClr val="tx1"/>
              </a:solidFill>
            </a:rPr>
            <a:t>Increased Absenteeism</a:t>
          </a:r>
        </a:p>
      </dsp:txBody>
      <dsp:txXfrm>
        <a:off x="5669367" y="1684377"/>
        <a:ext cx="1042713" cy="1042713"/>
      </dsp:txXfrm>
    </dsp:sp>
    <dsp:sp modelId="{C0D2873E-A3FF-5C47-BEFD-898E66DF9FBA}">
      <dsp:nvSpPr>
        <dsp:cNvPr id="0" name=""/>
        <dsp:cNvSpPr/>
      </dsp:nvSpPr>
      <dsp:spPr>
        <a:xfrm>
          <a:off x="1072683" y="57333"/>
          <a:ext cx="5400492" cy="5400492"/>
        </a:xfrm>
        <a:prstGeom prst="circularArrow">
          <a:avLst>
            <a:gd name="adj1" fmla="val 3765"/>
            <a:gd name="adj2" fmla="val 234925"/>
            <a:gd name="adj3" fmla="val 1229673"/>
            <a:gd name="adj4" fmla="val 21557735"/>
            <a:gd name="adj5" fmla="val 4393"/>
          </a:avLst>
        </a:prstGeom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540000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CA5058-C8EA-CA4F-803C-F2038F6F3730}">
      <dsp:nvSpPr>
        <dsp:cNvPr id="0" name=""/>
        <dsp:cNvSpPr/>
      </dsp:nvSpPr>
      <dsp:spPr>
        <a:xfrm>
          <a:off x="5190493" y="3782461"/>
          <a:ext cx="1042713" cy="104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chemeClr val="tx1"/>
              </a:solidFill>
            </a:rPr>
            <a:t>Elevated Healthcare Costs</a:t>
          </a:r>
        </a:p>
      </dsp:txBody>
      <dsp:txXfrm>
        <a:off x="5190493" y="3782461"/>
        <a:ext cx="1042713" cy="1042713"/>
      </dsp:txXfrm>
    </dsp:sp>
    <dsp:sp modelId="{8ABFB698-D27C-BA49-B7BD-B3AC9ECC641F}">
      <dsp:nvSpPr>
        <dsp:cNvPr id="0" name=""/>
        <dsp:cNvSpPr/>
      </dsp:nvSpPr>
      <dsp:spPr>
        <a:xfrm>
          <a:off x="1072683" y="57333"/>
          <a:ext cx="5400492" cy="5400492"/>
        </a:xfrm>
        <a:prstGeom prst="circularArrow">
          <a:avLst>
            <a:gd name="adj1" fmla="val 3765"/>
            <a:gd name="adj2" fmla="val 234925"/>
            <a:gd name="adj3" fmla="val 4436936"/>
            <a:gd name="adj4" fmla="val 3308268"/>
            <a:gd name="adj5" fmla="val 4393"/>
          </a:avLst>
        </a:prstGeom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810000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E2DB93-CFA6-6647-B8C5-E9B5EDEEF565}">
      <dsp:nvSpPr>
        <dsp:cNvPr id="0" name=""/>
        <dsp:cNvSpPr/>
      </dsp:nvSpPr>
      <dsp:spPr>
        <a:xfrm>
          <a:off x="3251572" y="4716196"/>
          <a:ext cx="1042713" cy="104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chemeClr val="tx1"/>
              </a:solidFill>
            </a:rPr>
            <a:t>Higher Turnover</a:t>
          </a:r>
        </a:p>
      </dsp:txBody>
      <dsp:txXfrm>
        <a:off x="3251572" y="4716196"/>
        <a:ext cx="1042713" cy="1042713"/>
      </dsp:txXfrm>
    </dsp:sp>
    <dsp:sp modelId="{D5178222-410E-5342-9647-263A1CB1AEB8}">
      <dsp:nvSpPr>
        <dsp:cNvPr id="0" name=""/>
        <dsp:cNvSpPr/>
      </dsp:nvSpPr>
      <dsp:spPr>
        <a:xfrm>
          <a:off x="1072683" y="57333"/>
          <a:ext cx="5400492" cy="5400492"/>
        </a:xfrm>
        <a:prstGeom prst="circularArrow">
          <a:avLst>
            <a:gd name="adj1" fmla="val 3765"/>
            <a:gd name="adj2" fmla="val 234925"/>
            <a:gd name="adj3" fmla="val 7256806"/>
            <a:gd name="adj4" fmla="val 6128139"/>
            <a:gd name="adj5" fmla="val 4393"/>
          </a:avLst>
        </a:prstGeom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1080000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6282A1-1686-A748-BC52-CDE4C63A130C}">
      <dsp:nvSpPr>
        <dsp:cNvPr id="0" name=""/>
        <dsp:cNvSpPr/>
      </dsp:nvSpPr>
      <dsp:spPr>
        <a:xfrm>
          <a:off x="1312651" y="3782461"/>
          <a:ext cx="1042713" cy="104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Workplace Safety</a:t>
          </a:r>
        </a:p>
      </dsp:txBody>
      <dsp:txXfrm>
        <a:off x="1312651" y="3782461"/>
        <a:ext cx="1042713" cy="1042713"/>
      </dsp:txXfrm>
    </dsp:sp>
    <dsp:sp modelId="{1F6D78F0-102A-5245-A79A-1B66AFA54F02}">
      <dsp:nvSpPr>
        <dsp:cNvPr id="0" name=""/>
        <dsp:cNvSpPr/>
      </dsp:nvSpPr>
      <dsp:spPr>
        <a:xfrm>
          <a:off x="1062692" y="-10820"/>
          <a:ext cx="5420474" cy="5536801"/>
        </a:xfrm>
        <a:prstGeom prst="circularArrow">
          <a:avLst>
            <a:gd name="adj1" fmla="val 3765"/>
            <a:gd name="adj2" fmla="val 234925"/>
            <a:gd name="adj3" fmla="val 10607340"/>
            <a:gd name="adj4" fmla="val 9335402"/>
            <a:gd name="adj5" fmla="val 4393"/>
          </a:avLst>
        </a:prstGeom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1620000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2586E3-8412-2B45-A915-DED2F769F4F8}">
      <dsp:nvSpPr>
        <dsp:cNvPr id="0" name=""/>
        <dsp:cNvSpPr/>
      </dsp:nvSpPr>
      <dsp:spPr>
        <a:xfrm>
          <a:off x="833777" y="1684377"/>
          <a:ext cx="1042713" cy="104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rgbClr val="9A7352"/>
              </a:solidFill>
            </a:rPr>
            <a:t>Diminished Engagement/ Morale</a:t>
          </a:r>
        </a:p>
      </dsp:txBody>
      <dsp:txXfrm>
        <a:off x="833777" y="1684377"/>
        <a:ext cx="1042713" cy="1042713"/>
      </dsp:txXfrm>
    </dsp:sp>
    <dsp:sp modelId="{984664E5-6FD9-A440-A1CD-CE2CC112B8A4}">
      <dsp:nvSpPr>
        <dsp:cNvPr id="0" name=""/>
        <dsp:cNvSpPr/>
      </dsp:nvSpPr>
      <dsp:spPr>
        <a:xfrm>
          <a:off x="1072683" y="57333"/>
          <a:ext cx="5400492" cy="5400492"/>
        </a:xfrm>
        <a:prstGeom prst="circularArrow">
          <a:avLst>
            <a:gd name="adj1" fmla="val 3765"/>
            <a:gd name="adj2" fmla="val 234925"/>
            <a:gd name="adj3" fmla="val 13559133"/>
            <a:gd name="adj4" fmla="val 12338524"/>
            <a:gd name="adj5" fmla="val 4393"/>
          </a:avLst>
        </a:prstGeom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1890000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EFB572-EB87-D949-B712-DFAF3D54C205}">
      <dsp:nvSpPr>
        <dsp:cNvPr id="0" name=""/>
        <dsp:cNvSpPr/>
      </dsp:nvSpPr>
      <dsp:spPr>
        <a:xfrm>
          <a:off x="2175552" y="1844"/>
          <a:ext cx="1042713" cy="104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Increased Presenteeism</a:t>
          </a:r>
        </a:p>
      </dsp:txBody>
      <dsp:txXfrm>
        <a:off x="2175552" y="1844"/>
        <a:ext cx="1042713" cy="1042713"/>
      </dsp:txXfrm>
    </dsp:sp>
    <dsp:sp modelId="{64145C76-700E-144A-9D67-BA212F1EC65F}">
      <dsp:nvSpPr>
        <dsp:cNvPr id="0" name=""/>
        <dsp:cNvSpPr/>
      </dsp:nvSpPr>
      <dsp:spPr>
        <a:xfrm>
          <a:off x="1072683" y="57333"/>
          <a:ext cx="5400492" cy="5400492"/>
        </a:xfrm>
        <a:prstGeom prst="circularArrow">
          <a:avLst>
            <a:gd name="adj1" fmla="val 3765"/>
            <a:gd name="adj2" fmla="val 234925"/>
            <a:gd name="adj3" fmla="val 16740509"/>
            <a:gd name="adj4" fmla="val 15424565"/>
            <a:gd name="adj5" fmla="val 4393"/>
          </a:avLst>
        </a:prstGeom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0B2949-CC65-824E-9A76-BDC2308FEF2E}">
      <dsp:nvSpPr>
        <dsp:cNvPr id="0" name=""/>
        <dsp:cNvSpPr/>
      </dsp:nvSpPr>
      <dsp:spPr>
        <a:xfrm>
          <a:off x="4327592" y="1844"/>
          <a:ext cx="1042713" cy="104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chemeClr val="tx1"/>
              </a:solidFill>
            </a:rPr>
            <a:t>Reduced productivity</a:t>
          </a:r>
        </a:p>
      </dsp:txBody>
      <dsp:txXfrm>
        <a:off x="4327592" y="1844"/>
        <a:ext cx="1042713" cy="1042713"/>
      </dsp:txXfrm>
    </dsp:sp>
    <dsp:sp modelId="{41E3703C-8E80-974E-9608-44DB50E48807}">
      <dsp:nvSpPr>
        <dsp:cNvPr id="0" name=""/>
        <dsp:cNvSpPr/>
      </dsp:nvSpPr>
      <dsp:spPr>
        <a:xfrm>
          <a:off x="1072683" y="57333"/>
          <a:ext cx="5400492" cy="5400492"/>
        </a:xfrm>
        <a:prstGeom prst="circularArrow">
          <a:avLst>
            <a:gd name="adj1" fmla="val 3765"/>
            <a:gd name="adj2" fmla="val 234925"/>
            <a:gd name="adj3" fmla="val 19826550"/>
            <a:gd name="adj4" fmla="val 18605941"/>
            <a:gd name="adj5" fmla="val 4393"/>
          </a:avLst>
        </a:prstGeom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270000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9FF075-C711-664A-9EF9-1382FC94B094}">
      <dsp:nvSpPr>
        <dsp:cNvPr id="0" name=""/>
        <dsp:cNvSpPr/>
      </dsp:nvSpPr>
      <dsp:spPr>
        <a:xfrm>
          <a:off x="5669367" y="1684377"/>
          <a:ext cx="1042713" cy="104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chemeClr val="tx1"/>
              </a:solidFill>
            </a:rPr>
            <a:t>Increased Absenteeism</a:t>
          </a:r>
        </a:p>
      </dsp:txBody>
      <dsp:txXfrm>
        <a:off x="5669367" y="1684377"/>
        <a:ext cx="1042713" cy="1042713"/>
      </dsp:txXfrm>
    </dsp:sp>
    <dsp:sp modelId="{C0D2873E-A3FF-5C47-BEFD-898E66DF9FBA}">
      <dsp:nvSpPr>
        <dsp:cNvPr id="0" name=""/>
        <dsp:cNvSpPr/>
      </dsp:nvSpPr>
      <dsp:spPr>
        <a:xfrm>
          <a:off x="1072683" y="57333"/>
          <a:ext cx="5400492" cy="5400492"/>
        </a:xfrm>
        <a:prstGeom prst="circularArrow">
          <a:avLst>
            <a:gd name="adj1" fmla="val 3765"/>
            <a:gd name="adj2" fmla="val 234925"/>
            <a:gd name="adj3" fmla="val 1229673"/>
            <a:gd name="adj4" fmla="val 21557735"/>
            <a:gd name="adj5" fmla="val 4393"/>
          </a:avLst>
        </a:prstGeom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540000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CA5058-C8EA-CA4F-803C-F2038F6F3730}">
      <dsp:nvSpPr>
        <dsp:cNvPr id="0" name=""/>
        <dsp:cNvSpPr/>
      </dsp:nvSpPr>
      <dsp:spPr>
        <a:xfrm>
          <a:off x="5190493" y="3782461"/>
          <a:ext cx="1042713" cy="104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chemeClr val="tx1"/>
              </a:solidFill>
            </a:rPr>
            <a:t>Elevated Healthcare Costs</a:t>
          </a:r>
        </a:p>
      </dsp:txBody>
      <dsp:txXfrm>
        <a:off x="5190493" y="3782461"/>
        <a:ext cx="1042713" cy="1042713"/>
      </dsp:txXfrm>
    </dsp:sp>
    <dsp:sp modelId="{8ABFB698-D27C-BA49-B7BD-B3AC9ECC641F}">
      <dsp:nvSpPr>
        <dsp:cNvPr id="0" name=""/>
        <dsp:cNvSpPr/>
      </dsp:nvSpPr>
      <dsp:spPr>
        <a:xfrm>
          <a:off x="1072683" y="57333"/>
          <a:ext cx="5400492" cy="5400492"/>
        </a:xfrm>
        <a:prstGeom prst="circularArrow">
          <a:avLst>
            <a:gd name="adj1" fmla="val 3765"/>
            <a:gd name="adj2" fmla="val 234925"/>
            <a:gd name="adj3" fmla="val 4436936"/>
            <a:gd name="adj4" fmla="val 3308268"/>
            <a:gd name="adj5" fmla="val 4393"/>
          </a:avLst>
        </a:prstGeom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810000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E2DB93-CFA6-6647-B8C5-E9B5EDEEF565}">
      <dsp:nvSpPr>
        <dsp:cNvPr id="0" name=""/>
        <dsp:cNvSpPr/>
      </dsp:nvSpPr>
      <dsp:spPr>
        <a:xfrm>
          <a:off x="3251572" y="4716196"/>
          <a:ext cx="1042713" cy="104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chemeClr val="tx1"/>
              </a:solidFill>
            </a:rPr>
            <a:t>Higher Turnover</a:t>
          </a:r>
        </a:p>
      </dsp:txBody>
      <dsp:txXfrm>
        <a:off x="3251572" y="4716196"/>
        <a:ext cx="1042713" cy="1042713"/>
      </dsp:txXfrm>
    </dsp:sp>
    <dsp:sp modelId="{D5178222-410E-5342-9647-263A1CB1AEB8}">
      <dsp:nvSpPr>
        <dsp:cNvPr id="0" name=""/>
        <dsp:cNvSpPr/>
      </dsp:nvSpPr>
      <dsp:spPr>
        <a:xfrm>
          <a:off x="1072683" y="57333"/>
          <a:ext cx="5400492" cy="5400492"/>
        </a:xfrm>
        <a:prstGeom prst="circularArrow">
          <a:avLst>
            <a:gd name="adj1" fmla="val 3765"/>
            <a:gd name="adj2" fmla="val 234925"/>
            <a:gd name="adj3" fmla="val 7256806"/>
            <a:gd name="adj4" fmla="val 6128139"/>
            <a:gd name="adj5" fmla="val 4393"/>
          </a:avLst>
        </a:prstGeom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1080000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6282A1-1686-A748-BC52-CDE4C63A130C}">
      <dsp:nvSpPr>
        <dsp:cNvPr id="0" name=""/>
        <dsp:cNvSpPr/>
      </dsp:nvSpPr>
      <dsp:spPr>
        <a:xfrm>
          <a:off x="1312651" y="3782461"/>
          <a:ext cx="1042713" cy="104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rgbClr val="9A7352"/>
              </a:solidFill>
            </a:rPr>
            <a:t>Workplace Safety</a:t>
          </a:r>
        </a:p>
      </dsp:txBody>
      <dsp:txXfrm>
        <a:off x="1312651" y="3782461"/>
        <a:ext cx="1042713" cy="1042713"/>
      </dsp:txXfrm>
    </dsp:sp>
    <dsp:sp modelId="{1F6D78F0-102A-5245-A79A-1B66AFA54F02}">
      <dsp:nvSpPr>
        <dsp:cNvPr id="0" name=""/>
        <dsp:cNvSpPr/>
      </dsp:nvSpPr>
      <dsp:spPr>
        <a:xfrm>
          <a:off x="1062692" y="-10820"/>
          <a:ext cx="5420474" cy="5536801"/>
        </a:xfrm>
        <a:prstGeom prst="circularArrow">
          <a:avLst>
            <a:gd name="adj1" fmla="val 3765"/>
            <a:gd name="adj2" fmla="val 234925"/>
            <a:gd name="adj3" fmla="val 10607340"/>
            <a:gd name="adj4" fmla="val 9335402"/>
            <a:gd name="adj5" fmla="val 4393"/>
          </a:avLst>
        </a:prstGeom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1620000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2586E3-8412-2B45-A915-DED2F769F4F8}">
      <dsp:nvSpPr>
        <dsp:cNvPr id="0" name=""/>
        <dsp:cNvSpPr/>
      </dsp:nvSpPr>
      <dsp:spPr>
        <a:xfrm>
          <a:off x="833777" y="1684377"/>
          <a:ext cx="1042713" cy="104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Diminished Engagement/ Morale</a:t>
          </a:r>
        </a:p>
      </dsp:txBody>
      <dsp:txXfrm>
        <a:off x="833777" y="1684377"/>
        <a:ext cx="1042713" cy="1042713"/>
      </dsp:txXfrm>
    </dsp:sp>
    <dsp:sp modelId="{984664E5-6FD9-A440-A1CD-CE2CC112B8A4}">
      <dsp:nvSpPr>
        <dsp:cNvPr id="0" name=""/>
        <dsp:cNvSpPr/>
      </dsp:nvSpPr>
      <dsp:spPr>
        <a:xfrm>
          <a:off x="1072683" y="57333"/>
          <a:ext cx="5400492" cy="5400492"/>
        </a:xfrm>
        <a:prstGeom prst="circularArrow">
          <a:avLst>
            <a:gd name="adj1" fmla="val 3765"/>
            <a:gd name="adj2" fmla="val 234925"/>
            <a:gd name="adj3" fmla="val 13559133"/>
            <a:gd name="adj4" fmla="val 12338524"/>
            <a:gd name="adj5" fmla="val 4393"/>
          </a:avLst>
        </a:prstGeom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1890000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EFB572-EB87-D949-B712-DFAF3D54C205}">
      <dsp:nvSpPr>
        <dsp:cNvPr id="0" name=""/>
        <dsp:cNvSpPr/>
      </dsp:nvSpPr>
      <dsp:spPr>
        <a:xfrm>
          <a:off x="2175552" y="1844"/>
          <a:ext cx="1042713" cy="104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Increased Presenteeism</a:t>
          </a:r>
        </a:p>
      </dsp:txBody>
      <dsp:txXfrm>
        <a:off x="2175552" y="1844"/>
        <a:ext cx="1042713" cy="1042713"/>
      </dsp:txXfrm>
    </dsp:sp>
    <dsp:sp modelId="{64145C76-700E-144A-9D67-BA212F1EC65F}">
      <dsp:nvSpPr>
        <dsp:cNvPr id="0" name=""/>
        <dsp:cNvSpPr/>
      </dsp:nvSpPr>
      <dsp:spPr>
        <a:xfrm>
          <a:off x="1072683" y="57333"/>
          <a:ext cx="5400492" cy="5400492"/>
        </a:xfrm>
        <a:prstGeom prst="circularArrow">
          <a:avLst>
            <a:gd name="adj1" fmla="val 3765"/>
            <a:gd name="adj2" fmla="val 234925"/>
            <a:gd name="adj3" fmla="val 16740509"/>
            <a:gd name="adj4" fmla="val 15424565"/>
            <a:gd name="adj5" fmla="val 4393"/>
          </a:avLst>
        </a:prstGeom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0B2949-CC65-824E-9A76-BDC2308FEF2E}">
      <dsp:nvSpPr>
        <dsp:cNvPr id="0" name=""/>
        <dsp:cNvSpPr/>
      </dsp:nvSpPr>
      <dsp:spPr>
        <a:xfrm>
          <a:off x="4327592" y="1844"/>
          <a:ext cx="1042713" cy="104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Reduced productivity</a:t>
          </a:r>
        </a:p>
      </dsp:txBody>
      <dsp:txXfrm>
        <a:off x="4327592" y="1844"/>
        <a:ext cx="1042713" cy="1042713"/>
      </dsp:txXfrm>
    </dsp:sp>
    <dsp:sp modelId="{41E3703C-8E80-974E-9608-44DB50E48807}">
      <dsp:nvSpPr>
        <dsp:cNvPr id="0" name=""/>
        <dsp:cNvSpPr/>
      </dsp:nvSpPr>
      <dsp:spPr>
        <a:xfrm>
          <a:off x="1072683" y="57333"/>
          <a:ext cx="5400492" cy="5400492"/>
        </a:xfrm>
        <a:prstGeom prst="circularArrow">
          <a:avLst>
            <a:gd name="adj1" fmla="val 3765"/>
            <a:gd name="adj2" fmla="val 234925"/>
            <a:gd name="adj3" fmla="val 19826550"/>
            <a:gd name="adj4" fmla="val 18605941"/>
            <a:gd name="adj5" fmla="val 4393"/>
          </a:avLst>
        </a:prstGeom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270000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9FF075-C711-664A-9EF9-1382FC94B094}">
      <dsp:nvSpPr>
        <dsp:cNvPr id="0" name=""/>
        <dsp:cNvSpPr/>
      </dsp:nvSpPr>
      <dsp:spPr>
        <a:xfrm>
          <a:off x="5669367" y="1684377"/>
          <a:ext cx="1042713" cy="104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Increased Absenteeism</a:t>
          </a:r>
        </a:p>
      </dsp:txBody>
      <dsp:txXfrm>
        <a:off x="5669367" y="1684377"/>
        <a:ext cx="1042713" cy="1042713"/>
      </dsp:txXfrm>
    </dsp:sp>
    <dsp:sp modelId="{C0D2873E-A3FF-5C47-BEFD-898E66DF9FBA}">
      <dsp:nvSpPr>
        <dsp:cNvPr id="0" name=""/>
        <dsp:cNvSpPr/>
      </dsp:nvSpPr>
      <dsp:spPr>
        <a:xfrm>
          <a:off x="1072683" y="57333"/>
          <a:ext cx="5400492" cy="5400492"/>
        </a:xfrm>
        <a:prstGeom prst="circularArrow">
          <a:avLst>
            <a:gd name="adj1" fmla="val 3765"/>
            <a:gd name="adj2" fmla="val 234925"/>
            <a:gd name="adj3" fmla="val 1229673"/>
            <a:gd name="adj4" fmla="val 21557735"/>
            <a:gd name="adj5" fmla="val 4393"/>
          </a:avLst>
        </a:prstGeom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540000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CA5058-C8EA-CA4F-803C-F2038F6F3730}">
      <dsp:nvSpPr>
        <dsp:cNvPr id="0" name=""/>
        <dsp:cNvSpPr/>
      </dsp:nvSpPr>
      <dsp:spPr>
        <a:xfrm>
          <a:off x="5190493" y="3782461"/>
          <a:ext cx="1042713" cy="104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Elevated Healthcare Costs</a:t>
          </a:r>
        </a:p>
      </dsp:txBody>
      <dsp:txXfrm>
        <a:off x="5190493" y="3782461"/>
        <a:ext cx="1042713" cy="1042713"/>
      </dsp:txXfrm>
    </dsp:sp>
    <dsp:sp modelId="{8ABFB698-D27C-BA49-B7BD-B3AC9ECC641F}">
      <dsp:nvSpPr>
        <dsp:cNvPr id="0" name=""/>
        <dsp:cNvSpPr/>
      </dsp:nvSpPr>
      <dsp:spPr>
        <a:xfrm>
          <a:off x="1072683" y="57333"/>
          <a:ext cx="5400492" cy="5400492"/>
        </a:xfrm>
        <a:prstGeom prst="circularArrow">
          <a:avLst>
            <a:gd name="adj1" fmla="val 3765"/>
            <a:gd name="adj2" fmla="val 234925"/>
            <a:gd name="adj3" fmla="val 4436936"/>
            <a:gd name="adj4" fmla="val 3308268"/>
            <a:gd name="adj5" fmla="val 4393"/>
          </a:avLst>
        </a:prstGeom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810000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E2DB93-CFA6-6647-B8C5-E9B5EDEEF565}">
      <dsp:nvSpPr>
        <dsp:cNvPr id="0" name=""/>
        <dsp:cNvSpPr/>
      </dsp:nvSpPr>
      <dsp:spPr>
        <a:xfrm>
          <a:off x="3251572" y="4716196"/>
          <a:ext cx="1042713" cy="104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Higher Turnover</a:t>
          </a:r>
        </a:p>
      </dsp:txBody>
      <dsp:txXfrm>
        <a:off x="3251572" y="4716196"/>
        <a:ext cx="1042713" cy="1042713"/>
      </dsp:txXfrm>
    </dsp:sp>
    <dsp:sp modelId="{D5178222-410E-5342-9647-263A1CB1AEB8}">
      <dsp:nvSpPr>
        <dsp:cNvPr id="0" name=""/>
        <dsp:cNvSpPr/>
      </dsp:nvSpPr>
      <dsp:spPr>
        <a:xfrm>
          <a:off x="1072683" y="57333"/>
          <a:ext cx="5400492" cy="5400492"/>
        </a:xfrm>
        <a:prstGeom prst="circularArrow">
          <a:avLst>
            <a:gd name="adj1" fmla="val 3765"/>
            <a:gd name="adj2" fmla="val 234925"/>
            <a:gd name="adj3" fmla="val 7256806"/>
            <a:gd name="adj4" fmla="val 6128139"/>
            <a:gd name="adj5" fmla="val 4393"/>
          </a:avLst>
        </a:prstGeom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1080000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6282A1-1686-A748-BC52-CDE4C63A130C}">
      <dsp:nvSpPr>
        <dsp:cNvPr id="0" name=""/>
        <dsp:cNvSpPr/>
      </dsp:nvSpPr>
      <dsp:spPr>
        <a:xfrm>
          <a:off x="1312651" y="3782461"/>
          <a:ext cx="1042713" cy="104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Workplace Safety</a:t>
          </a:r>
        </a:p>
      </dsp:txBody>
      <dsp:txXfrm>
        <a:off x="1312651" y="3782461"/>
        <a:ext cx="1042713" cy="1042713"/>
      </dsp:txXfrm>
    </dsp:sp>
    <dsp:sp modelId="{1F6D78F0-102A-5245-A79A-1B66AFA54F02}">
      <dsp:nvSpPr>
        <dsp:cNvPr id="0" name=""/>
        <dsp:cNvSpPr/>
      </dsp:nvSpPr>
      <dsp:spPr>
        <a:xfrm>
          <a:off x="1062692" y="-10820"/>
          <a:ext cx="5420474" cy="5536801"/>
        </a:xfrm>
        <a:prstGeom prst="circularArrow">
          <a:avLst>
            <a:gd name="adj1" fmla="val 3765"/>
            <a:gd name="adj2" fmla="val 234925"/>
            <a:gd name="adj3" fmla="val 10607340"/>
            <a:gd name="adj4" fmla="val 9335402"/>
            <a:gd name="adj5" fmla="val 4393"/>
          </a:avLst>
        </a:prstGeom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1620000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2586E3-8412-2B45-A915-DED2F769F4F8}">
      <dsp:nvSpPr>
        <dsp:cNvPr id="0" name=""/>
        <dsp:cNvSpPr/>
      </dsp:nvSpPr>
      <dsp:spPr>
        <a:xfrm>
          <a:off x="833777" y="1684377"/>
          <a:ext cx="1042713" cy="104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Diminished Engagement/ Morale</a:t>
          </a:r>
        </a:p>
      </dsp:txBody>
      <dsp:txXfrm>
        <a:off x="833777" y="1684377"/>
        <a:ext cx="1042713" cy="1042713"/>
      </dsp:txXfrm>
    </dsp:sp>
    <dsp:sp modelId="{984664E5-6FD9-A440-A1CD-CE2CC112B8A4}">
      <dsp:nvSpPr>
        <dsp:cNvPr id="0" name=""/>
        <dsp:cNvSpPr/>
      </dsp:nvSpPr>
      <dsp:spPr>
        <a:xfrm>
          <a:off x="1072683" y="57333"/>
          <a:ext cx="5400492" cy="5400492"/>
        </a:xfrm>
        <a:prstGeom prst="circularArrow">
          <a:avLst>
            <a:gd name="adj1" fmla="val 3765"/>
            <a:gd name="adj2" fmla="val 234925"/>
            <a:gd name="adj3" fmla="val 13559133"/>
            <a:gd name="adj4" fmla="val 12338524"/>
            <a:gd name="adj5" fmla="val 4393"/>
          </a:avLst>
        </a:prstGeom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1890000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EFB572-EB87-D949-B712-DFAF3D54C205}">
      <dsp:nvSpPr>
        <dsp:cNvPr id="0" name=""/>
        <dsp:cNvSpPr/>
      </dsp:nvSpPr>
      <dsp:spPr>
        <a:xfrm>
          <a:off x="2175552" y="1844"/>
          <a:ext cx="1042713" cy="104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Increased Presenteeism</a:t>
          </a:r>
        </a:p>
      </dsp:txBody>
      <dsp:txXfrm>
        <a:off x="2175552" y="1844"/>
        <a:ext cx="1042713" cy="1042713"/>
      </dsp:txXfrm>
    </dsp:sp>
    <dsp:sp modelId="{64145C76-700E-144A-9D67-BA212F1EC65F}">
      <dsp:nvSpPr>
        <dsp:cNvPr id="0" name=""/>
        <dsp:cNvSpPr/>
      </dsp:nvSpPr>
      <dsp:spPr>
        <a:xfrm>
          <a:off x="1072683" y="57333"/>
          <a:ext cx="5400492" cy="5400492"/>
        </a:xfrm>
        <a:prstGeom prst="circularArrow">
          <a:avLst>
            <a:gd name="adj1" fmla="val 3765"/>
            <a:gd name="adj2" fmla="val 234925"/>
            <a:gd name="adj3" fmla="val 16740509"/>
            <a:gd name="adj4" fmla="val 15424565"/>
            <a:gd name="adj5" fmla="val 4393"/>
          </a:avLst>
        </a:prstGeom>
        <a:gradFill flip="none" rotWithShape="1">
          <a:gsLst>
            <a:gs pos="0">
              <a:srgbClr val="9A7352"/>
            </a:gs>
            <a:gs pos="100000">
              <a:srgbClr val="226582"/>
            </a:gs>
          </a:gsLst>
          <a:lin ang="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9C9D28-6C7A-F54B-8742-1BC8620D2733}" type="datetimeFigureOut">
              <a:rPr lang="en-US" smtClean="0"/>
              <a:t>4/3/25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E3BECD-14D5-9945-A314-0B6509F5B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562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E3BECD-14D5-9945-A314-0B6509F5B0C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609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E3BECD-14D5-9945-A314-0B6509F5B0C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6719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A4516-7BD3-3475-74A4-8F8D60C20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F95457-B5BB-665F-92E5-0EFC8F2382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BF70D0-91EC-6DA9-0CAA-E50320FB76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start with a VERY brief history lesson about data frames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652F96-908A-CD1A-32F2-EBA2FACA8C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E3BECD-14D5-9945-A314-0B6509F5B0C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3541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start with a VERY brief history lesson about data frames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E3BECD-14D5-9945-A314-0B6509F5B0C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7528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699BF-00EA-3974-1BDA-F2C33D799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DFB5E6-28FC-9143-3902-8D6B443E9A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F7A77E-26C1-6475-6887-4A74F52449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 2008 data.table was released to build on this, keep the good stuff, drop the bad, make it faster (both to type and to compute) – but importantly keeps a similar syntax and feel to data frames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0C05D5-68AE-D8BC-DC2D-213EE9B3BB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E3BECD-14D5-9945-A314-0B6509F5B0C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4463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3EC9E-777A-4F32-3729-33CD99287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43FB0D-6C88-9F5F-8633-CADBDB29EE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A483B4-5C59-7EA6-5643-812D1AABF0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 2008 data.table was released to build on this, keep the good stuff, drop the bad, make it faster (both to type and to compute) – but importantly keeps a similar syntax and feel to data frames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8B8739-C7B4-00A6-6966-1BC8DCD455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E3BECD-14D5-9945-A314-0B6509F5B0C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1058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013D5-08F4-4B97-555D-E007388D4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C5A945-FE61-B5DF-16D4-8F6BD124D9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DED56C-A4FF-D697-2D25-2F2D7C7F74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 2008 data.table was released to build on this, keep the good stuff, drop the bad, make it faster (both to type and to compute) – but importantly keeps a similar syntax and feel to data frames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371ADE-5E5F-FFE0-F548-91F72EAD69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E3BECD-14D5-9945-A314-0B6509F5B0C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677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34B2A-F6B4-E062-4987-EC1EF288A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48CED5-EB8F-0629-2D72-8526373706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F2A99D-E20B-BCFB-5022-FAB3587F85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 2008 data.table was released to build on this, keep the good stuff, drop the bad, make it faster (both to type and to compute) – but importantly keeps a similar syntax and feel to data frames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518656-E9D7-05F2-FF3F-DD2E886D37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E3BECD-14D5-9945-A314-0B6509F5B0C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7302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F2087-DA9B-CC57-707F-000B27948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E2585B-515D-8613-AA59-2306139075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484BB9-DAC5-759B-40EC-D0FCAFD9B4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 2008 data.table was released to build on this, keep the good stuff, drop the bad, make it faster (both to type and to compute) – but importantly keeps a similar syntax and feel to data frames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4FE13A-B6C0-DDB5-4E6B-0F8FCE7BD3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E3BECD-14D5-9945-A314-0B6509F5B0C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7890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E6483-A050-ED11-69D3-7AA084765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BB9F5D-82E6-BDDA-0FC2-9331E6F55C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C985FD-0CB8-234C-E279-FE983D5779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 2008 data.table was released to build on this, keep the good stuff, drop the bad, make it faster (both to type and to compute) – but importantly keeps a similar syntax and feel to data frames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CB95B0-8094-01B4-EA54-C02055DBAF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E3BECD-14D5-9945-A314-0B6509F5B0C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9577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D7936-0371-17C1-E970-C59F804BD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FCBE7A-ED35-5CAC-9F15-CDF9FA02CB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F463BF-A2AE-59D5-3159-DD96164F33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 2008 data.table was released to build on this, keep the good stuff, drop the bad, make it faster (both to type and to compute) – but importantly keeps a similar syntax and feel to data frames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E3AC7C-9835-27BA-8A1C-3D7844B9F6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E3BECD-14D5-9945-A314-0B6509F5B0C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1691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 2008 data.table was released to build on this, keep the good stuff, drop the bad, make it faster (both to type and to compute) – but importantly keeps a similar syntax and feel to data frames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E3BECD-14D5-9945-A314-0B6509F5B0C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3982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At the time was groundbreaking and made so many data operations easier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E3BECD-14D5-9945-A314-0B6509F5B0C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1199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ABCF9-4968-7FE9-5EB6-706BD458D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E0C27A-4B5B-4626-01C9-3F291D65D7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630FBD-3F66-C0B3-F629-69FB9B3590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At the time was groundbreaking and made so many data operations easier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77E8AD-F94F-DCBC-B9EA-DC06DC1A3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E3BECD-14D5-9945-A314-0B6509F5B0C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9200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F3E87-353E-A277-7D1F-B07BDF94A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A595E1-C6DC-6256-3FBD-788236E13D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3EEC6D-DE30-A480-0E0C-A3FE6F4B2A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 2008 data.table was released to build on this, keep the good stuff, drop the bad, make it faster (both to type and to compute) – but importantly keeps a similar syntax and feel to data frames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4D3F06-0248-4E7A-DA5C-A4A8861162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E3BECD-14D5-9945-A314-0B6509F5B0C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1699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346A2-C57F-71F9-4193-5AB00E09E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0AD19B-2EA8-0173-B8B7-1DAF520118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45AE36-A2B7-C3CF-D996-D0DB3CAC83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At the time was groundbreaking and made so many data operations easier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 2008 data.table was released to build on this, keep the good stuff, drop the bad, make it faster (both to type and to compute) – but importantly keeps a similar syntax and feel to data frames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CDE8E-9904-C384-867D-1E61DC6DCA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E3BECD-14D5-9945-A314-0B6509F5B0C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7631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At the time was groundbreaking and made so many data operations easier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 2008 data.table was released to build on this, keep the good stuff, drop the bad, make it faster (both to type and to compute) – but importantly keeps a similar syntax and feel to data frames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E3BECD-14D5-9945-A314-0B6509F5B0C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0334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CC51B-DAAF-15CD-12D2-994524EB4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DE99AF-291A-DBEF-39AB-F135C98655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F30830-0732-7B40-3601-92E3218995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At the time was groundbreaking and made so many data operations easier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 2008 data.table was released to build on this, keep the good stuff, drop the bad, make it faster (both to type and to compute) – but importantly keeps a similar syntax and feel to data frames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572BF0-8AD2-A636-DF0C-E72A307090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E3BECD-14D5-9945-A314-0B6509F5B0C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0000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6C265-6D48-F501-CDE8-EEEBCC80A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889B05-20E7-9A09-6447-3257FB0825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BC1F79-C192-02DE-5757-C8B8F9A8FA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At the time was groundbreaking and made so many data operations easier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 2008 data.table was released to build on this, keep the good stuff, drop the bad, make it faster (both to type and to compute) – but importantly keeps a similar syntax and feel to data frames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34C985-052F-D6CA-42AE-3A434B0848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E3BECD-14D5-9945-A314-0B6509F5B0C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9892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05BEA-828B-4879-2F60-F544B5BB6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DC8BED-CE13-A605-E2A0-9738A64C89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8C62EF-335C-172C-AC78-77869CCACD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At the time was groundbreaking and made so many data operations easier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 2008 data.table was released to build on this, keep the good stuff, drop the bad, make it faster (both to type and to compute) – but importantly keeps a similar syntax and feel to data frames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B838D5-D602-1642-3633-37A5B9E70A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E3BECD-14D5-9945-A314-0B6509F5B0C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5970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BB88F7-D0B2-1A49-927F-1F28AB2DA2A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3345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At the time was groundbreaking and made so many data operations easier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E3BECD-14D5-9945-A314-0B6509F5B0C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0431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C632C-0B20-0599-DE0F-41F2581E1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3CF3D1-5D94-5493-9C7F-D0D35422F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F3EEFB-E0F2-6506-9612-73263D7F81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At the time was groundbreaking and made so many data operations easier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E6A846-D37D-A88A-FEF3-B9AE5F57CC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E3BECD-14D5-9945-A314-0B6509F5B0C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019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51BA1-A4A6-55C5-37E3-C1F3CE3BAE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266D98-2084-5FDA-D5B6-08DFA0DDB0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6EDB1-9BC5-C24B-EA34-3BCA0B38A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5FCE8-B22A-174D-B426-FCE09715FE8C}" type="datetimeFigureOut">
              <a:rPr lang="en-US" smtClean="0"/>
              <a:t>4/3/25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CB2423-3333-A84D-9105-A6794F19C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0DE27-4E60-65EA-D75A-4032ACBCE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B6819-6341-2947-8196-A27E62497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65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C87EA-ABD7-CD62-6E9D-2F580A713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DDCAB-3F6F-570C-9BA7-4FD54A47E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20014-C8D1-2D70-3782-75A4585D2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5FCE8-B22A-174D-B426-FCE09715FE8C}" type="datetimeFigureOut">
              <a:rPr lang="en-US" smtClean="0"/>
              <a:t>4/3/25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682CB-721D-FEAF-78F1-8FDDE4814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54EC8-6E9E-123F-8E77-0ADF3FE6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B6819-6341-2947-8196-A27E62497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747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E703A-C551-1C7F-37FD-79293BAB3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D7F110-3907-A27D-6784-3A5B5B5D7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7B06F-E579-58E4-224F-98CD9E708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5FCE8-B22A-174D-B426-FCE09715FE8C}" type="datetimeFigureOut">
              <a:rPr lang="en-US" smtClean="0"/>
              <a:t>4/3/25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E3FD7-747C-9D3D-32A0-26E2AF477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66972-D8B0-D517-6504-C0E9F2234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B6819-6341-2947-8196-A27E62497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102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795D8-B989-C0E3-4FC1-14C61F455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D6AB2-3CB2-7AA5-7BD3-64C1ED2061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175D8C-2E2C-644D-C4E6-8B8486AFA9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057AF8-40A9-F1B5-BE66-EEEF5EB21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5FCE8-B22A-174D-B426-FCE09715FE8C}" type="datetimeFigureOut">
              <a:rPr lang="en-US" smtClean="0"/>
              <a:t>4/3/25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466625-B0A4-DBEE-EBFF-4D17EE6AC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30AA1F-1D60-217C-B5F1-E1CE820A3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B6819-6341-2947-8196-A27E62497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204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85C9D-50AD-778C-DE4F-C7A78A28B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CF7921-72B7-768A-CB03-AA4C3C0C6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4636FA-CA17-408A-BEA5-FB436694BE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8B5503-922C-E56C-9E12-D397741EF7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80EC8D-9A45-2486-4547-57473A249F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1DAA85-A65B-C9F1-FF5D-64F551BA9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5FCE8-B22A-174D-B426-FCE09715FE8C}" type="datetimeFigureOut">
              <a:rPr lang="en-US" smtClean="0"/>
              <a:t>4/3/25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BA6B9F-B30A-925B-691A-5C660F944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6C0741-A4FD-29C3-EC13-828708E22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B6819-6341-2947-8196-A27E62497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537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9E4C9-37EE-143C-F015-8E3DD6EF1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95E7AB-EE13-40CE-C2B8-CAA704982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5FCE8-B22A-174D-B426-FCE09715FE8C}" type="datetimeFigureOut">
              <a:rPr lang="en-US" smtClean="0"/>
              <a:t>4/3/25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571742-1156-8A5B-7FFA-AF9AD3D6A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CF7CEA-672A-57D0-8A3D-F5FC3744D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B6819-6341-2947-8196-A27E62497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533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5FAFFF-60BD-0970-43A0-ECBDB23BA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5FCE8-B22A-174D-B426-FCE09715FE8C}" type="datetimeFigureOut">
              <a:rPr lang="en-US" smtClean="0"/>
              <a:t>4/3/25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6A3991-4E0A-0B27-407F-70F4BBBA0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92E08-C870-6F54-6542-C344E4063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B6819-6341-2947-8196-A27E62497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552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039A0-BEB8-B28E-096F-A6F835E42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8F396-1E30-E5E8-12C3-E0FB8CC35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720BB5-20CD-FA2D-3A6E-8466F7F985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8D4A4E-1846-A9E2-1B9C-CC66EC164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5FCE8-B22A-174D-B426-FCE09715FE8C}" type="datetimeFigureOut">
              <a:rPr lang="en-US" smtClean="0"/>
              <a:t>4/3/25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65ACED-1BB5-0B1D-77BE-B676027C2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600831-CBE2-2AE4-2729-D1509C6F3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B6819-6341-2947-8196-A27E62497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905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FEFA4-5A9B-413C-8F8F-FAD656574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1ABC34-B91E-1154-5B1A-CF65EDA6F7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83F25F-40CD-0B5A-B568-9B85017BA4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EA3445-A7E1-4B9D-A5BB-06556026F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5FCE8-B22A-174D-B426-FCE09715FE8C}" type="datetimeFigureOut">
              <a:rPr lang="en-US" smtClean="0"/>
              <a:t>4/3/25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20B637-F580-2BD0-0750-B8DF42587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A2207-3BD2-47F2-8264-25BC92CB0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B6819-6341-2947-8196-A27E62497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998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39FC8-1223-2C35-2B3C-F71C8AA33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6C5DF6-A005-83E2-1AE5-D481203E5A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8203C-DD01-2E29-9A76-BAC4E7EE3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5FCE8-B22A-174D-B426-FCE09715FE8C}" type="datetimeFigureOut">
              <a:rPr lang="en-US" smtClean="0"/>
              <a:t>4/3/25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9C643-E277-3AA7-FC83-AA0B6F3BE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20B8A4-7429-AFEC-9E86-CA6B42C5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B6819-6341-2947-8196-A27E62497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821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41A8AE-DF7D-F8BC-EBFD-28408798F6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D2382C-3D70-149D-D9B2-7FDCD156B2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396ECD-9665-638E-60A4-432382CAC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5FCE8-B22A-174D-B426-FCE09715FE8C}" type="datetimeFigureOut">
              <a:rPr lang="en-US" smtClean="0"/>
              <a:t>4/3/25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9DDD7-2CD9-8788-045C-AAE3509BE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1D580B-CE40-F578-8FA4-3E25FF9BB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B6819-6341-2947-8196-A27E62497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156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CACC1C-F5D8-5998-FFCE-3296A2189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63137-96AE-CED7-FA2C-305E5148A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B7AD3D-9589-BC1D-D3D7-3956332FE3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C5FCE8-B22A-174D-B426-FCE09715FE8C}" type="datetimeFigureOut">
              <a:rPr lang="en-US" smtClean="0"/>
              <a:t>4/3/25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1A1C87-4E32-9DE9-159D-56C091F360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42140-6744-F165-47EC-F367B2C340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AB6819-6341-2947-8196-A27E62497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502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1016/j.jad.2024.09.056" TargetMode="Externa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8297B-5663-CE1E-B0D1-2C9C75E38D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2082" y="2141870"/>
            <a:ext cx="11094281" cy="2387600"/>
          </a:xfrm>
        </p:spPr>
        <p:txBody>
          <a:bodyPr>
            <a:normAutofit/>
          </a:bodyPr>
          <a:lstStyle/>
          <a:p>
            <a:pPr algn="l"/>
            <a:r>
              <a:rPr lang="en-US" sz="6700" dirty="0">
                <a:solidFill>
                  <a:schemeClr val="accent1"/>
                </a:solidFill>
                <a:latin typeface="Avenir Book" panose="02000503020000020003" pitchFamily="2" charset="0"/>
                <a:cs typeface="Consolas" panose="020B0609020204030204" pitchFamily="49" charset="0"/>
              </a:rPr>
              <a:t>The Bottom Line on Depression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30C303-8883-DA52-98BC-0BD1DCD6A9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082" y="236104"/>
            <a:ext cx="9144000" cy="474301"/>
          </a:xfrm>
        </p:spPr>
        <p:txBody>
          <a:bodyPr>
            <a:normAutofit/>
          </a:bodyPr>
          <a:lstStyle/>
          <a:p>
            <a:pPr algn="l"/>
            <a:r>
              <a:rPr lang="en-US" sz="2000" dirty="0">
                <a:latin typeface="Avenir Book" panose="02000503020000020003" pitchFamily="2" charset="0"/>
              </a:rPr>
              <a:t>Tyson S. Barrett, PhD  |  Workplace Mental Health Community Forum 2025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C51A492-CF1D-A7E7-604B-BDA601088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3675" y="4634577"/>
            <a:ext cx="10524650" cy="0"/>
          </a:xfrm>
          <a:prstGeom prst="line">
            <a:avLst/>
          </a:prstGeom>
          <a:ln w="85725">
            <a:gradFill>
              <a:gsLst>
                <a:gs pos="0">
                  <a:schemeClr val="accent1"/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216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B993A982-D621-7D08-972F-528FAAA64ABC}"/>
              </a:ext>
            </a:extLst>
          </p:cNvPr>
          <p:cNvSpPr txBox="1">
            <a:spLocks/>
          </p:cNvSpPr>
          <p:nvPr/>
        </p:nvSpPr>
        <p:spPr>
          <a:xfrm>
            <a:off x="682082" y="4844792"/>
            <a:ext cx="11094281" cy="75827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dirty="0">
                <a:solidFill>
                  <a:schemeClr val="accent6">
                    <a:lumMod val="75000"/>
                  </a:schemeClr>
                </a:solidFill>
                <a:latin typeface="Avenir Book" panose="02000503020000020003" pitchFamily="2" charset="0"/>
                <a:cs typeface="Consolas" panose="020B0609020204030204" pitchFamily="49" charset="0"/>
              </a:rPr>
              <a:t>Why Employers Can’t Afford to Ignore Mental Health</a:t>
            </a:r>
            <a:endParaRPr lang="en-US" sz="36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411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35">
            <a:extLst>
              <a:ext uri="{FF2B5EF4-FFF2-40B4-BE49-F238E27FC236}">
                <a16:creationId xmlns:a16="http://schemas.microsoft.com/office/drawing/2014/main" id="{7223D0C7-1502-3C3B-992C-E1EA339A8841}"/>
              </a:ext>
            </a:extLst>
          </p:cNvPr>
          <p:cNvSpPr txBox="1">
            <a:spLocks/>
          </p:cNvSpPr>
          <p:nvPr/>
        </p:nvSpPr>
        <p:spPr>
          <a:xfrm>
            <a:off x="609599" y="369254"/>
            <a:ext cx="10415175" cy="707962"/>
          </a:xfrm>
          <a:prstGeom prst="rect">
            <a:avLst/>
          </a:prstGeom>
        </p:spPr>
        <p:txBody>
          <a:bodyPr vert="horz" lIns="91440" tIns="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1" kern="1200" cap="all" spc="1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800" b="1" i="0" u="none" strike="noStrike" kern="1200" cap="all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 Demi"/>
                <a:ea typeface="+mn-ea"/>
                <a:cs typeface="+mn-cs"/>
              </a:rPr>
              <a:t>But first, Who am </a:t>
            </a:r>
            <a:r>
              <a:rPr lang="en-US" sz="4800" dirty="0">
                <a:solidFill>
                  <a:srgbClr val="000000"/>
                </a:solidFill>
                <a:latin typeface="Avenir Next LT Pro Demi"/>
              </a:rPr>
              <a:t>I</a:t>
            </a:r>
            <a:r>
              <a:rPr kumimoji="0" lang="en-US" sz="4800" b="1" i="0" u="none" strike="noStrike" kern="1200" cap="all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 Demi"/>
                <a:ea typeface="+mn-ea"/>
                <a:cs typeface="+mn-cs"/>
              </a:rPr>
              <a:t>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F39B9C-9929-E116-EA9E-6DC97016AE17}"/>
              </a:ext>
            </a:extLst>
          </p:cNvPr>
          <p:cNvSpPr txBox="1"/>
          <p:nvPr/>
        </p:nvSpPr>
        <p:spPr>
          <a:xfrm>
            <a:off x="598234" y="1322082"/>
            <a:ext cx="59644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venir Next" panose="020B0503020202020204" pitchFamily="34" charset="0"/>
              </a:rPr>
              <a:t>Lead a team of researchers at Highmark Health</a:t>
            </a:r>
          </a:p>
        </p:txBody>
      </p:sp>
      <p:pic>
        <p:nvPicPr>
          <p:cNvPr id="7" name="Picture 6" descr="A dog in a sweater&#10;&#10;Description automatically generated">
            <a:extLst>
              <a:ext uri="{FF2B5EF4-FFF2-40B4-BE49-F238E27FC236}">
                <a16:creationId xmlns:a16="http://schemas.microsoft.com/office/drawing/2014/main" id="{C8E5A4FE-0695-89D8-2216-1418363177D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817" r="36734"/>
          <a:stretch/>
        </p:blipFill>
        <p:spPr>
          <a:xfrm>
            <a:off x="10353850" y="1589086"/>
            <a:ext cx="1605184" cy="3791415"/>
          </a:xfrm>
          <a:prstGeom prst="rect">
            <a:avLst/>
          </a:prstGeom>
        </p:spPr>
      </p:pic>
      <p:pic>
        <p:nvPicPr>
          <p:cNvPr id="9" name="Picture 8" descr="A person climbing a rock wall&#10;&#10;Description automatically generated">
            <a:extLst>
              <a:ext uri="{FF2B5EF4-FFF2-40B4-BE49-F238E27FC236}">
                <a16:creationId xmlns:a16="http://schemas.microsoft.com/office/drawing/2014/main" id="{CA9C5064-63DD-A1AA-EB99-2A133F71889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8912"/>
          <a:stretch/>
        </p:blipFill>
        <p:spPr>
          <a:xfrm>
            <a:off x="6065594" y="1855328"/>
            <a:ext cx="2129865" cy="34535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269B4D9-3780-25D5-15E4-1EDD442CE4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0089" y="3484794"/>
            <a:ext cx="2450480" cy="3267307"/>
          </a:xfrm>
          <a:prstGeom prst="rect">
            <a:avLst/>
          </a:prstGeom>
        </p:spPr>
      </p:pic>
      <p:pic>
        <p:nvPicPr>
          <p:cNvPr id="18" name="Picture 17" descr="A cat lying on a mouse pad&#10;&#10;Description automatically generated">
            <a:extLst>
              <a:ext uri="{FF2B5EF4-FFF2-40B4-BE49-F238E27FC236}">
                <a16:creationId xmlns:a16="http://schemas.microsoft.com/office/drawing/2014/main" id="{3F88E3D2-878C-E29B-53D5-DE0F9D3771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8939" y="221675"/>
            <a:ext cx="2450480" cy="326730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577411C-3451-098E-63EC-00C8FF99898F}"/>
              </a:ext>
            </a:extLst>
          </p:cNvPr>
          <p:cNvSpPr txBox="1"/>
          <p:nvPr/>
        </p:nvSpPr>
        <p:spPr>
          <a:xfrm>
            <a:off x="598234" y="2884628"/>
            <a:ext cx="51523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venir Next" panose="020B0503020202020204" pitchFamily="34" charset="0"/>
              </a:rPr>
              <a:t>Applied statistician and </a:t>
            </a:r>
          </a:p>
          <a:p>
            <a:r>
              <a:rPr lang="en-US" sz="3600" dirty="0">
                <a:latin typeface="Avenir Next" panose="020B0503020202020204" pitchFamily="34" charset="0"/>
              </a:rPr>
              <a:t>researcher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3FD7280-BDEC-A7BE-3917-41485CFCF606}"/>
              </a:ext>
            </a:extLst>
          </p:cNvPr>
          <p:cNvSpPr txBox="1"/>
          <p:nvPr/>
        </p:nvSpPr>
        <p:spPr>
          <a:xfrm>
            <a:off x="609599" y="4447174"/>
            <a:ext cx="32281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venir Next" panose="020B0503020202020204" pitchFamily="34" charset="0"/>
              </a:rPr>
              <a:t>Human nerd</a:t>
            </a:r>
          </a:p>
        </p:txBody>
      </p:sp>
      <p:pic>
        <p:nvPicPr>
          <p:cNvPr id="3" name="Picture 2" descr="A person in a blue shirt&#10;&#10;AI-generated content may be incorrect.">
            <a:extLst>
              <a:ext uri="{FF2B5EF4-FFF2-40B4-BE49-F238E27FC236}">
                <a16:creationId xmlns:a16="http://schemas.microsoft.com/office/drawing/2014/main" id="{79C59F5B-33CA-CF56-AC29-8F46E7ED86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1508" y="4602501"/>
            <a:ext cx="2271449" cy="2069197"/>
          </a:xfrm>
          <a:prstGeom prst="rect">
            <a:avLst/>
          </a:prstGeom>
        </p:spPr>
      </p:pic>
      <p:pic>
        <p:nvPicPr>
          <p:cNvPr id="11" name="Picture 10" descr="A person and person taking a selfie on a beach&#10;&#10;Description automatically generated">
            <a:extLst>
              <a:ext uri="{FF2B5EF4-FFF2-40B4-BE49-F238E27FC236}">
                <a16:creationId xmlns:a16="http://schemas.microsoft.com/office/drawing/2014/main" id="{388A1D68-3054-B13C-27A1-A5307FCF0C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49993" y="4198472"/>
            <a:ext cx="1773044" cy="2364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782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5055B1-08F2-4FAF-5444-BDCE17E10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470B946-E130-492F-F27A-D16B80C85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09600" y="3685032"/>
            <a:ext cx="10753250" cy="0"/>
          </a:xfrm>
          <a:prstGeom prst="line">
            <a:avLst/>
          </a:prstGeom>
          <a:ln w="85725">
            <a:gradFill>
              <a:gsLst>
                <a:gs pos="0">
                  <a:schemeClr val="accent1"/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216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 Placeholder 135">
            <a:extLst>
              <a:ext uri="{FF2B5EF4-FFF2-40B4-BE49-F238E27FC236}">
                <a16:creationId xmlns:a16="http://schemas.microsoft.com/office/drawing/2014/main" id="{3BA3FC0C-5019-1182-6A4D-B0CEA16B3881}"/>
              </a:ext>
            </a:extLst>
          </p:cNvPr>
          <p:cNvSpPr txBox="1">
            <a:spLocks/>
          </p:cNvSpPr>
          <p:nvPr/>
        </p:nvSpPr>
        <p:spPr>
          <a:xfrm>
            <a:off x="747048" y="2608141"/>
            <a:ext cx="2440500" cy="381190"/>
          </a:xfrm>
          <a:prstGeom prst="rect">
            <a:avLst/>
          </a:prstGeom>
        </p:spPr>
        <p:txBody>
          <a:bodyPr vert="horz" lIns="91440" tIns="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1" kern="1200" cap="all" spc="1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1" i="0" u="none" strike="noStrike" kern="1200" cap="all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 Demi"/>
                <a:ea typeface="+mn-ea"/>
                <a:cs typeface="+mn-cs"/>
              </a:rPr>
              <a:t>Melancholy</a:t>
            </a:r>
          </a:p>
        </p:txBody>
      </p:sp>
      <p:sp>
        <p:nvSpPr>
          <p:cNvPr id="31" name="Text Placeholder 140">
            <a:extLst>
              <a:ext uri="{FF2B5EF4-FFF2-40B4-BE49-F238E27FC236}">
                <a16:creationId xmlns:a16="http://schemas.microsoft.com/office/drawing/2014/main" id="{D32C07DB-B919-5F36-E866-9CF8F3928BE1}"/>
              </a:ext>
            </a:extLst>
          </p:cNvPr>
          <p:cNvSpPr txBox="1">
            <a:spLocks/>
          </p:cNvSpPr>
          <p:nvPr/>
        </p:nvSpPr>
        <p:spPr>
          <a:xfrm>
            <a:off x="777574" y="2950109"/>
            <a:ext cx="2052815" cy="530228"/>
          </a:xfrm>
          <a:prstGeom prst="rect">
            <a:avLst/>
          </a:prstGeom>
        </p:spPr>
        <p:txBody>
          <a:bodyPr vert="horz" lIns="91440" tIns="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 "/>
                <a:ea typeface="+mn-ea"/>
                <a:cs typeface="+mn-cs"/>
              </a:rPr>
              <a:t>Humor imbalance (too much black bile)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9E688BD-E914-8DC6-02DB-97DE63BC7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777573" y="2608141"/>
            <a:ext cx="2" cy="1076891"/>
          </a:xfrm>
          <a:prstGeom prst="line">
            <a:avLst/>
          </a:prstGeom>
          <a:ln w="31750">
            <a:gradFill>
              <a:gsLst>
                <a:gs pos="0">
                  <a:schemeClr val="accent1"/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216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AC59B949-0063-BB74-D16F-7A0F1D65C267}"/>
              </a:ext>
            </a:extLst>
          </p:cNvPr>
          <p:cNvSpPr txBox="1"/>
          <p:nvPr/>
        </p:nvSpPr>
        <p:spPr>
          <a:xfrm>
            <a:off x="255518" y="3770912"/>
            <a:ext cx="1106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venir Book" panose="02000503020000020003" pitchFamily="2" charset="0"/>
              </a:rPr>
              <a:t>500 BCE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248C3EF-1D3B-235C-D1D1-2D5013C5ED63}"/>
              </a:ext>
            </a:extLst>
          </p:cNvPr>
          <p:cNvSpPr/>
          <p:nvPr/>
        </p:nvSpPr>
        <p:spPr>
          <a:xfrm>
            <a:off x="690671" y="3616859"/>
            <a:ext cx="173806" cy="150905"/>
          </a:xfrm>
          <a:prstGeom prst="ellipse">
            <a:avLst/>
          </a:prstGeom>
          <a:solidFill>
            <a:srgbClr val="2265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E28ABEB-87EF-F29E-D104-EC617C2ED5D3}"/>
              </a:ext>
            </a:extLst>
          </p:cNvPr>
          <p:cNvSpPr txBox="1"/>
          <p:nvPr/>
        </p:nvSpPr>
        <p:spPr>
          <a:xfrm>
            <a:off x="2666265" y="3292918"/>
            <a:ext cx="955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venir Book" panose="02000503020000020003" pitchFamily="2" charset="0"/>
              </a:rPr>
              <a:t>100 CE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821CBCE-0AF3-76FD-DAD3-01EC86029695}"/>
              </a:ext>
            </a:extLst>
          </p:cNvPr>
          <p:cNvGrpSpPr/>
          <p:nvPr/>
        </p:nvGrpSpPr>
        <p:grpSpPr>
          <a:xfrm>
            <a:off x="3174038" y="3685032"/>
            <a:ext cx="3062400" cy="1443758"/>
            <a:chOff x="2931990" y="3429000"/>
            <a:chExt cx="3062400" cy="1443758"/>
          </a:xfrm>
        </p:grpSpPr>
        <p:sp>
          <p:nvSpPr>
            <p:cNvPr id="35" name="Text Placeholder 136">
              <a:extLst>
                <a:ext uri="{FF2B5EF4-FFF2-40B4-BE49-F238E27FC236}">
                  <a16:creationId xmlns:a16="http://schemas.microsoft.com/office/drawing/2014/main" id="{03C721B2-BBB1-159A-D35E-E716CA0B3BCC}"/>
                </a:ext>
              </a:extLst>
            </p:cNvPr>
            <p:cNvSpPr txBox="1">
              <a:spLocks/>
            </p:cNvSpPr>
            <p:nvPr/>
          </p:nvSpPr>
          <p:spPr>
            <a:xfrm>
              <a:off x="2932913" y="4194046"/>
              <a:ext cx="3061477" cy="381190"/>
            </a:xfrm>
            <a:prstGeom prst="rect">
              <a:avLst/>
            </a:prstGeom>
          </p:spPr>
          <p:txBody>
            <a:bodyPr vert="horz" lIns="91440" tIns="0" rIns="91440" bIns="4572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200" b="1" kern="1200" cap="all" spc="100" baseline="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US" dirty="0">
                  <a:solidFill>
                    <a:srgbClr val="000000"/>
                  </a:solidFill>
                  <a:latin typeface="Avenir Next LT Pro Demi"/>
                </a:rPr>
                <a:t>Melancholy 2.0</a:t>
              </a:r>
              <a:endParaRPr kumimoji="0" lang="en-US" sz="2200" b="1" i="0" u="none" strike="noStrike" kern="1200" cap="all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 Demi"/>
                <a:ea typeface="+mn-ea"/>
                <a:cs typeface="+mn-cs"/>
              </a:endParaRPr>
            </a:p>
          </p:txBody>
        </p:sp>
        <p:sp>
          <p:nvSpPr>
            <p:cNvPr id="36" name="Text Placeholder 141">
              <a:extLst>
                <a:ext uri="{FF2B5EF4-FFF2-40B4-BE49-F238E27FC236}">
                  <a16:creationId xmlns:a16="http://schemas.microsoft.com/office/drawing/2014/main" id="{9FEA5A87-6A05-7B25-571A-344D9D2F28D0}"/>
                </a:ext>
              </a:extLst>
            </p:cNvPr>
            <p:cNvSpPr txBox="1">
              <a:spLocks/>
            </p:cNvSpPr>
            <p:nvPr/>
          </p:nvSpPr>
          <p:spPr>
            <a:xfrm>
              <a:off x="2932913" y="4491568"/>
              <a:ext cx="2519611" cy="381190"/>
            </a:xfrm>
            <a:prstGeom prst="rect">
              <a:avLst/>
            </a:prstGeom>
          </p:spPr>
          <p:txBody>
            <a:bodyPr vert="horz" lIns="91440" tIns="0" rIns="91440" bIns="4572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 cap="none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"/>
                  <a:ea typeface="+mn-ea"/>
                  <a:cs typeface="+mn-cs"/>
                </a:rPr>
                <a:t>Diet and lifestyle may be involved</a:t>
              </a:r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AFA2825F-EFF4-14D9-E8FE-A8EBB23DD6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2931990" y="3429000"/>
              <a:ext cx="0" cy="1416254"/>
            </a:xfrm>
            <a:prstGeom prst="line">
              <a:avLst/>
            </a:prstGeom>
            <a:ln w="31750">
              <a:gradFill>
                <a:gsLst>
                  <a:gs pos="0">
                    <a:schemeClr val="accent1"/>
                  </a:gs>
                  <a:gs pos="100000">
                    <a:schemeClr val="accent2">
                      <a:lumMod val="60000"/>
                      <a:lumOff val="40000"/>
                    </a:schemeClr>
                  </a:gs>
                </a:gsLst>
                <a:lin ang="216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" name="Oval 67">
            <a:extLst>
              <a:ext uri="{FF2B5EF4-FFF2-40B4-BE49-F238E27FC236}">
                <a16:creationId xmlns:a16="http://schemas.microsoft.com/office/drawing/2014/main" id="{532019F8-F188-8DC2-D95B-3D895F164EA7}"/>
              </a:ext>
            </a:extLst>
          </p:cNvPr>
          <p:cNvSpPr/>
          <p:nvPr/>
        </p:nvSpPr>
        <p:spPr>
          <a:xfrm>
            <a:off x="3087135" y="3616858"/>
            <a:ext cx="173806" cy="150905"/>
          </a:xfrm>
          <a:prstGeom prst="ellipse">
            <a:avLst/>
          </a:prstGeom>
          <a:solidFill>
            <a:srgbClr val="2265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68852ABF-E892-8D73-7C1F-D384DB48B85B}"/>
              </a:ext>
            </a:extLst>
          </p:cNvPr>
          <p:cNvSpPr/>
          <p:nvPr/>
        </p:nvSpPr>
        <p:spPr>
          <a:xfrm>
            <a:off x="4460988" y="3609576"/>
            <a:ext cx="173806" cy="150905"/>
          </a:xfrm>
          <a:prstGeom prst="ellipse">
            <a:avLst/>
          </a:prstGeom>
          <a:solidFill>
            <a:srgbClr val="2265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9E641A62-1D13-0D33-BF84-61C5142E9701}"/>
              </a:ext>
            </a:extLst>
          </p:cNvPr>
          <p:cNvSpPr/>
          <p:nvPr/>
        </p:nvSpPr>
        <p:spPr>
          <a:xfrm>
            <a:off x="9272929" y="3609578"/>
            <a:ext cx="173806" cy="150905"/>
          </a:xfrm>
          <a:prstGeom prst="ellipse">
            <a:avLst/>
          </a:prstGeom>
          <a:solidFill>
            <a:srgbClr val="2265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CC9A32D-F436-3E88-3489-5D062028B777}"/>
              </a:ext>
            </a:extLst>
          </p:cNvPr>
          <p:cNvSpPr txBox="1"/>
          <p:nvPr/>
        </p:nvSpPr>
        <p:spPr>
          <a:xfrm>
            <a:off x="9007558" y="3784142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venir Book" panose="02000503020000020003" pitchFamily="2" charset="0"/>
              </a:rPr>
              <a:t>1800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AB45F2A2-E9FA-77C9-44B0-386084262A15}"/>
              </a:ext>
            </a:extLst>
          </p:cNvPr>
          <p:cNvSpPr/>
          <p:nvPr/>
        </p:nvSpPr>
        <p:spPr>
          <a:xfrm>
            <a:off x="10938415" y="3609577"/>
            <a:ext cx="173806" cy="150905"/>
          </a:xfrm>
          <a:prstGeom prst="ellipse">
            <a:avLst/>
          </a:prstGeom>
          <a:solidFill>
            <a:srgbClr val="2265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9F052AC-B84E-233F-2D6A-24700A7DC6DE}"/>
              </a:ext>
            </a:extLst>
          </p:cNvPr>
          <p:cNvSpPr txBox="1"/>
          <p:nvPr/>
        </p:nvSpPr>
        <p:spPr>
          <a:xfrm>
            <a:off x="10661383" y="3240363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venir Book" panose="02000503020000020003" pitchFamily="2" charset="0"/>
              </a:rPr>
              <a:t>2025</a:t>
            </a: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B12050A0-6BE8-D079-9532-10458C9F5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007634" y="3700148"/>
            <a:ext cx="12180" cy="2841181"/>
          </a:xfrm>
          <a:prstGeom prst="line">
            <a:avLst/>
          </a:prstGeom>
          <a:ln w="31750">
            <a:gradFill>
              <a:gsLst>
                <a:gs pos="0">
                  <a:schemeClr val="accent1"/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216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 Placeholder 138">
            <a:extLst>
              <a:ext uri="{FF2B5EF4-FFF2-40B4-BE49-F238E27FC236}">
                <a16:creationId xmlns:a16="http://schemas.microsoft.com/office/drawing/2014/main" id="{32375F7D-B875-2F32-E64B-61D51B904F9A}"/>
              </a:ext>
            </a:extLst>
          </p:cNvPr>
          <p:cNvSpPr txBox="1">
            <a:spLocks/>
          </p:cNvSpPr>
          <p:nvPr/>
        </p:nvSpPr>
        <p:spPr>
          <a:xfrm>
            <a:off x="8859407" y="5515340"/>
            <a:ext cx="2160407" cy="381190"/>
          </a:xfrm>
          <a:prstGeom prst="rect">
            <a:avLst/>
          </a:prstGeom>
        </p:spPr>
        <p:txBody>
          <a:bodyPr vert="horz" lIns="91440" tIns="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1" kern="1200" cap="all" spc="1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1" i="0" u="none" strike="noStrike" kern="1200" cap="all" spc="10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venir Next LT Pro Demi"/>
                <a:ea typeface="+mn-ea"/>
                <a:cs typeface="+mn-cs"/>
              </a:rPr>
              <a:t>Today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FC879FA-6CF0-C68B-DB2A-46A7AA006AB1}"/>
              </a:ext>
            </a:extLst>
          </p:cNvPr>
          <p:cNvGrpSpPr/>
          <p:nvPr/>
        </p:nvGrpSpPr>
        <p:grpSpPr>
          <a:xfrm>
            <a:off x="9346706" y="2603983"/>
            <a:ext cx="2770222" cy="1111276"/>
            <a:chOff x="8963459" y="2347951"/>
            <a:chExt cx="2770222" cy="1111276"/>
          </a:xfrm>
        </p:grpSpPr>
        <p:sp>
          <p:nvSpPr>
            <p:cNvPr id="45" name="Text Placeholder 138">
              <a:extLst>
                <a:ext uri="{FF2B5EF4-FFF2-40B4-BE49-F238E27FC236}">
                  <a16:creationId xmlns:a16="http://schemas.microsoft.com/office/drawing/2014/main" id="{851D7FA5-43B3-6F69-AAA7-DC6015CA02AE}"/>
                </a:ext>
              </a:extLst>
            </p:cNvPr>
            <p:cNvSpPr txBox="1">
              <a:spLocks/>
            </p:cNvSpPr>
            <p:nvPr/>
          </p:nvSpPr>
          <p:spPr>
            <a:xfrm>
              <a:off x="8982743" y="2347951"/>
              <a:ext cx="2750938" cy="381190"/>
            </a:xfrm>
            <a:prstGeom prst="rect">
              <a:avLst/>
            </a:prstGeom>
          </p:spPr>
          <p:txBody>
            <a:bodyPr vert="horz" lIns="91440" tIns="0" rIns="91440" bIns="4572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200" b="1" kern="1200" cap="all" spc="100" baseline="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200" b="1" i="0" u="none" strike="noStrike" kern="1200" cap="all" spc="10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/>
                  <a:ea typeface="+mn-ea"/>
                  <a:cs typeface="+mn-cs"/>
                </a:rPr>
                <a:t>Melancholy 4.0</a:t>
              </a:r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C387A5AB-BEC9-BF3B-4DD4-B98ECEADD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63459" y="2349040"/>
              <a:ext cx="11444" cy="1110187"/>
            </a:xfrm>
            <a:prstGeom prst="line">
              <a:avLst/>
            </a:prstGeom>
            <a:ln w="31750">
              <a:gradFill>
                <a:gsLst>
                  <a:gs pos="0">
                    <a:schemeClr val="accent1"/>
                  </a:gs>
                  <a:gs pos="100000">
                    <a:schemeClr val="accent2">
                      <a:lumMod val="60000"/>
                      <a:lumOff val="40000"/>
                    </a:schemeClr>
                  </a:gs>
                </a:gsLst>
                <a:lin ang="216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 Placeholder 143">
              <a:extLst>
                <a:ext uri="{FF2B5EF4-FFF2-40B4-BE49-F238E27FC236}">
                  <a16:creationId xmlns:a16="http://schemas.microsoft.com/office/drawing/2014/main" id="{22EF2DA4-ACC8-C909-BA3C-79AF1AE40B63}"/>
                </a:ext>
              </a:extLst>
            </p:cNvPr>
            <p:cNvSpPr txBox="1">
              <a:spLocks/>
            </p:cNvSpPr>
            <p:nvPr/>
          </p:nvSpPr>
          <p:spPr>
            <a:xfrm>
              <a:off x="8974903" y="2647738"/>
              <a:ext cx="2014175" cy="778652"/>
            </a:xfrm>
            <a:prstGeom prst="rect">
              <a:avLst/>
            </a:prstGeom>
          </p:spPr>
          <p:txBody>
            <a:bodyPr vert="horz" lIns="91440" tIns="0" rIns="91440" bIns="4572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 cap="none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US" dirty="0">
                  <a:solidFill>
                    <a:srgbClr val="000000"/>
                  </a:solidFill>
                  <a:latin typeface="Avenir Next LT Pro "/>
                </a:rPr>
                <a:t>Might be a medical condition?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 "/>
                <a:ea typeface="+mn-ea"/>
                <a:cs typeface="+mn-cs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B8EF153-7C0D-8A27-154F-10A5626A015E}"/>
              </a:ext>
            </a:extLst>
          </p:cNvPr>
          <p:cNvGrpSpPr/>
          <p:nvPr/>
        </p:nvGrpSpPr>
        <p:grpSpPr>
          <a:xfrm>
            <a:off x="4544428" y="1328476"/>
            <a:ext cx="4263723" cy="2348342"/>
            <a:chOff x="4544428" y="1072444"/>
            <a:chExt cx="4263723" cy="2348342"/>
          </a:xfrm>
        </p:grpSpPr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D7B93ADB-9078-3FC6-C9CC-0DDBE8EF93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4428" y="1072444"/>
              <a:ext cx="2546" cy="2348342"/>
            </a:xfrm>
            <a:prstGeom prst="line">
              <a:avLst/>
            </a:prstGeom>
            <a:ln w="31750">
              <a:gradFill>
                <a:gsLst>
                  <a:gs pos="0">
                    <a:schemeClr val="accent1"/>
                  </a:gs>
                  <a:gs pos="100000">
                    <a:schemeClr val="accent2">
                      <a:lumMod val="60000"/>
                      <a:lumOff val="40000"/>
                    </a:schemeClr>
                  </a:gs>
                </a:gsLst>
                <a:lin ang="216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 Placeholder 139">
              <a:extLst>
                <a:ext uri="{FF2B5EF4-FFF2-40B4-BE49-F238E27FC236}">
                  <a16:creationId xmlns:a16="http://schemas.microsoft.com/office/drawing/2014/main" id="{B2D44DA9-5331-8C33-75E4-556A909102E0}"/>
                </a:ext>
              </a:extLst>
            </p:cNvPr>
            <p:cNvSpPr txBox="1">
              <a:spLocks/>
            </p:cNvSpPr>
            <p:nvPr/>
          </p:nvSpPr>
          <p:spPr>
            <a:xfrm>
              <a:off x="4553263" y="1094115"/>
              <a:ext cx="4254888" cy="381190"/>
            </a:xfrm>
            <a:prstGeom prst="rect">
              <a:avLst/>
            </a:prstGeom>
          </p:spPr>
          <p:txBody>
            <a:bodyPr vert="horz" lIns="91440" tIns="0" rIns="91440" bIns="4572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200" b="1" kern="1200" cap="all" spc="100" baseline="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200" b="1" i="0" u="none" strike="noStrike" kern="1200" cap="all" spc="100" normalizeH="0" baseline="0" noProof="0" dirty="0">
                  <a:ln>
                    <a:noFill/>
                  </a:ln>
                  <a:effectLst/>
                  <a:uLnTx/>
                  <a:uFillTx/>
                  <a:latin typeface="Avenir Next LT Pro Demi"/>
                  <a:ea typeface="+mn-ea"/>
                  <a:cs typeface="+mn-cs"/>
                </a:rPr>
                <a:t>Melancholy 3.0</a:t>
              </a:r>
            </a:p>
          </p:txBody>
        </p:sp>
        <p:sp>
          <p:nvSpPr>
            <p:cNvPr id="11" name="Text Placeholder 142">
              <a:extLst>
                <a:ext uri="{FF2B5EF4-FFF2-40B4-BE49-F238E27FC236}">
                  <a16:creationId xmlns:a16="http://schemas.microsoft.com/office/drawing/2014/main" id="{1A9801A2-F1A0-4546-8192-7370C9186428}"/>
                </a:ext>
              </a:extLst>
            </p:cNvPr>
            <p:cNvSpPr txBox="1">
              <a:spLocks/>
            </p:cNvSpPr>
            <p:nvPr/>
          </p:nvSpPr>
          <p:spPr>
            <a:xfrm>
              <a:off x="4569181" y="1415717"/>
              <a:ext cx="3969762" cy="287716"/>
            </a:xfrm>
            <a:prstGeom prst="rect">
              <a:avLst/>
            </a:prstGeom>
          </p:spPr>
          <p:txBody>
            <a:bodyPr vert="horz" lIns="91440" tIns="0" rIns="91440" bIns="4572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 cap="none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"/>
                  <a:ea typeface="+mn-ea"/>
                  <a:cs typeface="+mn-cs"/>
                </a:rPr>
                <a:t>Spiritual causes, including sin, possession, etc.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LnTx/>
                <a:uFillTx/>
                <a:latin typeface="Avenir Next LT Pro "/>
                <a:ea typeface="+mn-ea"/>
                <a:cs typeface="+mn-cs"/>
              </a:endParaRPr>
            </a:p>
          </p:txBody>
        </p:sp>
      </p:grpSp>
      <p:sp>
        <p:nvSpPr>
          <p:cNvPr id="51" name="Text Placeholder 144">
            <a:extLst>
              <a:ext uri="{FF2B5EF4-FFF2-40B4-BE49-F238E27FC236}">
                <a16:creationId xmlns:a16="http://schemas.microsoft.com/office/drawing/2014/main" id="{C48673A5-0752-DBCB-37D8-7C0C39BB301A}"/>
              </a:ext>
            </a:extLst>
          </p:cNvPr>
          <p:cNvSpPr txBox="1">
            <a:spLocks/>
          </p:cNvSpPr>
          <p:nvPr/>
        </p:nvSpPr>
        <p:spPr>
          <a:xfrm>
            <a:off x="7488879" y="5842169"/>
            <a:ext cx="3715654" cy="611398"/>
          </a:xfrm>
          <a:prstGeom prst="rect">
            <a:avLst/>
          </a:prstGeom>
        </p:spPr>
        <p:txBody>
          <a:bodyPr vert="horz" lIns="91440" tIns="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 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AF9403-E97B-F839-9F2D-09C123BA6FCE}"/>
              </a:ext>
            </a:extLst>
          </p:cNvPr>
          <p:cNvSpPr txBox="1"/>
          <p:nvPr/>
        </p:nvSpPr>
        <p:spPr>
          <a:xfrm>
            <a:off x="419142" y="30028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400" b="1" i="0" u="none" strike="noStrike" kern="1200" cap="all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 Demi"/>
                <a:ea typeface="+mn-ea"/>
                <a:cs typeface="+mn-cs"/>
              </a:rPr>
              <a:t>depression: A short history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38873F-2362-EE7E-1717-61787E3E0EF0}"/>
              </a:ext>
            </a:extLst>
          </p:cNvPr>
          <p:cNvSpPr txBox="1"/>
          <p:nvPr/>
        </p:nvSpPr>
        <p:spPr>
          <a:xfrm>
            <a:off x="4075407" y="3752155"/>
            <a:ext cx="955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venir Book" panose="02000503020000020003" pitchFamily="2" charset="0"/>
              </a:rPr>
              <a:t>600 CE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9AD9AC8-09D0-8599-39B7-94ABE5D6C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446444" y="3685028"/>
            <a:ext cx="0" cy="1338017"/>
          </a:xfrm>
          <a:prstGeom prst="line">
            <a:avLst/>
          </a:prstGeom>
          <a:ln w="31750">
            <a:gradFill>
              <a:gsLst>
                <a:gs pos="0">
                  <a:schemeClr val="accent1"/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216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1DF531AE-304B-9471-CC8A-A791FDDF7DC4}"/>
              </a:ext>
            </a:extLst>
          </p:cNvPr>
          <p:cNvSpPr/>
          <p:nvPr/>
        </p:nvSpPr>
        <p:spPr>
          <a:xfrm>
            <a:off x="10359541" y="3615017"/>
            <a:ext cx="173806" cy="150905"/>
          </a:xfrm>
          <a:prstGeom prst="ellipse">
            <a:avLst/>
          </a:prstGeom>
          <a:solidFill>
            <a:srgbClr val="2265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C19E631-BACC-2B91-312F-40ADC9C20060}"/>
              </a:ext>
            </a:extLst>
          </p:cNvPr>
          <p:cNvGrpSpPr/>
          <p:nvPr/>
        </p:nvGrpSpPr>
        <p:grpSpPr>
          <a:xfrm>
            <a:off x="7855420" y="4403301"/>
            <a:ext cx="2605926" cy="1148989"/>
            <a:chOff x="8974903" y="2347951"/>
            <a:chExt cx="2605926" cy="1078439"/>
          </a:xfrm>
        </p:grpSpPr>
        <p:sp>
          <p:nvSpPr>
            <p:cNvPr id="24" name="Text Placeholder 138">
              <a:extLst>
                <a:ext uri="{FF2B5EF4-FFF2-40B4-BE49-F238E27FC236}">
                  <a16:creationId xmlns:a16="http://schemas.microsoft.com/office/drawing/2014/main" id="{A9519C48-5BC8-C3DC-D72D-25F325769E74}"/>
                </a:ext>
              </a:extLst>
            </p:cNvPr>
            <p:cNvSpPr txBox="1">
              <a:spLocks/>
            </p:cNvSpPr>
            <p:nvPr/>
          </p:nvSpPr>
          <p:spPr>
            <a:xfrm>
              <a:off x="8982743" y="2347951"/>
              <a:ext cx="2598086" cy="381190"/>
            </a:xfrm>
            <a:prstGeom prst="rect">
              <a:avLst/>
            </a:prstGeom>
          </p:spPr>
          <p:txBody>
            <a:bodyPr vert="horz" lIns="91440" tIns="0" rIns="91440" bIns="4572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200" b="1" kern="1200" cap="all" spc="100" baseline="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200" b="1" i="0" u="none" strike="noStrike" kern="1200" cap="all" spc="10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/>
                  <a:ea typeface="+mn-ea"/>
                  <a:cs typeface="+mn-cs"/>
                </a:rPr>
                <a:t>Depression</a:t>
              </a:r>
            </a:p>
          </p:txBody>
        </p:sp>
        <p:sp>
          <p:nvSpPr>
            <p:cNvPr id="27" name="Text Placeholder 143">
              <a:extLst>
                <a:ext uri="{FF2B5EF4-FFF2-40B4-BE49-F238E27FC236}">
                  <a16:creationId xmlns:a16="http://schemas.microsoft.com/office/drawing/2014/main" id="{F0081DAE-6FA5-5E6A-1B06-5B0BD5FE2E34}"/>
                </a:ext>
              </a:extLst>
            </p:cNvPr>
            <p:cNvSpPr txBox="1">
              <a:spLocks/>
            </p:cNvSpPr>
            <p:nvPr/>
          </p:nvSpPr>
          <p:spPr>
            <a:xfrm>
              <a:off x="8974903" y="2647738"/>
              <a:ext cx="2598090" cy="778652"/>
            </a:xfrm>
            <a:prstGeom prst="rect">
              <a:avLst/>
            </a:prstGeom>
          </p:spPr>
          <p:txBody>
            <a:bodyPr vert="horz" lIns="91440" tIns="0" rIns="91440" bIns="4572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 cap="none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US" dirty="0">
                  <a:solidFill>
                    <a:srgbClr val="000000"/>
                  </a:solidFill>
                  <a:latin typeface="Avenir Next LT Pro "/>
                </a:rPr>
                <a:t>Medical and psychological condition, DSM created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 "/>
                <a:ea typeface="+mn-ea"/>
                <a:cs typeface="+mn-cs"/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0F75F3BF-FA8F-DC68-05C7-BD4C55182699}"/>
              </a:ext>
            </a:extLst>
          </p:cNvPr>
          <p:cNvSpPr txBox="1"/>
          <p:nvPr/>
        </p:nvSpPr>
        <p:spPr>
          <a:xfrm>
            <a:off x="10049962" y="3242969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venir Book" panose="02000503020000020003" pitchFamily="2" charset="0"/>
              </a:rPr>
              <a:t>1950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622CAEB-B925-083C-C5BF-E006D9C54021}"/>
              </a:ext>
            </a:extLst>
          </p:cNvPr>
          <p:cNvSpPr txBox="1"/>
          <p:nvPr/>
        </p:nvSpPr>
        <p:spPr>
          <a:xfrm>
            <a:off x="7709402" y="5828854"/>
            <a:ext cx="3297496" cy="595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00" dirty="0">
                <a:solidFill>
                  <a:srgbClr val="000000"/>
                </a:solidFill>
                <a:latin typeface="Avenir Next LT Pro "/>
              </a:rPr>
              <a:t>Depression is a complex medical condition based on genetic, biological, environmental, and psychological factors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 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2259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9A7352"/>
            </a:gs>
            <a:gs pos="100000">
              <a:srgbClr val="252524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ed Lasso' 2.07 Review: Headspace | What to Watch">
            <a:extLst>
              <a:ext uri="{FF2B5EF4-FFF2-40B4-BE49-F238E27FC236}">
                <a16:creationId xmlns:a16="http://schemas.microsoft.com/office/drawing/2014/main" id="{806BFFD1-D6DF-8ACE-6A1B-BDD87ADC79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9275"/>
            <a:ext cx="12192000" cy="5757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4326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019A3-D40D-51C8-E552-0AD815113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 Placeholder 135">
            <a:extLst>
              <a:ext uri="{FF2B5EF4-FFF2-40B4-BE49-F238E27FC236}">
                <a16:creationId xmlns:a16="http://schemas.microsoft.com/office/drawing/2014/main" id="{B466E7B6-5B54-D2FC-7E5C-4164CE217DB5}"/>
              </a:ext>
            </a:extLst>
          </p:cNvPr>
          <p:cNvSpPr txBox="1">
            <a:spLocks/>
          </p:cNvSpPr>
          <p:nvPr/>
        </p:nvSpPr>
        <p:spPr>
          <a:xfrm>
            <a:off x="609599" y="363235"/>
            <a:ext cx="10234243" cy="1103342"/>
          </a:xfrm>
          <a:prstGeom prst="rect">
            <a:avLst/>
          </a:prstGeom>
        </p:spPr>
        <p:txBody>
          <a:bodyPr vert="horz" lIns="91440" tIns="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1" kern="1200" cap="all" spc="1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6000" b="1" i="0" u="none" strike="noStrike" kern="1200" cap="all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 Demi"/>
                <a:ea typeface="+mn-ea"/>
                <a:cs typeface="+mn-cs"/>
              </a:rPr>
              <a:t>Depression Impacts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F074B0-430B-0187-3622-5BE26D6FCDC2}"/>
              </a:ext>
            </a:extLst>
          </p:cNvPr>
          <p:cNvSpPr txBox="1"/>
          <p:nvPr/>
        </p:nvSpPr>
        <p:spPr>
          <a:xfrm>
            <a:off x="609599" y="1097245"/>
            <a:ext cx="4447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 employers, is it really all that important?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FE5F3EC-0001-2913-29A3-3FC770101C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16578846"/>
              </p:ext>
            </p:extLst>
          </p:nvPr>
        </p:nvGraphicFramePr>
        <p:xfrm>
          <a:off x="4646141" y="1097245"/>
          <a:ext cx="7545859" cy="57607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BFD0DEDA-1566-DEC9-4CA7-1F760D524D8B}"/>
              </a:ext>
            </a:extLst>
          </p:cNvPr>
          <p:cNvSpPr/>
          <p:nvPr/>
        </p:nvSpPr>
        <p:spPr>
          <a:xfrm>
            <a:off x="5314789" y="1097245"/>
            <a:ext cx="3641125" cy="56071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4414AF-F9D8-8C1B-63E7-431323DA6C9F}"/>
              </a:ext>
            </a:extLst>
          </p:cNvPr>
          <p:cNvSpPr/>
          <p:nvPr/>
        </p:nvSpPr>
        <p:spPr>
          <a:xfrm>
            <a:off x="8310014" y="2883243"/>
            <a:ext cx="3641125" cy="36115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18D8CD-1DBC-69C5-9DB9-CB6CAC7C01D4}"/>
              </a:ext>
            </a:extLst>
          </p:cNvPr>
          <p:cNvSpPr txBox="1"/>
          <p:nvPr/>
        </p:nvSpPr>
        <p:spPr>
          <a:xfrm>
            <a:off x="5371070" y="2910173"/>
            <a:ext cx="6096000" cy="684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lang="en-US" dirty="0">
                <a:solidFill>
                  <a:srgbClr val="226582"/>
                </a:solidFill>
                <a:latin typeface="+mj-lt"/>
              </a:rPr>
              <a:t>Unresolved depression can lead to a 35% reduction in </a:t>
            </a:r>
          </a:p>
          <a:p>
            <a:pPr algn="r">
              <a:spcAft>
                <a:spcPts val="300"/>
              </a:spcAft>
            </a:pPr>
            <a:r>
              <a:rPr lang="en-US" dirty="0">
                <a:solidFill>
                  <a:srgbClr val="226582"/>
                </a:solidFill>
                <a:latin typeface="+mj-lt"/>
              </a:rPr>
              <a:t>productivity, contributing to substantial economic losses.  </a:t>
            </a:r>
          </a:p>
        </p:txBody>
      </p:sp>
    </p:spTree>
    <p:extLst>
      <p:ext uri="{BB962C8B-B14F-4D97-AF65-F5344CB8AC3E}">
        <p14:creationId xmlns:p14="http://schemas.microsoft.com/office/powerpoint/2010/main" val="24853973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7B342-3016-C2A5-2E10-7C8F82785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 Placeholder 135">
            <a:extLst>
              <a:ext uri="{FF2B5EF4-FFF2-40B4-BE49-F238E27FC236}">
                <a16:creationId xmlns:a16="http://schemas.microsoft.com/office/drawing/2014/main" id="{414DAD98-98E4-72D4-C7AF-17F023BE203F}"/>
              </a:ext>
            </a:extLst>
          </p:cNvPr>
          <p:cNvSpPr txBox="1">
            <a:spLocks/>
          </p:cNvSpPr>
          <p:nvPr/>
        </p:nvSpPr>
        <p:spPr>
          <a:xfrm>
            <a:off x="609599" y="363235"/>
            <a:ext cx="10234243" cy="1103342"/>
          </a:xfrm>
          <a:prstGeom prst="rect">
            <a:avLst/>
          </a:prstGeom>
        </p:spPr>
        <p:txBody>
          <a:bodyPr vert="horz" lIns="91440" tIns="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1" kern="1200" cap="all" spc="1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6000" b="1" i="0" u="none" strike="noStrike" kern="1200" cap="all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 Demi"/>
                <a:ea typeface="+mn-ea"/>
                <a:cs typeface="+mn-cs"/>
              </a:rPr>
              <a:t>Depression Impacts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7073BA-DD34-A12C-1C7C-7810D87EBC89}"/>
              </a:ext>
            </a:extLst>
          </p:cNvPr>
          <p:cNvSpPr txBox="1"/>
          <p:nvPr/>
        </p:nvSpPr>
        <p:spPr>
          <a:xfrm>
            <a:off x="609599" y="1097245"/>
            <a:ext cx="4447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 employers, is it really all that important?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294ED2E-34C2-A166-C64E-D2FAF89246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2259902"/>
              </p:ext>
            </p:extLst>
          </p:nvPr>
        </p:nvGraphicFramePr>
        <p:xfrm>
          <a:off x="4646141" y="1097245"/>
          <a:ext cx="7545859" cy="57607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183DE56E-EDBD-0C63-E48A-11338C39E6D7}"/>
              </a:ext>
            </a:extLst>
          </p:cNvPr>
          <p:cNvSpPr/>
          <p:nvPr/>
        </p:nvSpPr>
        <p:spPr>
          <a:xfrm>
            <a:off x="5314789" y="1097245"/>
            <a:ext cx="3641125" cy="56071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EE2356-1B43-F9FC-8110-35F9990876B3}"/>
              </a:ext>
            </a:extLst>
          </p:cNvPr>
          <p:cNvSpPr/>
          <p:nvPr/>
        </p:nvSpPr>
        <p:spPr>
          <a:xfrm>
            <a:off x="8310014" y="4992129"/>
            <a:ext cx="3641125" cy="15026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CD29FB-BBB3-E718-7E63-CBB0B37AF990}"/>
              </a:ext>
            </a:extLst>
          </p:cNvPr>
          <p:cNvSpPr txBox="1"/>
          <p:nvPr/>
        </p:nvSpPr>
        <p:spPr>
          <a:xfrm>
            <a:off x="4924845" y="5099144"/>
            <a:ext cx="6096000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lang="en-US" dirty="0">
                <a:solidFill>
                  <a:srgbClr val="226582"/>
                </a:solidFill>
              </a:rPr>
              <a:t>Depression contributes to higher rates of absenteeism, with</a:t>
            </a:r>
          </a:p>
          <a:p>
            <a:pPr algn="r">
              <a:spcAft>
                <a:spcPts val="300"/>
              </a:spcAft>
            </a:pPr>
            <a:r>
              <a:rPr lang="en-US" dirty="0">
                <a:solidFill>
                  <a:srgbClr val="226582"/>
                </a:solidFill>
              </a:rPr>
              <a:t>affected employees missing an average of 31.4 workdays</a:t>
            </a:r>
          </a:p>
          <a:p>
            <a:pPr algn="r">
              <a:spcAft>
                <a:spcPts val="300"/>
              </a:spcAft>
            </a:pPr>
            <a:r>
              <a:rPr lang="en-US" dirty="0">
                <a:solidFill>
                  <a:srgbClr val="226582"/>
                </a:solidFill>
              </a:rPr>
              <a:t>per year.  </a:t>
            </a:r>
          </a:p>
        </p:txBody>
      </p:sp>
    </p:spTree>
    <p:extLst>
      <p:ext uri="{BB962C8B-B14F-4D97-AF65-F5344CB8AC3E}">
        <p14:creationId xmlns:p14="http://schemas.microsoft.com/office/powerpoint/2010/main" val="2700826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0285A-626B-36F4-E148-1A5408BB5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 Placeholder 135">
            <a:extLst>
              <a:ext uri="{FF2B5EF4-FFF2-40B4-BE49-F238E27FC236}">
                <a16:creationId xmlns:a16="http://schemas.microsoft.com/office/drawing/2014/main" id="{5C9DE294-0136-B5D2-E361-B5ED3425539A}"/>
              </a:ext>
            </a:extLst>
          </p:cNvPr>
          <p:cNvSpPr txBox="1">
            <a:spLocks/>
          </p:cNvSpPr>
          <p:nvPr/>
        </p:nvSpPr>
        <p:spPr>
          <a:xfrm>
            <a:off x="609599" y="363235"/>
            <a:ext cx="10234243" cy="1103342"/>
          </a:xfrm>
          <a:prstGeom prst="rect">
            <a:avLst/>
          </a:prstGeom>
        </p:spPr>
        <p:txBody>
          <a:bodyPr vert="horz" lIns="91440" tIns="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1" kern="1200" cap="all" spc="1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6000" b="1" i="0" u="none" strike="noStrike" kern="1200" cap="all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 Demi"/>
                <a:ea typeface="+mn-ea"/>
                <a:cs typeface="+mn-cs"/>
              </a:rPr>
              <a:t>Depression Impacts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611523-33FE-99F5-7476-7B8C4ED27C9B}"/>
              </a:ext>
            </a:extLst>
          </p:cNvPr>
          <p:cNvSpPr txBox="1"/>
          <p:nvPr/>
        </p:nvSpPr>
        <p:spPr>
          <a:xfrm>
            <a:off x="609599" y="1097245"/>
            <a:ext cx="4447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 employers, is it really all that important?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94C17CC-D295-B726-FBDA-7810814513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5027438"/>
              </p:ext>
            </p:extLst>
          </p:nvPr>
        </p:nvGraphicFramePr>
        <p:xfrm>
          <a:off x="4646141" y="1097245"/>
          <a:ext cx="7545859" cy="57607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E24F912C-868E-5B7D-F4C1-0FB2986C2EC8}"/>
              </a:ext>
            </a:extLst>
          </p:cNvPr>
          <p:cNvSpPr/>
          <p:nvPr/>
        </p:nvSpPr>
        <p:spPr>
          <a:xfrm>
            <a:off x="5314790" y="1097245"/>
            <a:ext cx="3392606" cy="56071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259434-415B-DAED-7859-81390C5374F1}"/>
              </a:ext>
            </a:extLst>
          </p:cNvPr>
          <p:cNvSpPr/>
          <p:nvPr/>
        </p:nvSpPr>
        <p:spPr>
          <a:xfrm>
            <a:off x="5345264" y="1097245"/>
            <a:ext cx="3641125" cy="15026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0AEBD7-AAA9-5FB9-0BCB-6C430115FF7E}"/>
              </a:ext>
            </a:extLst>
          </p:cNvPr>
          <p:cNvSpPr txBox="1"/>
          <p:nvPr/>
        </p:nvSpPr>
        <p:spPr>
          <a:xfrm>
            <a:off x="2750746" y="5465428"/>
            <a:ext cx="6096000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lang="en-US" dirty="0">
                <a:solidFill>
                  <a:srgbClr val="226582"/>
                </a:solidFill>
              </a:rPr>
              <a:t>Employees with depression incur higher medical expenses, </a:t>
            </a:r>
          </a:p>
          <a:p>
            <a:pPr algn="r">
              <a:spcAft>
                <a:spcPts val="300"/>
              </a:spcAft>
            </a:pPr>
            <a:r>
              <a:rPr lang="en-US" dirty="0">
                <a:solidFill>
                  <a:srgbClr val="226582"/>
                </a:solidFill>
              </a:rPr>
              <a:t>including costs related to treatment and associated health </a:t>
            </a:r>
          </a:p>
          <a:p>
            <a:pPr algn="r">
              <a:spcAft>
                <a:spcPts val="300"/>
              </a:spcAft>
            </a:pPr>
            <a:r>
              <a:rPr lang="en-US" dirty="0">
                <a:solidFill>
                  <a:srgbClr val="226582"/>
                </a:solidFill>
              </a:rPr>
              <a:t>issues.</a:t>
            </a:r>
          </a:p>
        </p:txBody>
      </p:sp>
    </p:spTree>
    <p:extLst>
      <p:ext uri="{BB962C8B-B14F-4D97-AF65-F5344CB8AC3E}">
        <p14:creationId xmlns:p14="http://schemas.microsoft.com/office/powerpoint/2010/main" val="17372341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5EC38-7E0F-1039-3130-22E4DCBDF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 Placeholder 135">
            <a:extLst>
              <a:ext uri="{FF2B5EF4-FFF2-40B4-BE49-F238E27FC236}">
                <a16:creationId xmlns:a16="http://schemas.microsoft.com/office/drawing/2014/main" id="{ED5FAF19-9F1F-B6BA-23CE-B749920695D6}"/>
              </a:ext>
            </a:extLst>
          </p:cNvPr>
          <p:cNvSpPr txBox="1">
            <a:spLocks/>
          </p:cNvSpPr>
          <p:nvPr/>
        </p:nvSpPr>
        <p:spPr>
          <a:xfrm>
            <a:off x="609599" y="363235"/>
            <a:ext cx="10234243" cy="1103342"/>
          </a:xfrm>
          <a:prstGeom prst="rect">
            <a:avLst/>
          </a:prstGeom>
        </p:spPr>
        <p:txBody>
          <a:bodyPr vert="horz" lIns="91440" tIns="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1" kern="1200" cap="all" spc="1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6000" b="1" i="0" u="none" strike="noStrike" kern="1200" cap="all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 Demi"/>
                <a:ea typeface="+mn-ea"/>
                <a:cs typeface="+mn-cs"/>
              </a:rPr>
              <a:t>Depression Impacts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D3684A-F6F8-C9B1-BFA4-95052FDCAC5E}"/>
              </a:ext>
            </a:extLst>
          </p:cNvPr>
          <p:cNvSpPr txBox="1"/>
          <p:nvPr/>
        </p:nvSpPr>
        <p:spPr>
          <a:xfrm>
            <a:off x="609599" y="1097245"/>
            <a:ext cx="4447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 employers, is it really all that important?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BB260D2D-1BD2-71BE-9304-3F98A2A577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3821695"/>
              </p:ext>
            </p:extLst>
          </p:nvPr>
        </p:nvGraphicFramePr>
        <p:xfrm>
          <a:off x="4646141" y="1097245"/>
          <a:ext cx="7545859" cy="57607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95CDAD72-7FD5-4611-595B-0776146DF07F}"/>
              </a:ext>
            </a:extLst>
          </p:cNvPr>
          <p:cNvSpPr/>
          <p:nvPr/>
        </p:nvSpPr>
        <p:spPr>
          <a:xfrm>
            <a:off x="5314790" y="1097246"/>
            <a:ext cx="3392606" cy="46635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A82E79-B2B7-6ADE-5B78-1DD29D22C5D6}"/>
              </a:ext>
            </a:extLst>
          </p:cNvPr>
          <p:cNvSpPr/>
          <p:nvPr/>
        </p:nvSpPr>
        <p:spPr>
          <a:xfrm>
            <a:off x="5345264" y="1097245"/>
            <a:ext cx="3641125" cy="15026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538FDF-570A-0296-53ED-6A755012AD85}"/>
              </a:ext>
            </a:extLst>
          </p:cNvPr>
          <p:cNvSpPr txBox="1"/>
          <p:nvPr/>
        </p:nvSpPr>
        <p:spPr>
          <a:xfrm>
            <a:off x="915093" y="4445011"/>
            <a:ext cx="6096000" cy="1315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lang="en-US" dirty="0">
                <a:solidFill>
                  <a:srgbClr val="226582"/>
                </a:solidFill>
              </a:rPr>
              <a:t>Depression can result in increased employee turnover,</a:t>
            </a:r>
          </a:p>
          <a:p>
            <a:pPr algn="r">
              <a:spcAft>
                <a:spcPts val="300"/>
              </a:spcAft>
            </a:pPr>
            <a:r>
              <a:rPr lang="en-US" dirty="0">
                <a:solidFill>
                  <a:srgbClr val="226582"/>
                </a:solidFill>
              </a:rPr>
              <a:t> leading to additional costs related to recruiting, hiring, and</a:t>
            </a:r>
          </a:p>
          <a:p>
            <a:pPr algn="r">
              <a:spcAft>
                <a:spcPts val="300"/>
              </a:spcAft>
            </a:pPr>
            <a:r>
              <a:rPr lang="en-US" dirty="0">
                <a:solidFill>
                  <a:srgbClr val="226582"/>
                </a:solidFill>
              </a:rPr>
              <a:t> training new staff. Approximately 40% of job turnover is</a:t>
            </a:r>
          </a:p>
          <a:p>
            <a:pPr algn="r">
              <a:spcAft>
                <a:spcPts val="300"/>
              </a:spcAft>
            </a:pPr>
            <a:r>
              <a:rPr lang="en-US" dirty="0">
                <a:solidFill>
                  <a:srgbClr val="226582"/>
                </a:solidFill>
              </a:rPr>
              <a:t> attributed to stress-related factors.</a:t>
            </a:r>
          </a:p>
        </p:txBody>
      </p:sp>
    </p:spTree>
    <p:extLst>
      <p:ext uri="{BB962C8B-B14F-4D97-AF65-F5344CB8AC3E}">
        <p14:creationId xmlns:p14="http://schemas.microsoft.com/office/powerpoint/2010/main" val="7474957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4C2B8-6C7B-9CE7-ED88-E4F0E0DB5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 Placeholder 135">
            <a:extLst>
              <a:ext uri="{FF2B5EF4-FFF2-40B4-BE49-F238E27FC236}">
                <a16:creationId xmlns:a16="http://schemas.microsoft.com/office/drawing/2014/main" id="{98C04186-8FC0-2592-2659-84339B867CF2}"/>
              </a:ext>
            </a:extLst>
          </p:cNvPr>
          <p:cNvSpPr txBox="1">
            <a:spLocks/>
          </p:cNvSpPr>
          <p:nvPr/>
        </p:nvSpPr>
        <p:spPr>
          <a:xfrm>
            <a:off x="609599" y="363235"/>
            <a:ext cx="10234243" cy="1103342"/>
          </a:xfrm>
          <a:prstGeom prst="rect">
            <a:avLst/>
          </a:prstGeom>
        </p:spPr>
        <p:txBody>
          <a:bodyPr vert="horz" lIns="91440" tIns="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1" kern="1200" cap="all" spc="1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6000" b="1" i="0" u="none" strike="noStrike" kern="1200" cap="all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 Demi"/>
                <a:ea typeface="+mn-ea"/>
                <a:cs typeface="+mn-cs"/>
              </a:rPr>
              <a:t>Depression Impacts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23FBC1-430E-54E0-6FDD-C174FFE1DA02}"/>
              </a:ext>
            </a:extLst>
          </p:cNvPr>
          <p:cNvSpPr txBox="1"/>
          <p:nvPr/>
        </p:nvSpPr>
        <p:spPr>
          <a:xfrm>
            <a:off x="609599" y="1097245"/>
            <a:ext cx="4447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 employers, is it really all that important?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A1630288-C654-4704-1410-684C197B66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63218132"/>
              </p:ext>
            </p:extLst>
          </p:nvPr>
        </p:nvGraphicFramePr>
        <p:xfrm>
          <a:off x="4646141" y="1097245"/>
          <a:ext cx="7545859" cy="57607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921DDD58-DC3A-8167-F7F9-DEC87B83457C}"/>
              </a:ext>
            </a:extLst>
          </p:cNvPr>
          <p:cNvSpPr/>
          <p:nvPr/>
        </p:nvSpPr>
        <p:spPr>
          <a:xfrm>
            <a:off x="5314790" y="1097246"/>
            <a:ext cx="3392606" cy="25274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9DECDE-9E91-A83A-BE75-17532E06C68D}"/>
              </a:ext>
            </a:extLst>
          </p:cNvPr>
          <p:cNvSpPr/>
          <p:nvPr/>
        </p:nvSpPr>
        <p:spPr>
          <a:xfrm>
            <a:off x="5345264" y="1097245"/>
            <a:ext cx="3641125" cy="15026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BFF834-8EEB-ECCE-88AD-A7C29BD3A8A3}"/>
              </a:ext>
            </a:extLst>
          </p:cNvPr>
          <p:cNvSpPr txBox="1"/>
          <p:nvPr/>
        </p:nvSpPr>
        <p:spPr>
          <a:xfrm>
            <a:off x="2890389" y="2676017"/>
            <a:ext cx="6096000" cy="1315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dirty="0">
                <a:solidFill>
                  <a:srgbClr val="226582"/>
                </a:solidFill>
              </a:rPr>
              <a:t>Depression may impair concentration and decision-making. </a:t>
            </a:r>
          </a:p>
          <a:p>
            <a:pPr>
              <a:spcAft>
                <a:spcPts val="300"/>
              </a:spcAft>
            </a:pPr>
            <a:r>
              <a:rPr lang="en-US" dirty="0">
                <a:solidFill>
                  <a:srgbClr val="226582"/>
                </a:solidFill>
              </a:rPr>
              <a:t>This not only endangers employees but can also lead to </a:t>
            </a:r>
          </a:p>
          <a:p>
            <a:pPr>
              <a:spcAft>
                <a:spcPts val="300"/>
              </a:spcAft>
            </a:pPr>
            <a:r>
              <a:rPr lang="en-US" dirty="0">
                <a:solidFill>
                  <a:srgbClr val="226582"/>
                </a:solidFill>
              </a:rPr>
              <a:t>higher workers’ compensation claims and liability for </a:t>
            </a:r>
          </a:p>
          <a:p>
            <a:pPr>
              <a:spcAft>
                <a:spcPts val="300"/>
              </a:spcAft>
            </a:pPr>
            <a:r>
              <a:rPr lang="en-US" dirty="0">
                <a:solidFill>
                  <a:srgbClr val="226582"/>
                </a:solidFill>
              </a:rPr>
              <a:t>employers.  </a:t>
            </a:r>
          </a:p>
        </p:txBody>
      </p:sp>
    </p:spTree>
    <p:extLst>
      <p:ext uri="{BB962C8B-B14F-4D97-AF65-F5344CB8AC3E}">
        <p14:creationId xmlns:p14="http://schemas.microsoft.com/office/powerpoint/2010/main" val="12418790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68721-057A-4C2F-BA59-175931E92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 Placeholder 135">
            <a:extLst>
              <a:ext uri="{FF2B5EF4-FFF2-40B4-BE49-F238E27FC236}">
                <a16:creationId xmlns:a16="http://schemas.microsoft.com/office/drawing/2014/main" id="{084D6E86-714D-A348-00A8-EC379D359446}"/>
              </a:ext>
            </a:extLst>
          </p:cNvPr>
          <p:cNvSpPr txBox="1">
            <a:spLocks/>
          </p:cNvSpPr>
          <p:nvPr/>
        </p:nvSpPr>
        <p:spPr>
          <a:xfrm>
            <a:off x="609599" y="363235"/>
            <a:ext cx="10234243" cy="1103342"/>
          </a:xfrm>
          <a:prstGeom prst="rect">
            <a:avLst/>
          </a:prstGeom>
        </p:spPr>
        <p:txBody>
          <a:bodyPr vert="horz" lIns="91440" tIns="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1" kern="1200" cap="all" spc="1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6000" b="1" i="0" u="none" strike="noStrike" kern="1200" cap="all" spc="10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Avenir Next LT Pro Demi"/>
                <a:ea typeface="+mn-ea"/>
                <a:cs typeface="+mn-cs"/>
              </a:rPr>
              <a:t>Depression Impacts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E95D82-7EFB-B119-7D61-0BCA98326C9F}"/>
              </a:ext>
            </a:extLst>
          </p:cNvPr>
          <p:cNvSpPr txBox="1"/>
          <p:nvPr/>
        </p:nvSpPr>
        <p:spPr>
          <a:xfrm>
            <a:off x="609599" y="1097245"/>
            <a:ext cx="4447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As employers, is it really all that important?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23F9167-4B69-75B0-B774-55649CBDB1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7016363"/>
              </p:ext>
            </p:extLst>
          </p:nvPr>
        </p:nvGraphicFramePr>
        <p:xfrm>
          <a:off x="4646141" y="1097245"/>
          <a:ext cx="7545859" cy="57607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71C0A76E-4709-4518-CEF6-BC97FFD82B87}"/>
              </a:ext>
            </a:extLst>
          </p:cNvPr>
          <p:cNvSpPr/>
          <p:nvPr/>
        </p:nvSpPr>
        <p:spPr>
          <a:xfrm>
            <a:off x="6771503" y="1097245"/>
            <a:ext cx="2248929" cy="7809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E09DD8-63C2-A2C6-FFB2-8F72A79E2FA6}"/>
              </a:ext>
            </a:extLst>
          </p:cNvPr>
          <p:cNvSpPr txBox="1"/>
          <p:nvPr/>
        </p:nvSpPr>
        <p:spPr>
          <a:xfrm>
            <a:off x="2678720" y="930183"/>
            <a:ext cx="6096000" cy="92333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dirty="0">
                <a:solidFill>
                  <a:srgbClr val="226582"/>
                </a:solidFill>
                <a:latin typeface="+mj-lt"/>
              </a:rPr>
              <a:t>Depression can lead to decreased engagement, motivation, and morale among employees. This disengagement can further reduce productivity and increase the likelihood of conflicts.</a:t>
            </a:r>
          </a:p>
        </p:txBody>
      </p:sp>
    </p:spTree>
    <p:extLst>
      <p:ext uri="{BB962C8B-B14F-4D97-AF65-F5344CB8AC3E}">
        <p14:creationId xmlns:p14="http://schemas.microsoft.com/office/powerpoint/2010/main" val="14095514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DD465-3FB4-450C-6A86-33AD1DA94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 Placeholder 135">
            <a:extLst>
              <a:ext uri="{FF2B5EF4-FFF2-40B4-BE49-F238E27FC236}">
                <a16:creationId xmlns:a16="http://schemas.microsoft.com/office/drawing/2014/main" id="{EAF72937-01F2-02B8-04E1-A4FE8266D36D}"/>
              </a:ext>
            </a:extLst>
          </p:cNvPr>
          <p:cNvSpPr txBox="1">
            <a:spLocks/>
          </p:cNvSpPr>
          <p:nvPr/>
        </p:nvSpPr>
        <p:spPr>
          <a:xfrm>
            <a:off x="609599" y="363235"/>
            <a:ext cx="10234243" cy="1103342"/>
          </a:xfrm>
          <a:prstGeom prst="rect">
            <a:avLst/>
          </a:prstGeom>
        </p:spPr>
        <p:txBody>
          <a:bodyPr vert="horz" lIns="91440" tIns="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1" kern="1200" cap="all" spc="1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6000" b="1" i="0" u="none" strike="noStrike" kern="1200" cap="all" spc="10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Avenir Next LT Pro Demi"/>
                <a:ea typeface="+mn-ea"/>
                <a:cs typeface="+mn-cs"/>
              </a:rPr>
              <a:t>Depression Impacts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D91AE6-CB85-E7AE-B3B9-AFB67F67D54E}"/>
              </a:ext>
            </a:extLst>
          </p:cNvPr>
          <p:cNvSpPr txBox="1"/>
          <p:nvPr/>
        </p:nvSpPr>
        <p:spPr>
          <a:xfrm>
            <a:off x="609599" y="1097245"/>
            <a:ext cx="4447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As employers, is it really all that important?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39C0873F-38AE-478F-FB3C-687A660B7D54}"/>
              </a:ext>
            </a:extLst>
          </p:cNvPr>
          <p:cNvGraphicFramePr/>
          <p:nvPr/>
        </p:nvGraphicFramePr>
        <p:xfrm>
          <a:off x="4646141" y="1097245"/>
          <a:ext cx="7545859" cy="57607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6CB7360-E198-F867-DDC2-EB52D461AAFC}"/>
              </a:ext>
            </a:extLst>
          </p:cNvPr>
          <p:cNvSpPr txBox="1"/>
          <p:nvPr/>
        </p:nvSpPr>
        <p:spPr>
          <a:xfrm>
            <a:off x="8987480" y="0"/>
            <a:ext cx="3204519" cy="230832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dirty="0">
                <a:solidFill>
                  <a:srgbClr val="226582"/>
                </a:solidFill>
              </a:rPr>
              <a:t>Employees with depression may attend work but perform below their capacity, a phenomenon known as presenteeism. This can lead to errors, decreased efficiency, and compromised quality of work.</a:t>
            </a:r>
          </a:p>
        </p:txBody>
      </p:sp>
    </p:spTree>
    <p:extLst>
      <p:ext uri="{BB962C8B-B14F-4D97-AF65-F5344CB8AC3E}">
        <p14:creationId xmlns:p14="http://schemas.microsoft.com/office/powerpoint/2010/main" val="37102876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 Placeholder 135">
            <a:extLst>
              <a:ext uri="{FF2B5EF4-FFF2-40B4-BE49-F238E27FC236}">
                <a16:creationId xmlns:a16="http://schemas.microsoft.com/office/drawing/2014/main" id="{E9E6CA2A-2C6B-6A35-A366-2B9C80787D6A}"/>
              </a:ext>
            </a:extLst>
          </p:cNvPr>
          <p:cNvSpPr txBox="1">
            <a:spLocks/>
          </p:cNvSpPr>
          <p:nvPr/>
        </p:nvSpPr>
        <p:spPr>
          <a:xfrm>
            <a:off x="609599" y="363235"/>
            <a:ext cx="10234243" cy="1103342"/>
          </a:xfrm>
          <a:prstGeom prst="rect">
            <a:avLst/>
          </a:prstGeom>
        </p:spPr>
        <p:txBody>
          <a:bodyPr vert="horz" lIns="91440" tIns="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1" kern="1200" cap="all" spc="1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6000" b="1" i="0" u="none" strike="noStrike" kern="1200" cap="all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 Demi"/>
                <a:ea typeface="+mn-ea"/>
                <a:cs typeface="+mn-cs"/>
              </a:rPr>
              <a:t>Depression Impacts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536558-815A-50AE-9131-A4DD54FD167F}"/>
              </a:ext>
            </a:extLst>
          </p:cNvPr>
          <p:cNvSpPr txBox="1"/>
          <p:nvPr/>
        </p:nvSpPr>
        <p:spPr>
          <a:xfrm>
            <a:off x="609599" y="1097245"/>
            <a:ext cx="4447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 employers, is it really all that important?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46F62E99-BBCE-8254-325A-3E10FCD9F7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92918426"/>
              </p:ext>
            </p:extLst>
          </p:nvPr>
        </p:nvGraphicFramePr>
        <p:xfrm>
          <a:off x="4646141" y="1097245"/>
          <a:ext cx="7545859" cy="57607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56D2BB94-34B5-54F5-978D-1C4739508E64}"/>
              </a:ext>
            </a:extLst>
          </p:cNvPr>
          <p:cNvSpPr/>
          <p:nvPr/>
        </p:nvSpPr>
        <p:spPr>
          <a:xfrm>
            <a:off x="6709718" y="2243388"/>
            <a:ext cx="3418703" cy="3262183"/>
          </a:xfrm>
          <a:prstGeom prst="ellipse">
            <a:avLst/>
          </a:prstGeom>
          <a:gradFill flip="none" rotWithShape="1">
            <a:gsLst>
              <a:gs pos="67000">
                <a:schemeClr val="bg1"/>
              </a:gs>
              <a:gs pos="0">
                <a:srgbClr val="9A7352">
                  <a:alpha val="50965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69DB8A-69A1-2ED2-1D10-6198CFA56525}"/>
              </a:ext>
            </a:extLst>
          </p:cNvPr>
          <p:cNvSpPr txBox="1"/>
          <p:nvPr/>
        </p:nvSpPr>
        <p:spPr>
          <a:xfrm>
            <a:off x="6709718" y="3320481"/>
            <a:ext cx="344254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dirty="0"/>
              <a:t>IMPACTS</a:t>
            </a:r>
          </a:p>
        </p:txBody>
      </p:sp>
    </p:spTree>
    <p:extLst>
      <p:ext uri="{BB962C8B-B14F-4D97-AF65-F5344CB8AC3E}">
        <p14:creationId xmlns:p14="http://schemas.microsoft.com/office/powerpoint/2010/main" val="16444515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creenshot of a medical journal&#10;&#10;AI-generated content may be incorrect.">
            <a:extLst>
              <a:ext uri="{FF2B5EF4-FFF2-40B4-BE49-F238E27FC236}">
                <a16:creationId xmlns:a16="http://schemas.microsoft.com/office/drawing/2014/main" id="{175C6CB1-5B0F-33C4-9485-B6D8E48FB9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91" y="0"/>
            <a:ext cx="8813919" cy="4210470"/>
          </a:xfrm>
          <a:prstGeom prst="rect">
            <a:avLst/>
          </a:prstGeom>
        </p:spPr>
      </p:pic>
      <p:pic>
        <p:nvPicPr>
          <p:cNvPr id="11" name="Picture 10" descr="A close-up of a document&#10;&#10;AI-generated content may be incorrect.">
            <a:extLst>
              <a:ext uri="{FF2B5EF4-FFF2-40B4-BE49-F238E27FC236}">
                <a16:creationId xmlns:a16="http://schemas.microsoft.com/office/drawing/2014/main" id="{FF3AB0B4-3CDC-516A-96DC-E241A612A4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429000"/>
            <a:ext cx="5977317" cy="343861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435F84B-8277-69AA-6DD0-C843F9892632}"/>
              </a:ext>
            </a:extLst>
          </p:cNvPr>
          <p:cNvSpPr txBox="1"/>
          <p:nvPr/>
        </p:nvSpPr>
        <p:spPr>
          <a:xfrm>
            <a:off x="547521" y="5422103"/>
            <a:ext cx="6097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none" strike="noStrike" dirty="0">
                <a:effectLst/>
                <a:latin typeface="ElsevierSans"/>
                <a:hlinkClick r:id="rId5" tooltip="Persistent link using digital object identifier"/>
              </a:rPr>
              <a:t>https://doi.org/10.1016/j.jad.2024.09.056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064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BA6CA6-7049-A0E9-AF36-B32E3DDB5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386A821-87A1-DC54-CDAA-36075DE73AB7}"/>
              </a:ext>
            </a:extLst>
          </p:cNvPr>
          <p:cNvSpPr txBox="1"/>
          <p:nvPr/>
        </p:nvSpPr>
        <p:spPr>
          <a:xfrm>
            <a:off x="2512006" y="189149"/>
            <a:ext cx="7167988" cy="1646605"/>
          </a:xfrm>
          <a:prstGeom prst="rect">
            <a:avLst/>
          </a:prstGeom>
          <a:solidFill>
            <a:srgbClr val="22658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In 2020</a:t>
            </a:r>
          </a:p>
          <a:p>
            <a:pPr algn="ctr"/>
            <a:endParaRPr lang="en-US" sz="700" dirty="0">
              <a:solidFill>
                <a:schemeClr val="bg1"/>
              </a:solidFill>
            </a:endParaRPr>
          </a:p>
          <a:p>
            <a:pPr algn="ctr"/>
            <a:r>
              <a:rPr lang="en-US" sz="2400" dirty="0">
                <a:solidFill>
                  <a:schemeClr val="bg1"/>
                </a:solidFill>
              </a:rPr>
              <a:t>Over 3 in 20 individuals had some level of depression</a:t>
            </a:r>
          </a:p>
          <a:p>
            <a:pPr algn="ctr"/>
            <a:endParaRPr lang="en-US" sz="600" dirty="0">
              <a:solidFill>
                <a:schemeClr val="bg1"/>
              </a:solidFill>
            </a:endParaRPr>
          </a:p>
          <a:p>
            <a:pPr algn="ctr"/>
            <a:r>
              <a:rPr lang="en-US" sz="2400" dirty="0">
                <a:solidFill>
                  <a:schemeClr val="bg1"/>
                </a:solidFill>
              </a:rPr>
              <a:t>Of those, 1 in 3 had moderate or severe depression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3E84CB98-431F-DCCD-0048-3D21C72DF850}"/>
              </a:ext>
            </a:extLst>
          </p:cNvPr>
          <p:cNvGraphicFramePr/>
          <p:nvPr/>
        </p:nvGraphicFramePr>
        <p:xfrm>
          <a:off x="2504837" y="2063900"/>
          <a:ext cx="7167988" cy="46049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6090512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00D812-EE2B-D17B-7F54-79808CBE0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 Placeholder 135">
            <a:extLst>
              <a:ext uri="{FF2B5EF4-FFF2-40B4-BE49-F238E27FC236}">
                <a16:creationId xmlns:a16="http://schemas.microsoft.com/office/drawing/2014/main" id="{14EC3856-22CC-68D7-AA5D-6683C0EB893A}"/>
              </a:ext>
            </a:extLst>
          </p:cNvPr>
          <p:cNvSpPr txBox="1">
            <a:spLocks/>
          </p:cNvSpPr>
          <p:nvPr/>
        </p:nvSpPr>
        <p:spPr>
          <a:xfrm>
            <a:off x="609599" y="363235"/>
            <a:ext cx="10234243" cy="1103342"/>
          </a:xfrm>
          <a:prstGeom prst="rect">
            <a:avLst/>
          </a:prstGeom>
        </p:spPr>
        <p:txBody>
          <a:bodyPr vert="horz" lIns="91440" tIns="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1" kern="1200" cap="all" spc="1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6000" b="1" i="0" u="none" strike="noStrike" kern="1200" cap="all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 Demi"/>
                <a:ea typeface="+mn-ea"/>
                <a:cs typeface="+mn-cs"/>
              </a:rPr>
              <a:t>Healthcare costs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16AC76-3858-7B01-84FA-9C2A648EFB37}"/>
              </a:ext>
            </a:extLst>
          </p:cNvPr>
          <p:cNvSpPr txBox="1"/>
          <p:nvPr/>
        </p:nvSpPr>
        <p:spPr>
          <a:xfrm>
            <a:off x="609599" y="1097245"/>
            <a:ext cx="7276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Let’s dive into what depression means for costs (per member per month)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3539953C-1B9B-619C-C85F-7F5B6BDD2D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31206676"/>
              </p:ext>
            </p:extLst>
          </p:nvPr>
        </p:nvGraphicFramePr>
        <p:xfrm>
          <a:off x="1126111" y="1977082"/>
          <a:ext cx="10308007" cy="48096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320846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BD758-A3A1-BC49-EB65-F77E38B33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D4625B-7B63-7058-BF8B-F311B72A2040}"/>
              </a:ext>
            </a:extLst>
          </p:cNvPr>
          <p:cNvSpPr txBox="1"/>
          <p:nvPr/>
        </p:nvSpPr>
        <p:spPr>
          <a:xfrm>
            <a:off x="617484" y="1149031"/>
            <a:ext cx="10476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Next" panose="020B0503020202020204" pitchFamily="34" charset="0"/>
              </a:rPr>
              <a:t>Costs also depend on whether the person is getting worse depression</a:t>
            </a:r>
          </a:p>
        </p:txBody>
      </p:sp>
      <p:sp>
        <p:nvSpPr>
          <p:cNvPr id="10" name="Text Placeholder 135">
            <a:extLst>
              <a:ext uri="{FF2B5EF4-FFF2-40B4-BE49-F238E27FC236}">
                <a16:creationId xmlns:a16="http://schemas.microsoft.com/office/drawing/2014/main" id="{8A97414A-F7EF-2B2B-D002-274A10DD427F}"/>
              </a:ext>
            </a:extLst>
          </p:cNvPr>
          <p:cNvSpPr txBox="1">
            <a:spLocks/>
          </p:cNvSpPr>
          <p:nvPr/>
        </p:nvSpPr>
        <p:spPr>
          <a:xfrm>
            <a:off x="609599" y="363235"/>
            <a:ext cx="10234243" cy="1103342"/>
          </a:xfrm>
          <a:prstGeom prst="rect">
            <a:avLst/>
          </a:prstGeom>
        </p:spPr>
        <p:txBody>
          <a:bodyPr vert="horz" lIns="91440" tIns="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1" kern="1200" cap="all" spc="1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6000" b="1" i="0" u="none" strike="noStrike" kern="1200" cap="all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 Demi"/>
                <a:ea typeface="+mn-ea"/>
                <a:cs typeface="+mn-cs"/>
              </a:rPr>
              <a:t>But there is more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A96491-CD4E-F7C8-754D-0E0594A9D752}"/>
              </a:ext>
            </a:extLst>
          </p:cNvPr>
          <p:cNvSpPr/>
          <p:nvPr/>
        </p:nvSpPr>
        <p:spPr>
          <a:xfrm>
            <a:off x="1512794" y="1760444"/>
            <a:ext cx="2575112" cy="1337982"/>
          </a:xfrm>
          <a:prstGeom prst="rect">
            <a:avLst/>
          </a:prstGeom>
          <a:solidFill>
            <a:srgbClr val="9A735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Mild Depression </a:t>
            </a:r>
          </a:p>
          <a:p>
            <a:pPr algn="ctr"/>
            <a:r>
              <a:rPr lang="en-US" dirty="0"/>
              <a:t>in 2019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892345-6C0D-DF4B-2253-0DB57CAAD08A}"/>
              </a:ext>
            </a:extLst>
          </p:cNvPr>
          <p:cNvSpPr/>
          <p:nvPr/>
        </p:nvSpPr>
        <p:spPr>
          <a:xfrm>
            <a:off x="9332111" y="1760444"/>
            <a:ext cx="2575112" cy="1337982"/>
          </a:xfrm>
          <a:prstGeom prst="rect">
            <a:avLst/>
          </a:prstGeom>
          <a:solidFill>
            <a:srgbClr val="22658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Severe Depression </a:t>
            </a:r>
          </a:p>
          <a:p>
            <a:pPr algn="ctr"/>
            <a:r>
              <a:rPr lang="en-US" dirty="0"/>
              <a:t>in 2020</a:t>
            </a: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41D73A85-AA09-49AC-8F10-5D34EE1B558B}"/>
              </a:ext>
            </a:extLst>
          </p:cNvPr>
          <p:cNvSpPr/>
          <p:nvPr/>
        </p:nvSpPr>
        <p:spPr>
          <a:xfrm>
            <a:off x="4215653" y="2217644"/>
            <a:ext cx="5022476" cy="430306"/>
          </a:xfrm>
          <a:prstGeom prst="rightArrow">
            <a:avLst/>
          </a:prstGeom>
          <a:solidFill>
            <a:srgbClr val="25252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3134E7E-23C6-A6CE-4CE6-9D0041A094AD}"/>
              </a:ext>
            </a:extLst>
          </p:cNvPr>
          <p:cNvSpPr/>
          <p:nvPr/>
        </p:nvSpPr>
        <p:spPr>
          <a:xfrm>
            <a:off x="1512794" y="3518902"/>
            <a:ext cx="2575112" cy="1337982"/>
          </a:xfrm>
          <a:prstGeom prst="rect">
            <a:avLst/>
          </a:prstGeom>
          <a:solidFill>
            <a:srgbClr val="9A735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Moderate Depression </a:t>
            </a:r>
          </a:p>
          <a:p>
            <a:pPr algn="ctr"/>
            <a:r>
              <a:rPr lang="en-US" dirty="0"/>
              <a:t>in 2019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E9FD22F-7316-C2DD-3A0C-C3AB6B72A99D}"/>
              </a:ext>
            </a:extLst>
          </p:cNvPr>
          <p:cNvSpPr/>
          <p:nvPr/>
        </p:nvSpPr>
        <p:spPr>
          <a:xfrm>
            <a:off x="9332111" y="3518902"/>
            <a:ext cx="2575112" cy="1337982"/>
          </a:xfrm>
          <a:prstGeom prst="rect">
            <a:avLst/>
          </a:prstGeom>
          <a:solidFill>
            <a:srgbClr val="22658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Moderate Depression </a:t>
            </a:r>
          </a:p>
          <a:p>
            <a:pPr algn="ctr"/>
            <a:r>
              <a:rPr lang="en-US" dirty="0"/>
              <a:t>in 2020</a:t>
            </a:r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B1FA1F55-D363-D2B2-5D33-7AE105EDA383}"/>
              </a:ext>
            </a:extLst>
          </p:cNvPr>
          <p:cNvSpPr/>
          <p:nvPr/>
        </p:nvSpPr>
        <p:spPr>
          <a:xfrm>
            <a:off x="4215653" y="3976102"/>
            <a:ext cx="5022476" cy="430306"/>
          </a:xfrm>
          <a:prstGeom prst="rightArrow">
            <a:avLst/>
          </a:prstGeom>
          <a:solidFill>
            <a:srgbClr val="25252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83E58B-53E5-3722-0786-0C78B09089C8}"/>
              </a:ext>
            </a:extLst>
          </p:cNvPr>
          <p:cNvSpPr txBox="1"/>
          <p:nvPr/>
        </p:nvSpPr>
        <p:spPr>
          <a:xfrm rot="16200000">
            <a:off x="37901" y="2244768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Getting Worse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FADE3B-AEE5-3E9D-8817-4C378B6F1944}"/>
              </a:ext>
            </a:extLst>
          </p:cNvPr>
          <p:cNvSpPr txBox="1"/>
          <p:nvPr/>
        </p:nvSpPr>
        <p:spPr>
          <a:xfrm rot="16200000">
            <a:off x="190219" y="3953494"/>
            <a:ext cx="1290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Change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7FC1192-B32A-4197-D487-C27E27A599EB}"/>
              </a:ext>
            </a:extLst>
          </p:cNvPr>
          <p:cNvSpPr/>
          <p:nvPr/>
        </p:nvSpPr>
        <p:spPr>
          <a:xfrm>
            <a:off x="1512794" y="5303439"/>
            <a:ext cx="2575112" cy="1337982"/>
          </a:xfrm>
          <a:prstGeom prst="rect">
            <a:avLst/>
          </a:prstGeom>
          <a:solidFill>
            <a:srgbClr val="9A735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Severe Depression </a:t>
            </a:r>
          </a:p>
          <a:p>
            <a:pPr algn="ctr"/>
            <a:r>
              <a:rPr lang="en-US" dirty="0"/>
              <a:t>in 2019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D7D235-38AE-5D7C-FD2D-022F4A5B565D}"/>
              </a:ext>
            </a:extLst>
          </p:cNvPr>
          <p:cNvSpPr/>
          <p:nvPr/>
        </p:nvSpPr>
        <p:spPr>
          <a:xfrm>
            <a:off x="9332111" y="5303439"/>
            <a:ext cx="2575112" cy="1337982"/>
          </a:xfrm>
          <a:prstGeom prst="rect">
            <a:avLst/>
          </a:prstGeom>
          <a:solidFill>
            <a:srgbClr val="22658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Mild Depression </a:t>
            </a:r>
          </a:p>
          <a:p>
            <a:pPr algn="ctr"/>
            <a:r>
              <a:rPr lang="en-US" dirty="0"/>
              <a:t>in 2020</a:t>
            </a:r>
          </a:p>
        </p:txBody>
      </p:sp>
      <p:sp>
        <p:nvSpPr>
          <p:cNvPr id="23" name="Right Arrow 22">
            <a:extLst>
              <a:ext uri="{FF2B5EF4-FFF2-40B4-BE49-F238E27FC236}">
                <a16:creationId xmlns:a16="http://schemas.microsoft.com/office/drawing/2014/main" id="{9F9160DA-60C1-6056-47B4-5F8B3C04C156}"/>
              </a:ext>
            </a:extLst>
          </p:cNvPr>
          <p:cNvSpPr/>
          <p:nvPr/>
        </p:nvSpPr>
        <p:spPr>
          <a:xfrm>
            <a:off x="4215653" y="5760639"/>
            <a:ext cx="5022476" cy="430306"/>
          </a:xfrm>
          <a:prstGeom prst="rightArrow">
            <a:avLst/>
          </a:prstGeom>
          <a:solidFill>
            <a:srgbClr val="25252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10C7CB2-56F1-A244-8260-2535D4EDE464}"/>
              </a:ext>
            </a:extLst>
          </p:cNvPr>
          <p:cNvSpPr txBox="1"/>
          <p:nvPr/>
        </p:nvSpPr>
        <p:spPr>
          <a:xfrm rot="16200000">
            <a:off x="50502" y="5738031"/>
            <a:ext cx="1570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Getting Better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6DF642-F6CB-A62E-B141-C2BD61F388D2}"/>
              </a:ext>
            </a:extLst>
          </p:cNvPr>
          <p:cNvSpPr txBox="1"/>
          <p:nvPr/>
        </p:nvSpPr>
        <p:spPr>
          <a:xfrm>
            <a:off x="4331271" y="1780185"/>
            <a:ext cx="458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/>
              <a:t>$655 (46%) </a:t>
            </a:r>
            <a:r>
              <a:rPr lang="en-US" dirty="0"/>
              <a:t>INCREASE PER MONTH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E4B6AA-D7B9-1D3E-21CE-F4EBBF66C012}"/>
              </a:ext>
            </a:extLst>
          </p:cNvPr>
          <p:cNvSpPr txBox="1"/>
          <p:nvPr/>
        </p:nvSpPr>
        <p:spPr>
          <a:xfrm>
            <a:off x="4655779" y="3541832"/>
            <a:ext cx="41422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$58 (4%) </a:t>
            </a:r>
            <a:r>
              <a:rPr lang="en-US" dirty="0"/>
              <a:t>INCREASE PER MONTH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33FBE0-C416-71F4-CEC0-9A826D04B39F}"/>
              </a:ext>
            </a:extLst>
          </p:cNvPr>
          <p:cNvSpPr txBox="1"/>
          <p:nvPr/>
        </p:nvSpPr>
        <p:spPr>
          <a:xfrm>
            <a:off x="4405230" y="5305466"/>
            <a:ext cx="46433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$267 (15%) </a:t>
            </a:r>
            <a:r>
              <a:rPr lang="en-US" dirty="0"/>
              <a:t>DECREASE PER MONTH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E6F36B-3770-9045-E641-1EEC830C5598}"/>
              </a:ext>
            </a:extLst>
          </p:cNvPr>
          <p:cNvSpPr/>
          <p:nvPr/>
        </p:nvSpPr>
        <p:spPr>
          <a:xfrm>
            <a:off x="363071" y="3281083"/>
            <a:ext cx="11705664" cy="34962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344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FF5E0AC0-F275-3CDE-CC4F-7D8E779B65DF}"/>
              </a:ext>
            </a:extLst>
          </p:cNvPr>
          <p:cNvSpPr txBox="1"/>
          <p:nvPr/>
        </p:nvSpPr>
        <p:spPr>
          <a:xfrm>
            <a:off x="4405230" y="5305466"/>
            <a:ext cx="46433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$267 (15%) </a:t>
            </a:r>
            <a:r>
              <a:rPr lang="en-US" dirty="0"/>
              <a:t>DECREASE PER MONTH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FE7F5D-1E13-6874-CCB1-7A625ACA6B76}"/>
              </a:ext>
            </a:extLst>
          </p:cNvPr>
          <p:cNvSpPr txBox="1"/>
          <p:nvPr/>
        </p:nvSpPr>
        <p:spPr>
          <a:xfrm>
            <a:off x="617484" y="1149031"/>
            <a:ext cx="10476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Next" panose="020B0503020202020204" pitchFamily="34" charset="0"/>
              </a:rPr>
              <a:t>Costs also depend on whether the person is getting worse depression</a:t>
            </a:r>
          </a:p>
        </p:txBody>
      </p:sp>
      <p:sp>
        <p:nvSpPr>
          <p:cNvPr id="10" name="Text Placeholder 135">
            <a:extLst>
              <a:ext uri="{FF2B5EF4-FFF2-40B4-BE49-F238E27FC236}">
                <a16:creationId xmlns:a16="http://schemas.microsoft.com/office/drawing/2014/main" id="{45A3501E-AB88-60FE-5D43-61C1E9EF7712}"/>
              </a:ext>
            </a:extLst>
          </p:cNvPr>
          <p:cNvSpPr txBox="1">
            <a:spLocks/>
          </p:cNvSpPr>
          <p:nvPr/>
        </p:nvSpPr>
        <p:spPr>
          <a:xfrm>
            <a:off x="609599" y="363235"/>
            <a:ext cx="10234243" cy="1103342"/>
          </a:xfrm>
          <a:prstGeom prst="rect">
            <a:avLst/>
          </a:prstGeom>
        </p:spPr>
        <p:txBody>
          <a:bodyPr vert="horz" lIns="91440" tIns="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1" kern="1200" cap="all" spc="1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6000" b="1" i="0" u="none" strike="noStrike" kern="1200" cap="all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 Demi"/>
                <a:ea typeface="+mn-ea"/>
                <a:cs typeface="+mn-cs"/>
              </a:rPr>
              <a:t>But there is more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9C62F9-0B5E-BC1A-2CA1-B6A2D42307FA}"/>
              </a:ext>
            </a:extLst>
          </p:cNvPr>
          <p:cNvSpPr/>
          <p:nvPr/>
        </p:nvSpPr>
        <p:spPr>
          <a:xfrm>
            <a:off x="1512794" y="1760444"/>
            <a:ext cx="2575112" cy="1337982"/>
          </a:xfrm>
          <a:prstGeom prst="rect">
            <a:avLst/>
          </a:prstGeom>
          <a:solidFill>
            <a:srgbClr val="9A735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Mild Depression </a:t>
            </a:r>
          </a:p>
          <a:p>
            <a:pPr algn="ctr"/>
            <a:r>
              <a:rPr lang="en-US" dirty="0"/>
              <a:t>in 2019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6893C1-1309-92F7-B977-320E452E3297}"/>
              </a:ext>
            </a:extLst>
          </p:cNvPr>
          <p:cNvSpPr/>
          <p:nvPr/>
        </p:nvSpPr>
        <p:spPr>
          <a:xfrm>
            <a:off x="9332111" y="1760444"/>
            <a:ext cx="2575112" cy="1337982"/>
          </a:xfrm>
          <a:prstGeom prst="rect">
            <a:avLst/>
          </a:prstGeom>
          <a:solidFill>
            <a:srgbClr val="22658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Severe Depression </a:t>
            </a:r>
          </a:p>
          <a:p>
            <a:pPr algn="ctr"/>
            <a:r>
              <a:rPr lang="en-US" dirty="0"/>
              <a:t>in 2020</a:t>
            </a: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516B89C3-CBD2-B288-837C-464D9C74AE20}"/>
              </a:ext>
            </a:extLst>
          </p:cNvPr>
          <p:cNvSpPr/>
          <p:nvPr/>
        </p:nvSpPr>
        <p:spPr>
          <a:xfrm>
            <a:off x="4215653" y="2217644"/>
            <a:ext cx="5022476" cy="430306"/>
          </a:xfrm>
          <a:prstGeom prst="rightArrow">
            <a:avLst/>
          </a:prstGeom>
          <a:solidFill>
            <a:srgbClr val="25252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6687E8-39DC-E1CB-B0CB-AE10B2C19342}"/>
              </a:ext>
            </a:extLst>
          </p:cNvPr>
          <p:cNvSpPr/>
          <p:nvPr/>
        </p:nvSpPr>
        <p:spPr>
          <a:xfrm>
            <a:off x="1512794" y="3518902"/>
            <a:ext cx="2575112" cy="1337982"/>
          </a:xfrm>
          <a:prstGeom prst="rect">
            <a:avLst/>
          </a:prstGeom>
          <a:solidFill>
            <a:srgbClr val="9A735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Moderate Depression </a:t>
            </a:r>
          </a:p>
          <a:p>
            <a:pPr algn="ctr"/>
            <a:r>
              <a:rPr lang="en-US" dirty="0"/>
              <a:t>in 2019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AD5B2D-53D0-5AF7-B9A1-6C949E8FD7CF}"/>
              </a:ext>
            </a:extLst>
          </p:cNvPr>
          <p:cNvSpPr/>
          <p:nvPr/>
        </p:nvSpPr>
        <p:spPr>
          <a:xfrm>
            <a:off x="9332111" y="3518902"/>
            <a:ext cx="2575112" cy="1337982"/>
          </a:xfrm>
          <a:prstGeom prst="rect">
            <a:avLst/>
          </a:prstGeom>
          <a:solidFill>
            <a:srgbClr val="22658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Moderate Depression </a:t>
            </a:r>
          </a:p>
          <a:p>
            <a:pPr algn="ctr"/>
            <a:r>
              <a:rPr lang="en-US" dirty="0"/>
              <a:t>in 2020</a:t>
            </a:r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0ED6951A-202C-2524-A143-B42091731CB7}"/>
              </a:ext>
            </a:extLst>
          </p:cNvPr>
          <p:cNvSpPr/>
          <p:nvPr/>
        </p:nvSpPr>
        <p:spPr>
          <a:xfrm>
            <a:off x="4215653" y="3976102"/>
            <a:ext cx="5022476" cy="430306"/>
          </a:xfrm>
          <a:prstGeom prst="rightArrow">
            <a:avLst/>
          </a:prstGeom>
          <a:solidFill>
            <a:srgbClr val="25252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1DFBCF-F50E-637E-385E-0122369B60C0}"/>
              </a:ext>
            </a:extLst>
          </p:cNvPr>
          <p:cNvSpPr txBox="1"/>
          <p:nvPr/>
        </p:nvSpPr>
        <p:spPr>
          <a:xfrm rot="16200000">
            <a:off x="37901" y="2244768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Getting Worse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D93886-B821-B857-B5BD-3F6B815E87CB}"/>
              </a:ext>
            </a:extLst>
          </p:cNvPr>
          <p:cNvSpPr txBox="1"/>
          <p:nvPr/>
        </p:nvSpPr>
        <p:spPr>
          <a:xfrm rot="16200000">
            <a:off x="190219" y="3953494"/>
            <a:ext cx="1290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Change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961DD96-9ED5-BA7C-7DA9-E07E686F174E}"/>
              </a:ext>
            </a:extLst>
          </p:cNvPr>
          <p:cNvSpPr/>
          <p:nvPr/>
        </p:nvSpPr>
        <p:spPr>
          <a:xfrm>
            <a:off x="1512794" y="5303439"/>
            <a:ext cx="2575112" cy="1337982"/>
          </a:xfrm>
          <a:prstGeom prst="rect">
            <a:avLst/>
          </a:prstGeom>
          <a:solidFill>
            <a:srgbClr val="9A735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Severe Depression </a:t>
            </a:r>
          </a:p>
          <a:p>
            <a:pPr algn="ctr"/>
            <a:r>
              <a:rPr lang="en-US" dirty="0"/>
              <a:t>in 2019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DDF097-9351-1818-C9FB-F2B1824A682C}"/>
              </a:ext>
            </a:extLst>
          </p:cNvPr>
          <p:cNvSpPr/>
          <p:nvPr/>
        </p:nvSpPr>
        <p:spPr>
          <a:xfrm>
            <a:off x="9332111" y="5303439"/>
            <a:ext cx="2575112" cy="1337982"/>
          </a:xfrm>
          <a:prstGeom prst="rect">
            <a:avLst/>
          </a:prstGeom>
          <a:solidFill>
            <a:srgbClr val="22658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Mild Depression </a:t>
            </a:r>
          </a:p>
          <a:p>
            <a:pPr algn="ctr"/>
            <a:r>
              <a:rPr lang="en-US" dirty="0"/>
              <a:t>in 2020</a:t>
            </a:r>
          </a:p>
        </p:txBody>
      </p:sp>
      <p:sp>
        <p:nvSpPr>
          <p:cNvPr id="23" name="Right Arrow 22">
            <a:extLst>
              <a:ext uri="{FF2B5EF4-FFF2-40B4-BE49-F238E27FC236}">
                <a16:creationId xmlns:a16="http://schemas.microsoft.com/office/drawing/2014/main" id="{90B0DACD-224A-A33E-CF7A-3A09C0078983}"/>
              </a:ext>
            </a:extLst>
          </p:cNvPr>
          <p:cNvSpPr/>
          <p:nvPr/>
        </p:nvSpPr>
        <p:spPr>
          <a:xfrm>
            <a:off x="4215653" y="5760639"/>
            <a:ext cx="5022476" cy="430306"/>
          </a:xfrm>
          <a:prstGeom prst="rightArrow">
            <a:avLst/>
          </a:prstGeom>
          <a:solidFill>
            <a:srgbClr val="25252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56176A-BB9C-923E-13D8-433541947E94}"/>
              </a:ext>
            </a:extLst>
          </p:cNvPr>
          <p:cNvSpPr txBox="1"/>
          <p:nvPr/>
        </p:nvSpPr>
        <p:spPr>
          <a:xfrm rot="16200000">
            <a:off x="50502" y="5738031"/>
            <a:ext cx="1570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Getting Better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FF4DC6C-7F1A-6F84-9568-BAB67B42F14C}"/>
              </a:ext>
            </a:extLst>
          </p:cNvPr>
          <p:cNvSpPr/>
          <p:nvPr/>
        </p:nvSpPr>
        <p:spPr>
          <a:xfrm>
            <a:off x="363071" y="5049231"/>
            <a:ext cx="11705664" cy="17280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BD4144-711D-9057-7D7A-AD0851AC3513}"/>
              </a:ext>
            </a:extLst>
          </p:cNvPr>
          <p:cNvSpPr txBox="1"/>
          <p:nvPr/>
        </p:nvSpPr>
        <p:spPr>
          <a:xfrm>
            <a:off x="4331271" y="1780185"/>
            <a:ext cx="458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/>
              <a:t>$655 (46%) </a:t>
            </a:r>
            <a:r>
              <a:rPr lang="en-US" dirty="0"/>
              <a:t>INCREASE PER MONTH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B768D4A-DBE1-ADC9-6620-504E62DF1171}"/>
              </a:ext>
            </a:extLst>
          </p:cNvPr>
          <p:cNvSpPr txBox="1"/>
          <p:nvPr/>
        </p:nvSpPr>
        <p:spPr>
          <a:xfrm>
            <a:off x="4655779" y="3541832"/>
            <a:ext cx="41422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$58 (4%) </a:t>
            </a:r>
            <a:r>
              <a:rPr lang="en-US" dirty="0"/>
              <a:t>INCREASE PER MONTH</a:t>
            </a:r>
          </a:p>
        </p:txBody>
      </p:sp>
    </p:spTree>
    <p:extLst>
      <p:ext uri="{BB962C8B-B14F-4D97-AF65-F5344CB8AC3E}">
        <p14:creationId xmlns:p14="http://schemas.microsoft.com/office/powerpoint/2010/main" val="4272109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F4D2B-0E77-8ADA-6642-4290F4F96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AE4855-1E38-0670-8C6D-344189F5BBB5}"/>
              </a:ext>
            </a:extLst>
          </p:cNvPr>
          <p:cNvSpPr txBox="1"/>
          <p:nvPr/>
        </p:nvSpPr>
        <p:spPr>
          <a:xfrm>
            <a:off x="617484" y="1149031"/>
            <a:ext cx="10476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Next" panose="020B0503020202020204" pitchFamily="34" charset="0"/>
              </a:rPr>
              <a:t>Costs also depend on whether the person is getting worse depression</a:t>
            </a:r>
          </a:p>
        </p:txBody>
      </p:sp>
      <p:sp>
        <p:nvSpPr>
          <p:cNvPr id="10" name="Text Placeholder 135">
            <a:extLst>
              <a:ext uri="{FF2B5EF4-FFF2-40B4-BE49-F238E27FC236}">
                <a16:creationId xmlns:a16="http://schemas.microsoft.com/office/drawing/2014/main" id="{4A001DB7-DDE4-B6F7-BEC5-A3FA901028E6}"/>
              </a:ext>
            </a:extLst>
          </p:cNvPr>
          <p:cNvSpPr txBox="1">
            <a:spLocks/>
          </p:cNvSpPr>
          <p:nvPr/>
        </p:nvSpPr>
        <p:spPr>
          <a:xfrm>
            <a:off x="609599" y="363235"/>
            <a:ext cx="10234243" cy="1103342"/>
          </a:xfrm>
          <a:prstGeom prst="rect">
            <a:avLst/>
          </a:prstGeom>
        </p:spPr>
        <p:txBody>
          <a:bodyPr vert="horz" lIns="91440" tIns="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1" kern="1200" cap="all" spc="1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6000" b="1" i="0" u="none" strike="noStrike" kern="1200" cap="all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 Demi"/>
                <a:ea typeface="+mn-ea"/>
                <a:cs typeface="+mn-cs"/>
              </a:rPr>
              <a:t>But there is more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64BBB9-9D2F-09A2-86B6-EF521A32A4A6}"/>
              </a:ext>
            </a:extLst>
          </p:cNvPr>
          <p:cNvSpPr/>
          <p:nvPr/>
        </p:nvSpPr>
        <p:spPr>
          <a:xfrm>
            <a:off x="1512794" y="1760444"/>
            <a:ext cx="2575112" cy="1337982"/>
          </a:xfrm>
          <a:prstGeom prst="rect">
            <a:avLst/>
          </a:prstGeom>
          <a:solidFill>
            <a:srgbClr val="9A735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Mild Depression </a:t>
            </a:r>
          </a:p>
          <a:p>
            <a:pPr algn="ctr"/>
            <a:r>
              <a:rPr lang="en-US" dirty="0"/>
              <a:t>in 2019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1AE7DB-D94C-53C8-0757-DCB81633B820}"/>
              </a:ext>
            </a:extLst>
          </p:cNvPr>
          <p:cNvSpPr/>
          <p:nvPr/>
        </p:nvSpPr>
        <p:spPr>
          <a:xfrm>
            <a:off x="9332111" y="1760444"/>
            <a:ext cx="2575112" cy="1337982"/>
          </a:xfrm>
          <a:prstGeom prst="rect">
            <a:avLst/>
          </a:prstGeom>
          <a:solidFill>
            <a:srgbClr val="22658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Severe Depression </a:t>
            </a:r>
          </a:p>
          <a:p>
            <a:pPr algn="ctr"/>
            <a:r>
              <a:rPr lang="en-US" dirty="0"/>
              <a:t>in 2020</a:t>
            </a: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C73537CC-3DED-88F7-8D82-D702D2AD5F9C}"/>
              </a:ext>
            </a:extLst>
          </p:cNvPr>
          <p:cNvSpPr/>
          <p:nvPr/>
        </p:nvSpPr>
        <p:spPr>
          <a:xfrm>
            <a:off x="4215653" y="2217644"/>
            <a:ext cx="5022476" cy="430306"/>
          </a:xfrm>
          <a:prstGeom prst="rightArrow">
            <a:avLst/>
          </a:prstGeom>
          <a:solidFill>
            <a:srgbClr val="25252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1ABD5A-1037-B930-3F29-50C113C72B70}"/>
              </a:ext>
            </a:extLst>
          </p:cNvPr>
          <p:cNvSpPr txBox="1"/>
          <p:nvPr/>
        </p:nvSpPr>
        <p:spPr>
          <a:xfrm>
            <a:off x="4331271" y="1780185"/>
            <a:ext cx="458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/>
              <a:t>$655 (46%) </a:t>
            </a:r>
            <a:r>
              <a:rPr lang="en-US" dirty="0"/>
              <a:t>INCREASE PER MONTH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C562729-BFDF-705A-4862-175776DD42B0}"/>
              </a:ext>
            </a:extLst>
          </p:cNvPr>
          <p:cNvSpPr/>
          <p:nvPr/>
        </p:nvSpPr>
        <p:spPr>
          <a:xfrm>
            <a:off x="1512794" y="3518902"/>
            <a:ext cx="2575112" cy="1337982"/>
          </a:xfrm>
          <a:prstGeom prst="rect">
            <a:avLst/>
          </a:prstGeom>
          <a:solidFill>
            <a:srgbClr val="9A735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Moderate Depression </a:t>
            </a:r>
          </a:p>
          <a:p>
            <a:pPr algn="ctr"/>
            <a:r>
              <a:rPr lang="en-US" dirty="0"/>
              <a:t>in 2019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0437DA-BCF6-126D-EEBE-A48E436413BD}"/>
              </a:ext>
            </a:extLst>
          </p:cNvPr>
          <p:cNvSpPr/>
          <p:nvPr/>
        </p:nvSpPr>
        <p:spPr>
          <a:xfrm>
            <a:off x="9332111" y="3518902"/>
            <a:ext cx="2575112" cy="1337982"/>
          </a:xfrm>
          <a:prstGeom prst="rect">
            <a:avLst/>
          </a:prstGeom>
          <a:solidFill>
            <a:srgbClr val="22658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Moderate Depression </a:t>
            </a:r>
          </a:p>
          <a:p>
            <a:pPr algn="ctr"/>
            <a:r>
              <a:rPr lang="en-US" dirty="0"/>
              <a:t>in 2020</a:t>
            </a:r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09D7BB60-8CD0-3798-0D0E-F21374E4CC40}"/>
              </a:ext>
            </a:extLst>
          </p:cNvPr>
          <p:cNvSpPr/>
          <p:nvPr/>
        </p:nvSpPr>
        <p:spPr>
          <a:xfrm>
            <a:off x="4215653" y="3976102"/>
            <a:ext cx="5022476" cy="430306"/>
          </a:xfrm>
          <a:prstGeom prst="rightArrow">
            <a:avLst/>
          </a:prstGeom>
          <a:solidFill>
            <a:srgbClr val="25252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D7F65C-683A-08E3-2B9B-756F48DC4CFE}"/>
              </a:ext>
            </a:extLst>
          </p:cNvPr>
          <p:cNvSpPr txBox="1"/>
          <p:nvPr/>
        </p:nvSpPr>
        <p:spPr>
          <a:xfrm>
            <a:off x="4655779" y="3541832"/>
            <a:ext cx="41422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$58 (4%) </a:t>
            </a:r>
            <a:r>
              <a:rPr lang="en-US" dirty="0"/>
              <a:t>INCREASE PER MONTH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525931-9AC1-3872-E52F-9A4AE2207AAE}"/>
              </a:ext>
            </a:extLst>
          </p:cNvPr>
          <p:cNvSpPr txBox="1"/>
          <p:nvPr/>
        </p:nvSpPr>
        <p:spPr>
          <a:xfrm rot="16200000">
            <a:off x="37901" y="2244768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Getting Worse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C335D5-A647-288D-63AF-B12E062A82CA}"/>
              </a:ext>
            </a:extLst>
          </p:cNvPr>
          <p:cNvSpPr txBox="1"/>
          <p:nvPr/>
        </p:nvSpPr>
        <p:spPr>
          <a:xfrm rot="16200000">
            <a:off x="190219" y="3953494"/>
            <a:ext cx="1290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Change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991C5A-250A-999D-7453-A9071B2A67EB}"/>
              </a:ext>
            </a:extLst>
          </p:cNvPr>
          <p:cNvSpPr/>
          <p:nvPr/>
        </p:nvSpPr>
        <p:spPr>
          <a:xfrm>
            <a:off x="1512794" y="5303439"/>
            <a:ext cx="2575112" cy="1337982"/>
          </a:xfrm>
          <a:prstGeom prst="rect">
            <a:avLst/>
          </a:prstGeom>
          <a:solidFill>
            <a:srgbClr val="9A735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Severe Depression </a:t>
            </a:r>
          </a:p>
          <a:p>
            <a:pPr algn="ctr"/>
            <a:r>
              <a:rPr lang="en-US" dirty="0"/>
              <a:t>in 2019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33C5F21-DE32-2A5B-FDB5-F181F5302B0B}"/>
              </a:ext>
            </a:extLst>
          </p:cNvPr>
          <p:cNvSpPr/>
          <p:nvPr/>
        </p:nvSpPr>
        <p:spPr>
          <a:xfrm>
            <a:off x="9332111" y="5303439"/>
            <a:ext cx="2575112" cy="1337982"/>
          </a:xfrm>
          <a:prstGeom prst="rect">
            <a:avLst/>
          </a:prstGeom>
          <a:solidFill>
            <a:srgbClr val="22658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Mild Depression </a:t>
            </a:r>
          </a:p>
          <a:p>
            <a:pPr algn="ctr"/>
            <a:r>
              <a:rPr lang="en-US" dirty="0"/>
              <a:t>in 2020</a:t>
            </a:r>
          </a:p>
        </p:txBody>
      </p:sp>
      <p:sp>
        <p:nvSpPr>
          <p:cNvPr id="23" name="Right Arrow 22">
            <a:extLst>
              <a:ext uri="{FF2B5EF4-FFF2-40B4-BE49-F238E27FC236}">
                <a16:creationId xmlns:a16="http://schemas.microsoft.com/office/drawing/2014/main" id="{E117D0B1-D0E0-2041-B9DE-487F3E08B2EE}"/>
              </a:ext>
            </a:extLst>
          </p:cNvPr>
          <p:cNvSpPr/>
          <p:nvPr/>
        </p:nvSpPr>
        <p:spPr>
          <a:xfrm>
            <a:off x="4215653" y="5760639"/>
            <a:ext cx="5022476" cy="430306"/>
          </a:xfrm>
          <a:prstGeom prst="rightArrow">
            <a:avLst/>
          </a:prstGeom>
          <a:solidFill>
            <a:srgbClr val="25252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939146-BF5F-C61A-5C96-F3D7F6BF05E2}"/>
              </a:ext>
            </a:extLst>
          </p:cNvPr>
          <p:cNvSpPr txBox="1"/>
          <p:nvPr/>
        </p:nvSpPr>
        <p:spPr>
          <a:xfrm>
            <a:off x="4405230" y="5305466"/>
            <a:ext cx="46433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$267 (15%) </a:t>
            </a:r>
            <a:r>
              <a:rPr lang="en-US" dirty="0"/>
              <a:t>DECREASE PER MONTH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BAD2065-2B49-0342-0F5A-881BF761E935}"/>
              </a:ext>
            </a:extLst>
          </p:cNvPr>
          <p:cNvSpPr txBox="1"/>
          <p:nvPr/>
        </p:nvSpPr>
        <p:spPr>
          <a:xfrm rot="16200000">
            <a:off x="50502" y="5738031"/>
            <a:ext cx="1570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Getting Better</a:t>
            </a:r>
          </a:p>
        </p:txBody>
      </p:sp>
    </p:spTree>
    <p:extLst>
      <p:ext uri="{BB962C8B-B14F-4D97-AF65-F5344CB8AC3E}">
        <p14:creationId xmlns:p14="http://schemas.microsoft.com/office/powerpoint/2010/main" val="81798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AA755D-1BDF-F9E1-F352-3F7F36B18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74C1C9-4D70-AA13-5539-6B2E8450CB4D}"/>
              </a:ext>
            </a:extLst>
          </p:cNvPr>
          <p:cNvSpPr txBox="1"/>
          <p:nvPr/>
        </p:nvSpPr>
        <p:spPr>
          <a:xfrm>
            <a:off x="1525160" y="2177731"/>
            <a:ext cx="98981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226582"/>
                </a:solidFill>
                <a:latin typeface="Avenir Next" panose="020B0503020202020204" pitchFamily="34" charset="0"/>
              </a:rPr>
              <a:t>CAUSE and EFFECT</a:t>
            </a:r>
          </a:p>
        </p:txBody>
      </p:sp>
      <p:sp>
        <p:nvSpPr>
          <p:cNvPr id="10" name="Text Placeholder 135">
            <a:extLst>
              <a:ext uri="{FF2B5EF4-FFF2-40B4-BE49-F238E27FC236}">
                <a16:creationId xmlns:a16="http://schemas.microsoft.com/office/drawing/2014/main" id="{A2CBBF6B-7632-108B-FDDE-5581BDBA239C}"/>
              </a:ext>
            </a:extLst>
          </p:cNvPr>
          <p:cNvSpPr txBox="1">
            <a:spLocks/>
          </p:cNvSpPr>
          <p:nvPr/>
        </p:nvSpPr>
        <p:spPr>
          <a:xfrm>
            <a:off x="609599" y="363235"/>
            <a:ext cx="10964917" cy="1103342"/>
          </a:xfrm>
          <a:prstGeom prst="rect">
            <a:avLst/>
          </a:prstGeom>
        </p:spPr>
        <p:txBody>
          <a:bodyPr vert="horz" lIns="91440" tIns="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1" kern="1200" cap="all" spc="1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6000" b="1" i="0" u="none" strike="noStrike" kern="1200" cap="all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 Demi"/>
                <a:ea typeface="+mn-ea"/>
                <a:cs typeface="+mn-cs"/>
              </a:rPr>
              <a:t>Let’s process all of this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EFC526-95FB-775C-A9BD-BC27665B5F33}"/>
              </a:ext>
            </a:extLst>
          </p:cNvPr>
          <p:cNvSpPr txBox="1"/>
          <p:nvPr/>
        </p:nvSpPr>
        <p:spPr>
          <a:xfrm>
            <a:off x="420261" y="1677885"/>
            <a:ext cx="951339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b="1" dirty="0">
                <a:solidFill>
                  <a:srgbClr val="226582"/>
                </a:solidFill>
                <a:latin typeface="Avenir Next" panose="020B0503020202020204" pitchFamily="34" charset="0"/>
              </a:rPr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9227F0-0A0B-0BAA-472A-CC56094FAAB0}"/>
              </a:ext>
            </a:extLst>
          </p:cNvPr>
          <p:cNvSpPr txBox="1"/>
          <p:nvPr/>
        </p:nvSpPr>
        <p:spPr>
          <a:xfrm>
            <a:off x="420260" y="3325906"/>
            <a:ext cx="951339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b="1" dirty="0">
                <a:solidFill>
                  <a:srgbClr val="226582"/>
                </a:solidFill>
                <a:latin typeface="Avenir Next" panose="020B0503020202020204" pitchFamily="34" charset="0"/>
              </a:rPr>
              <a:t>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0A16DE-7AFB-B0BB-6D89-9E1331DDB0D9}"/>
              </a:ext>
            </a:extLst>
          </p:cNvPr>
          <p:cNvSpPr txBox="1"/>
          <p:nvPr/>
        </p:nvSpPr>
        <p:spPr>
          <a:xfrm>
            <a:off x="1525160" y="3822754"/>
            <a:ext cx="98981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226582"/>
                </a:solidFill>
                <a:latin typeface="Avenir Next" panose="020B0503020202020204" pitchFamily="34" charset="0"/>
              </a:rPr>
              <a:t>LEADING INDICATOR</a:t>
            </a:r>
          </a:p>
        </p:txBody>
      </p:sp>
      <p:pic>
        <p:nvPicPr>
          <p:cNvPr id="12" name="Graphic 11" descr="Cause And Effect with solid fill">
            <a:extLst>
              <a:ext uri="{FF2B5EF4-FFF2-40B4-BE49-F238E27FC236}">
                <a16:creationId xmlns:a16="http://schemas.microsoft.com/office/drawing/2014/main" id="{976AF5D9-FA9C-BECF-5425-F87B102A2F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64346" y="1860572"/>
            <a:ext cx="4110753" cy="411075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606738A-0FB1-EAC7-90C6-2D96BA3BB58B}"/>
              </a:ext>
            </a:extLst>
          </p:cNvPr>
          <p:cNvSpPr txBox="1"/>
          <p:nvPr/>
        </p:nvSpPr>
        <p:spPr>
          <a:xfrm>
            <a:off x="7428488" y="1993065"/>
            <a:ext cx="1143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26582"/>
                </a:solidFill>
              </a:rPr>
              <a:t>Life Event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2A0D28-E6BD-98D4-8A25-779C682E8498}"/>
              </a:ext>
            </a:extLst>
          </p:cNvPr>
          <p:cNvSpPr txBox="1"/>
          <p:nvPr/>
        </p:nvSpPr>
        <p:spPr>
          <a:xfrm>
            <a:off x="9725278" y="4256930"/>
            <a:ext cx="1122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26582"/>
                </a:solidFill>
              </a:rPr>
              <a:t>Outcome</a:t>
            </a:r>
          </a:p>
        </p:txBody>
      </p:sp>
    </p:spTree>
    <p:extLst>
      <p:ext uri="{BB962C8B-B14F-4D97-AF65-F5344CB8AC3E}">
        <p14:creationId xmlns:p14="http://schemas.microsoft.com/office/powerpoint/2010/main" val="105324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7B84FE-6850-1008-BC08-325D4A94B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9A97F4B-F062-A921-FE91-08CD3B6D2EB3}"/>
              </a:ext>
            </a:extLst>
          </p:cNvPr>
          <p:cNvSpPr txBox="1"/>
          <p:nvPr/>
        </p:nvSpPr>
        <p:spPr>
          <a:xfrm>
            <a:off x="1525160" y="2177731"/>
            <a:ext cx="98981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>
                    <a:lumMod val="75000"/>
                  </a:schemeClr>
                </a:solidFill>
                <a:latin typeface="Avenir Next" panose="020B0503020202020204" pitchFamily="34" charset="0"/>
              </a:rPr>
              <a:t>CAUSE and EFFECT</a:t>
            </a:r>
          </a:p>
        </p:txBody>
      </p:sp>
      <p:sp>
        <p:nvSpPr>
          <p:cNvPr id="10" name="Text Placeholder 135">
            <a:extLst>
              <a:ext uri="{FF2B5EF4-FFF2-40B4-BE49-F238E27FC236}">
                <a16:creationId xmlns:a16="http://schemas.microsoft.com/office/drawing/2014/main" id="{C71E264C-4213-A8F8-E657-42E9B4A6583B}"/>
              </a:ext>
            </a:extLst>
          </p:cNvPr>
          <p:cNvSpPr txBox="1">
            <a:spLocks/>
          </p:cNvSpPr>
          <p:nvPr/>
        </p:nvSpPr>
        <p:spPr>
          <a:xfrm>
            <a:off x="609599" y="363235"/>
            <a:ext cx="10964917" cy="1103342"/>
          </a:xfrm>
          <a:prstGeom prst="rect">
            <a:avLst/>
          </a:prstGeom>
        </p:spPr>
        <p:txBody>
          <a:bodyPr vert="horz" lIns="91440" tIns="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1" kern="1200" cap="all" spc="1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6000" b="1" i="0" u="none" strike="noStrike" kern="1200" cap="all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 Demi"/>
                <a:ea typeface="+mn-ea"/>
                <a:cs typeface="+mn-cs"/>
              </a:rPr>
              <a:t>Let’s process all of this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602AA4-7302-E186-3806-96C6219B12A3}"/>
              </a:ext>
            </a:extLst>
          </p:cNvPr>
          <p:cNvSpPr txBox="1"/>
          <p:nvPr/>
        </p:nvSpPr>
        <p:spPr>
          <a:xfrm>
            <a:off x="420261" y="1677885"/>
            <a:ext cx="951339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b="1" dirty="0">
                <a:solidFill>
                  <a:schemeClr val="bg1">
                    <a:lumMod val="75000"/>
                  </a:schemeClr>
                </a:solidFill>
                <a:latin typeface="Avenir Next" panose="020B0503020202020204" pitchFamily="34" charset="0"/>
              </a:rPr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FF2B23-16B3-6F4A-639D-F80877E30D68}"/>
              </a:ext>
            </a:extLst>
          </p:cNvPr>
          <p:cNvSpPr txBox="1"/>
          <p:nvPr/>
        </p:nvSpPr>
        <p:spPr>
          <a:xfrm>
            <a:off x="420260" y="3325906"/>
            <a:ext cx="951339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b="1" dirty="0">
                <a:solidFill>
                  <a:schemeClr val="bg1">
                    <a:lumMod val="75000"/>
                  </a:schemeClr>
                </a:solidFill>
                <a:latin typeface="Avenir Next" panose="020B0503020202020204" pitchFamily="34" charset="0"/>
              </a:rPr>
              <a:t>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DB82F1-8045-3886-7953-9A0481C8BDDE}"/>
              </a:ext>
            </a:extLst>
          </p:cNvPr>
          <p:cNvSpPr txBox="1"/>
          <p:nvPr/>
        </p:nvSpPr>
        <p:spPr>
          <a:xfrm>
            <a:off x="1525160" y="3822754"/>
            <a:ext cx="98981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>
                    <a:lumMod val="75000"/>
                  </a:schemeClr>
                </a:solidFill>
                <a:latin typeface="Avenir Next" panose="020B0503020202020204" pitchFamily="34" charset="0"/>
              </a:rPr>
              <a:t>LEADING INDICATOR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07EDEB-478C-7BCE-09FE-F30725E5311A}"/>
              </a:ext>
            </a:extLst>
          </p:cNvPr>
          <p:cNvSpPr txBox="1"/>
          <p:nvPr/>
        </p:nvSpPr>
        <p:spPr>
          <a:xfrm>
            <a:off x="1617048" y="5629142"/>
            <a:ext cx="98981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6"/>
                </a:solidFill>
                <a:latin typeface="Avenir Next" panose="020B0503020202020204" pitchFamily="34" charset="0"/>
              </a:rPr>
              <a:t>PREVENTION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8A20B3-0B39-76CA-4117-4BBC13DFA9F0}"/>
              </a:ext>
            </a:extLst>
          </p:cNvPr>
          <p:cNvSpPr txBox="1"/>
          <p:nvPr/>
        </p:nvSpPr>
        <p:spPr>
          <a:xfrm>
            <a:off x="420259" y="5021283"/>
            <a:ext cx="951339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b="1" dirty="0">
                <a:solidFill>
                  <a:schemeClr val="accent6"/>
                </a:solidFill>
                <a:latin typeface="Avenir Next" panose="020B0503020202020204" pitchFamily="34" charset="0"/>
              </a:rPr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D222B9-77C3-5193-F15A-8BDED5D8181E}"/>
              </a:ext>
            </a:extLst>
          </p:cNvPr>
          <p:cNvSpPr txBox="1"/>
          <p:nvPr/>
        </p:nvSpPr>
        <p:spPr>
          <a:xfrm>
            <a:off x="6758882" y="2963084"/>
            <a:ext cx="458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</a:rPr>
              <a:t>$655 (46%) </a:t>
            </a:r>
            <a:r>
              <a:rPr lang="en-US" dirty="0">
                <a:solidFill>
                  <a:srgbClr val="C00000"/>
                </a:solidFill>
              </a:rPr>
              <a:t>INCREASE PER MONTH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8754F5-5E4D-856D-9CAE-2DE753468117}"/>
              </a:ext>
            </a:extLst>
          </p:cNvPr>
          <p:cNvSpPr txBox="1"/>
          <p:nvPr/>
        </p:nvSpPr>
        <p:spPr>
          <a:xfrm>
            <a:off x="8982160" y="3745809"/>
            <a:ext cx="399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8A553C-73B0-14B8-278E-79150EFB0861}"/>
              </a:ext>
            </a:extLst>
          </p:cNvPr>
          <p:cNvSpPr txBox="1"/>
          <p:nvPr/>
        </p:nvSpPr>
        <p:spPr>
          <a:xfrm>
            <a:off x="6779953" y="4313091"/>
            <a:ext cx="46433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$267 (15%) </a:t>
            </a:r>
            <a:r>
              <a:rPr lang="en-US" dirty="0">
                <a:solidFill>
                  <a:schemeClr val="accent6"/>
                </a:solidFill>
              </a:rPr>
              <a:t>DECREASE PER MONTH</a:t>
            </a:r>
          </a:p>
        </p:txBody>
      </p:sp>
    </p:spTree>
    <p:extLst>
      <p:ext uri="{BB962C8B-B14F-4D97-AF65-F5344CB8AC3E}">
        <p14:creationId xmlns:p14="http://schemas.microsoft.com/office/powerpoint/2010/main" val="13320415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BB69A2-2C28-4246-BFC1-3316E1737169}"/>
              </a:ext>
            </a:extLst>
          </p:cNvPr>
          <p:cNvSpPr txBox="1"/>
          <p:nvPr/>
        </p:nvSpPr>
        <p:spPr>
          <a:xfrm>
            <a:off x="4473809" y="545130"/>
            <a:ext cx="35573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Book Antiqua" panose="02040602050305030304" pitchFamily="18" charset="0"/>
              </a:rPr>
              <a:t>Tyson S. Barrett</a:t>
            </a:r>
          </a:p>
        </p:txBody>
      </p:sp>
      <p:pic>
        <p:nvPicPr>
          <p:cNvPr id="5" name="Graphic 4" descr="Envelope">
            <a:extLst>
              <a:ext uri="{FF2B5EF4-FFF2-40B4-BE49-F238E27FC236}">
                <a16:creationId xmlns:a16="http://schemas.microsoft.com/office/drawing/2014/main" id="{4F281282-56D9-D24B-B585-77DC2D1C16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80370" y="5617833"/>
            <a:ext cx="836840" cy="8368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34160A-6E91-974B-BDD7-E3DAEE421DE2}"/>
              </a:ext>
            </a:extLst>
          </p:cNvPr>
          <p:cNvSpPr txBox="1"/>
          <p:nvPr/>
        </p:nvSpPr>
        <p:spPr>
          <a:xfrm>
            <a:off x="2958200" y="5789650"/>
            <a:ext cx="7058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>
                <a:solidFill>
                  <a:srgbClr val="226582"/>
                </a:solidFill>
                <a:latin typeface="Fira Code" panose="020B0509050000020004" pitchFamily="49" charset="0"/>
                <a:ea typeface="Fira Code" panose="020B0509050000020004" pitchFamily="49" charset="0"/>
              </a:rPr>
              <a:t>tyson.barrett@highmarkhealth.org</a:t>
            </a:r>
            <a:endParaRPr lang="en-US" sz="2800" b="1" dirty="0">
              <a:solidFill>
                <a:srgbClr val="226582"/>
              </a:solidFill>
              <a:latin typeface="Fira Code" panose="020B0509050000020004" pitchFamily="49" charset="0"/>
              <a:ea typeface="Fira Code" panose="020B050905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8D4085-406E-1345-B077-45ACE7FC23A3}"/>
              </a:ext>
            </a:extLst>
          </p:cNvPr>
          <p:cNvSpPr txBox="1"/>
          <p:nvPr/>
        </p:nvSpPr>
        <p:spPr>
          <a:xfrm>
            <a:off x="1574688" y="1221761"/>
            <a:ext cx="93556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Book Antiqua" panose="02040602050305030304" pitchFamily="18" charset="0"/>
              </a:rPr>
              <a:t>Thanks to all of the coauthors and Highmark Health in supporting this important research!</a:t>
            </a:r>
          </a:p>
        </p:txBody>
      </p:sp>
      <p:sp>
        <p:nvSpPr>
          <p:cNvPr id="8" name="Text Placeholder 135">
            <a:extLst>
              <a:ext uri="{FF2B5EF4-FFF2-40B4-BE49-F238E27FC236}">
                <a16:creationId xmlns:a16="http://schemas.microsoft.com/office/drawing/2014/main" id="{3EF2E138-D008-B64C-C865-2A303E93002D}"/>
              </a:ext>
            </a:extLst>
          </p:cNvPr>
          <p:cNvSpPr txBox="1">
            <a:spLocks/>
          </p:cNvSpPr>
          <p:nvPr/>
        </p:nvSpPr>
        <p:spPr>
          <a:xfrm>
            <a:off x="604004" y="3277200"/>
            <a:ext cx="11296997" cy="1103342"/>
          </a:xfrm>
          <a:prstGeom prst="rect">
            <a:avLst/>
          </a:prstGeom>
        </p:spPr>
        <p:txBody>
          <a:bodyPr vert="horz" lIns="91440" tIns="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1" kern="1200" cap="all" spc="1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6000" b="1" i="0" u="none" strike="noStrike" kern="1200" cap="all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 Demi"/>
                <a:ea typeface="+mn-ea"/>
                <a:cs typeface="+mn-cs"/>
              </a:rPr>
              <a:t>Questions or comments?</a:t>
            </a:r>
          </a:p>
        </p:txBody>
      </p:sp>
    </p:spTree>
    <p:extLst>
      <p:ext uri="{BB962C8B-B14F-4D97-AF65-F5344CB8AC3E}">
        <p14:creationId xmlns:p14="http://schemas.microsoft.com/office/powerpoint/2010/main" val="28194180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different types of ageing&#10;&#10;AI-generated content may be incorrect.">
            <a:extLst>
              <a:ext uri="{FF2B5EF4-FFF2-40B4-BE49-F238E27FC236}">
                <a16:creationId xmlns:a16="http://schemas.microsoft.com/office/drawing/2014/main" id="{08A76B64-81F9-EBD3-AA08-AE6C14E7B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518" y="18184"/>
            <a:ext cx="8830963" cy="6839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2998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F26D998-8EA1-6D4A-464B-EA0472D8F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C0F440-2692-163D-D804-65F8CAAD1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319" y="0"/>
            <a:ext cx="51391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423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5748</TotalTime>
  <Words>1642</Words>
  <Application>Microsoft Macintosh PowerPoint</Application>
  <PresentationFormat>Widescreen</PresentationFormat>
  <Paragraphs>255</Paragraphs>
  <Slides>23</Slides>
  <Notes>23</Notes>
  <HiddenSlides>2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5" baseType="lpstr">
      <vt:lpstr>Aptos</vt:lpstr>
      <vt:lpstr>Aptos Display</vt:lpstr>
      <vt:lpstr>Arial</vt:lpstr>
      <vt:lpstr>Avenir Book</vt:lpstr>
      <vt:lpstr>Avenir Next</vt:lpstr>
      <vt:lpstr>Avenir Next LT Pro </vt:lpstr>
      <vt:lpstr>Avenir Next LT Pro Demi</vt:lpstr>
      <vt:lpstr>Book Antiqua</vt:lpstr>
      <vt:lpstr>Consolas</vt:lpstr>
      <vt:lpstr>ElsevierSans</vt:lpstr>
      <vt:lpstr>Fira Code</vt:lpstr>
      <vt:lpstr>Office Theme</vt:lpstr>
      <vt:lpstr>The Bottom Line on Depression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Tyson Barrett</dc:creator>
  <cp:lastModifiedBy>Tyson Barrett</cp:lastModifiedBy>
  <cp:revision>84</cp:revision>
  <dcterms:created xsi:type="dcterms:W3CDTF">2024-06-24T04:48:21Z</dcterms:created>
  <dcterms:modified xsi:type="dcterms:W3CDTF">2025-04-03T21:26:46Z</dcterms:modified>
</cp:coreProperties>
</file>